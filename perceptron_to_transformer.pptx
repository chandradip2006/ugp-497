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1"/>
  </p:notesMasterIdLst>
  <p:sldIdLst>
    <p:sldId id="256" r:id="rId2"/>
    <p:sldId id="257" r:id="rId3"/>
    <p:sldId id="265" r:id="rId4"/>
    <p:sldId id="266" r:id="rId5"/>
    <p:sldId id="267" r:id="rId6"/>
    <p:sldId id="269" r:id="rId7"/>
    <p:sldId id="261" r:id="rId8"/>
    <p:sldId id="263" r:id="rId9"/>
    <p:sldId id="268" r:id="rId10"/>
    <p:sldId id="286" r:id="rId11"/>
    <p:sldId id="324" r:id="rId12"/>
    <p:sldId id="327" r:id="rId13"/>
    <p:sldId id="325" r:id="rId14"/>
    <p:sldId id="326" r:id="rId15"/>
    <p:sldId id="328" r:id="rId16"/>
    <p:sldId id="340" r:id="rId17"/>
    <p:sldId id="329" r:id="rId18"/>
    <p:sldId id="330" r:id="rId19"/>
    <p:sldId id="331" r:id="rId20"/>
    <p:sldId id="332" r:id="rId21"/>
    <p:sldId id="333" r:id="rId22"/>
    <p:sldId id="334" r:id="rId23"/>
    <p:sldId id="335" r:id="rId24"/>
    <p:sldId id="336" r:id="rId25"/>
    <p:sldId id="337" r:id="rId26"/>
    <p:sldId id="338" r:id="rId27"/>
    <p:sldId id="270" r:id="rId28"/>
    <p:sldId id="271" r:id="rId29"/>
    <p:sldId id="272" r:id="rId30"/>
    <p:sldId id="273" r:id="rId31"/>
    <p:sldId id="274" r:id="rId32"/>
    <p:sldId id="275" r:id="rId33"/>
    <p:sldId id="276" r:id="rId34"/>
    <p:sldId id="277" r:id="rId35"/>
    <p:sldId id="278" r:id="rId36"/>
    <p:sldId id="279" r:id="rId37"/>
    <p:sldId id="280" r:id="rId38"/>
    <p:sldId id="287" r:id="rId39"/>
    <p:sldId id="281" r:id="rId40"/>
    <p:sldId id="282" r:id="rId41"/>
    <p:sldId id="283" r:id="rId42"/>
    <p:sldId id="284" r:id="rId43"/>
    <p:sldId id="285" r:id="rId44"/>
    <p:sldId id="288" r:id="rId45"/>
    <p:sldId id="289" r:id="rId46"/>
    <p:sldId id="290" r:id="rId47"/>
    <p:sldId id="291" r:id="rId48"/>
    <p:sldId id="292" r:id="rId49"/>
    <p:sldId id="293"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39" r:id="rId80"/>
    <p:sldId id="341" r:id="rId81"/>
    <p:sldId id="343" r:id="rId82"/>
    <p:sldId id="344" r:id="rId83"/>
    <p:sldId id="345" r:id="rId84"/>
    <p:sldId id="346" r:id="rId85"/>
    <p:sldId id="347" r:id="rId86"/>
    <p:sldId id="348" r:id="rId87"/>
    <p:sldId id="349" r:id="rId88"/>
    <p:sldId id="350" r:id="rId89"/>
    <p:sldId id="351" r:id="rId90"/>
    <p:sldId id="352" r:id="rId91"/>
    <p:sldId id="353" r:id="rId92"/>
    <p:sldId id="354" r:id="rId93"/>
    <p:sldId id="355" r:id="rId94"/>
    <p:sldId id="356" r:id="rId95"/>
    <p:sldId id="357" r:id="rId96"/>
    <p:sldId id="358" r:id="rId97"/>
    <p:sldId id="342" r:id="rId98"/>
    <p:sldId id="294" r:id="rId99"/>
    <p:sldId id="264" r:id="rId10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50182B-6D14-41E3-848D-36BBB81EE224}" type="datetimeFigureOut">
              <a:rPr lang="en-IN" smtClean="0"/>
              <a:t>21-04-2026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F444B1-C050-4C98-ADC0-61BA7CA380C9}" type="slidenum">
              <a:rPr lang="en-IN" smtClean="0"/>
              <a:t>‹#›</a:t>
            </a:fld>
            <a:endParaRPr lang="en-IN"/>
          </a:p>
        </p:txBody>
      </p:sp>
    </p:spTree>
    <p:extLst>
      <p:ext uri="{BB962C8B-B14F-4D97-AF65-F5344CB8AC3E}">
        <p14:creationId xmlns:p14="http://schemas.microsoft.com/office/powerpoint/2010/main" val="3308489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FF444B1-C050-4C98-ADC0-61BA7CA380C9}" type="slidenum">
              <a:rPr lang="en-IN" smtClean="0"/>
              <a:t>59</a:t>
            </a:fld>
            <a:endParaRPr lang="en-IN"/>
          </a:p>
        </p:txBody>
      </p:sp>
    </p:spTree>
    <p:extLst>
      <p:ext uri="{BB962C8B-B14F-4D97-AF65-F5344CB8AC3E}">
        <p14:creationId xmlns:p14="http://schemas.microsoft.com/office/powerpoint/2010/main" val="2778570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6CD99-9A5C-6FA5-6E1C-412D14CF30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D536DFA-D1DB-DD17-9C49-76770017AD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9B473A1-DBC7-2264-47D5-FA0A332D19AC}"/>
              </a:ext>
            </a:extLst>
          </p:cNvPr>
          <p:cNvSpPr>
            <a:spLocks noGrp="1"/>
          </p:cNvSpPr>
          <p:nvPr>
            <p:ph type="dt" sz="half" idx="10"/>
          </p:nvPr>
        </p:nvSpPr>
        <p:spPr/>
        <p:txBody>
          <a:bodyPr/>
          <a:lstStyle/>
          <a:p>
            <a:fld id="{8F23A20F-4A97-41D4-9754-88ACBFAA0130}" type="datetimeFigureOut">
              <a:rPr lang="en-IN" smtClean="0"/>
              <a:t>19-04-2026</a:t>
            </a:fld>
            <a:endParaRPr lang="en-IN"/>
          </a:p>
        </p:txBody>
      </p:sp>
      <p:sp>
        <p:nvSpPr>
          <p:cNvPr id="5" name="Footer Placeholder 4">
            <a:extLst>
              <a:ext uri="{FF2B5EF4-FFF2-40B4-BE49-F238E27FC236}">
                <a16:creationId xmlns:a16="http://schemas.microsoft.com/office/drawing/2014/main" id="{2977FE33-CE0F-86C2-7A4A-4763714CE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BBFA01-3BF5-E303-457B-779C508AB602}"/>
              </a:ext>
            </a:extLst>
          </p:cNvPr>
          <p:cNvSpPr>
            <a:spLocks noGrp="1"/>
          </p:cNvSpPr>
          <p:nvPr>
            <p:ph type="sldNum" sz="quarter" idx="12"/>
          </p:nvPr>
        </p:nvSpPr>
        <p:spPr/>
        <p:txBody>
          <a:bodyPr/>
          <a:lstStyle/>
          <a:p>
            <a:fld id="{3F9FC2AD-80D8-4DC0-BD2E-648DE691867D}" type="slidenum">
              <a:rPr lang="en-IN" smtClean="0"/>
              <a:t>‹#›</a:t>
            </a:fld>
            <a:endParaRPr lang="en-IN"/>
          </a:p>
        </p:txBody>
      </p:sp>
    </p:spTree>
    <p:extLst>
      <p:ext uri="{BB962C8B-B14F-4D97-AF65-F5344CB8AC3E}">
        <p14:creationId xmlns:p14="http://schemas.microsoft.com/office/powerpoint/2010/main" val="623872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7E1C5-2E87-D889-50F7-66668ECC55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F60198-8753-7950-8DF6-F0565773DD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23706A-64AD-656A-7648-D6F5B54A4F24}"/>
              </a:ext>
            </a:extLst>
          </p:cNvPr>
          <p:cNvSpPr>
            <a:spLocks noGrp="1"/>
          </p:cNvSpPr>
          <p:nvPr>
            <p:ph type="dt" sz="half" idx="10"/>
          </p:nvPr>
        </p:nvSpPr>
        <p:spPr/>
        <p:txBody>
          <a:bodyPr/>
          <a:lstStyle/>
          <a:p>
            <a:fld id="{8F23A20F-4A97-41D4-9754-88ACBFAA0130}" type="datetimeFigureOut">
              <a:rPr lang="en-IN" smtClean="0"/>
              <a:t>19-04-2026</a:t>
            </a:fld>
            <a:endParaRPr lang="en-IN"/>
          </a:p>
        </p:txBody>
      </p:sp>
      <p:sp>
        <p:nvSpPr>
          <p:cNvPr id="5" name="Footer Placeholder 4">
            <a:extLst>
              <a:ext uri="{FF2B5EF4-FFF2-40B4-BE49-F238E27FC236}">
                <a16:creationId xmlns:a16="http://schemas.microsoft.com/office/drawing/2014/main" id="{F8B2E906-CC7D-0525-A7A3-1619DAC7A9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98110D-83E1-003E-2E83-34E8E8A26380}"/>
              </a:ext>
            </a:extLst>
          </p:cNvPr>
          <p:cNvSpPr>
            <a:spLocks noGrp="1"/>
          </p:cNvSpPr>
          <p:nvPr>
            <p:ph type="sldNum" sz="quarter" idx="12"/>
          </p:nvPr>
        </p:nvSpPr>
        <p:spPr/>
        <p:txBody>
          <a:bodyPr/>
          <a:lstStyle/>
          <a:p>
            <a:fld id="{3F9FC2AD-80D8-4DC0-BD2E-648DE691867D}" type="slidenum">
              <a:rPr lang="en-IN" smtClean="0"/>
              <a:t>‹#›</a:t>
            </a:fld>
            <a:endParaRPr lang="en-IN"/>
          </a:p>
        </p:txBody>
      </p:sp>
    </p:spTree>
    <p:extLst>
      <p:ext uri="{BB962C8B-B14F-4D97-AF65-F5344CB8AC3E}">
        <p14:creationId xmlns:p14="http://schemas.microsoft.com/office/powerpoint/2010/main" val="2509025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C7993-C360-C295-6F2E-8EFD59D3AB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71FA231-A50E-2F75-C95C-FF15FF7A39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F43512-919B-A45B-BC8C-51CBBEB77D25}"/>
              </a:ext>
            </a:extLst>
          </p:cNvPr>
          <p:cNvSpPr>
            <a:spLocks noGrp="1"/>
          </p:cNvSpPr>
          <p:nvPr>
            <p:ph type="dt" sz="half" idx="10"/>
          </p:nvPr>
        </p:nvSpPr>
        <p:spPr/>
        <p:txBody>
          <a:bodyPr/>
          <a:lstStyle/>
          <a:p>
            <a:fld id="{8F23A20F-4A97-41D4-9754-88ACBFAA0130}" type="datetimeFigureOut">
              <a:rPr lang="en-IN" smtClean="0"/>
              <a:t>19-04-2026</a:t>
            </a:fld>
            <a:endParaRPr lang="en-IN"/>
          </a:p>
        </p:txBody>
      </p:sp>
      <p:sp>
        <p:nvSpPr>
          <p:cNvPr id="5" name="Footer Placeholder 4">
            <a:extLst>
              <a:ext uri="{FF2B5EF4-FFF2-40B4-BE49-F238E27FC236}">
                <a16:creationId xmlns:a16="http://schemas.microsoft.com/office/drawing/2014/main" id="{71CFCD3C-AC53-A25F-70A8-556F7F2A81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7B06FA-0470-DB5F-91F2-D1C89ACB46BB}"/>
              </a:ext>
            </a:extLst>
          </p:cNvPr>
          <p:cNvSpPr>
            <a:spLocks noGrp="1"/>
          </p:cNvSpPr>
          <p:nvPr>
            <p:ph type="sldNum" sz="quarter" idx="12"/>
          </p:nvPr>
        </p:nvSpPr>
        <p:spPr/>
        <p:txBody>
          <a:bodyPr/>
          <a:lstStyle/>
          <a:p>
            <a:fld id="{3F9FC2AD-80D8-4DC0-BD2E-648DE691867D}" type="slidenum">
              <a:rPr lang="en-IN" smtClean="0"/>
              <a:t>‹#›</a:t>
            </a:fld>
            <a:endParaRPr lang="en-IN"/>
          </a:p>
        </p:txBody>
      </p:sp>
    </p:spTree>
    <p:extLst>
      <p:ext uri="{BB962C8B-B14F-4D97-AF65-F5344CB8AC3E}">
        <p14:creationId xmlns:p14="http://schemas.microsoft.com/office/powerpoint/2010/main" val="770651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1F71B-5511-EA6C-A28B-E416529608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5E6A1F7-81C7-B84E-E66A-A8D5B907D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0BFF282-4A60-8A0F-134E-07A5170377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7E54ADA-94EC-D562-6D70-E2759471E32F}"/>
              </a:ext>
            </a:extLst>
          </p:cNvPr>
          <p:cNvSpPr>
            <a:spLocks noGrp="1"/>
          </p:cNvSpPr>
          <p:nvPr>
            <p:ph type="dt" sz="half" idx="10"/>
          </p:nvPr>
        </p:nvSpPr>
        <p:spPr/>
        <p:txBody>
          <a:bodyPr/>
          <a:lstStyle/>
          <a:p>
            <a:fld id="{8F23A20F-4A97-41D4-9754-88ACBFAA0130}" type="datetimeFigureOut">
              <a:rPr lang="en-IN" smtClean="0"/>
              <a:t>19-04-2026</a:t>
            </a:fld>
            <a:endParaRPr lang="en-IN"/>
          </a:p>
        </p:txBody>
      </p:sp>
      <p:sp>
        <p:nvSpPr>
          <p:cNvPr id="6" name="Footer Placeholder 5">
            <a:extLst>
              <a:ext uri="{FF2B5EF4-FFF2-40B4-BE49-F238E27FC236}">
                <a16:creationId xmlns:a16="http://schemas.microsoft.com/office/drawing/2014/main" id="{70E2748F-3789-0042-58C6-978F23B375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4EC8E0C-7989-177B-2377-B74389B46024}"/>
              </a:ext>
            </a:extLst>
          </p:cNvPr>
          <p:cNvSpPr>
            <a:spLocks noGrp="1"/>
          </p:cNvSpPr>
          <p:nvPr>
            <p:ph type="sldNum" sz="quarter" idx="12"/>
          </p:nvPr>
        </p:nvSpPr>
        <p:spPr/>
        <p:txBody>
          <a:bodyPr/>
          <a:lstStyle/>
          <a:p>
            <a:fld id="{3F9FC2AD-80D8-4DC0-BD2E-648DE691867D}" type="slidenum">
              <a:rPr lang="en-IN" smtClean="0"/>
              <a:t>‹#›</a:t>
            </a:fld>
            <a:endParaRPr lang="en-IN"/>
          </a:p>
        </p:txBody>
      </p:sp>
    </p:spTree>
    <p:extLst>
      <p:ext uri="{BB962C8B-B14F-4D97-AF65-F5344CB8AC3E}">
        <p14:creationId xmlns:p14="http://schemas.microsoft.com/office/powerpoint/2010/main" val="1853444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BC658-874B-E3A8-B001-ADFE2C7A205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DBC76BA-4CCE-A1DE-1D93-BF3AF9EB27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995A63-7132-E2C2-4337-EC71E91F18D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237B50F-F289-4F0B-A564-6189C55F40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BFAD8F-3329-D2BF-1898-E2C9319BE7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BEDCA73-4BA8-FC4E-4943-02F917E30C86}"/>
              </a:ext>
            </a:extLst>
          </p:cNvPr>
          <p:cNvSpPr>
            <a:spLocks noGrp="1"/>
          </p:cNvSpPr>
          <p:nvPr>
            <p:ph type="dt" sz="half" idx="10"/>
          </p:nvPr>
        </p:nvSpPr>
        <p:spPr/>
        <p:txBody>
          <a:bodyPr/>
          <a:lstStyle/>
          <a:p>
            <a:fld id="{8F23A20F-4A97-41D4-9754-88ACBFAA0130}" type="datetimeFigureOut">
              <a:rPr lang="en-IN" smtClean="0"/>
              <a:t>19-04-2026</a:t>
            </a:fld>
            <a:endParaRPr lang="en-IN"/>
          </a:p>
        </p:txBody>
      </p:sp>
      <p:sp>
        <p:nvSpPr>
          <p:cNvPr id="8" name="Footer Placeholder 7">
            <a:extLst>
              <a:ext uri="{FF2B5EF4-FFF2-40B4-BE49-F238E27FC236}">
                <a16:creationId xmlns:a16="http://schemas.microsoft.com/office/drawing/2014/main" id="{C7638C44-1EE7-186D-B9FF-4405C78EE51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C1A27B7-7972-7F7A-D8EA-7C52CF090B90}"/>
              </a:ext>
            </a:extLst>
          </p:cNvPr>
          <p:cNvSpPr>
            <a:spLocks noGrp="1"/>
          </p:cNvSpPr>
          <p:nvPr>
            <p:ph type="sldNum" sz="quarter" idx="12"/>
          </p:nvPr>
        </p:nvSpPr>
        <p:spPr/>
        <p:txBody>
          <a:bodyPr/>
          <a:lstStyle/>
          <a:p>
            <a:fld id="{3F9FC2AD-80D8-4DC0-BD2E-648DE691867D}" type="slidenum">
              <a:rPr lang="en-IN" smtClean="0"/>
              <a:t>‹#›</a:t>
            </a:fld>
            <a:endParaRPr lang="en-IN"/>
          </a:p>
        </p:txBody>
      </p:sp>
    </p:spTree>
    <p:extLst>
      <p:ext uri="{BB962C8B-B14F-4D97-AF65-F5344CB8AC3E}">
        <p14:creationId xmlns:p14="http://schemas.microsoft.com/office/powerpoint/2010/main" val="439045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546FC-2F82-8EF0-8911-FC152AE1B07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66D9B0D-8700-3F18-49B1-78D5BFE412C2}"/>
              </a:ext>
            </a:extLst>
          </p:cNvPr>
          <p:cNvSpPr>
            <a:spLocks noGrp="1"/>
          </p:cNvSpPr>
          <p:nvPr>
            <p:ph type="dt" sz="half" idx="10"/>
          </p:nvPr>
        </p:nvSpPr>
        <p:spPr/>
        <p:txBody>
          <a:bodyPr/>
          <a:lstStyle/>
          <a:p>
            <a:fld id="{8F23A20F-4A97-41D4-9754-88ACBFAA0130}" type="datetimeFigureOut">
              <a:rPr lang="en-IN" smtClean="0"/>
              <a:t>19-04-2026</a:t>
            </a:fld>
            <a:endParaRPr lang="en-IN"/>
          </a:p>
        </p:txBody>
      </p:sp>
      <p:sp>
        <p:nvSpPr>
          <p:cNvPr id="4" name="Footer Placeholder 3">
            <a:extLst>
              <a:ext uri="{FF2B5EF4-FFF2-40B4-BE49-F238E27FC236}">
                <a16:creationId xmlns:a16="http://schemas.microsoft.com/office/drawing/2014/main" id="{70B6CD74-16EC-F58D-3F8B-787344B9B74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8583D69-AE17-3B82-4A12-454AEFF9DC04}"/>
              </a:ext>
            </a:extLst>
          </p:cNvPr>
          <p:cNvSpPr>
            <a:spLocks noGrp="1"/>
          </p:cNvSpPr>
          <p:nvPr>
            <p:ph type="sldNum" sz="quarter" idx="12"/>
          </p:nvPr>
        </p:nvSpPr>
        <p:spPr/>
        <p:txBody>
          <a:bodyPr/>
          <a:lstStyle/>
          <a:p>
            <a:fld id="{3F9FC2AD-80D8-4DC0-BD2E-648DE691867D}" type="slidenum">
              <a:rPr lang="en-IN" smtClean="0"/>
              <a:t>‹#›</a:t>
            </a:fld>
            <a:endParaRPr lang="en-IN"/>
          </a:p>
        </p:txBody>
      </p:sp>
    </p:spTree>
    <p:extLst>
      <p:ext uri="{BB962C8B-B14F-4D97-AF65-F5344CB8AC3E}">
        <p14:creationId xmlns:p14="http://schemas.microsoft.com/office/powerpoint/2010/main" val="315407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58212B-F370-B6CA-210D-51C5C95CC03D}"/>
              </a:ext>
            </a:extLst>
          </p:cNvPr>
          <p:cNvSpPr>
            <a:spLocks noGrp="1"/>
          </p:cNvSpPr>
          <p:nvPr>
            <p:ph type="dt" sz="half" idx="10"/>
          </p:nvPr>
        </p:nvSpPr>
        <p:spPr/>
        <p:txBody>
          <a:bodyPr/>
          <a:lstStyle/>
          <a:p>
            <a:fld id="{8F23A20F-4A97-41D4-9754-88ACBFAA0130}" type="datetimeFigureOut">
              <a:rPr lang="en-IN" smtClean="0"/>
              <a:t>19-04-2026</a:t>
            </a:fld>
            <a:endParaRPr lang="en-IN"/>
          </a:p>
        </p:txBody>
      </p:sp>
      <p:sp>
        <p:nvSpPr>
          <p:cNvPr id="3" name="Footer Placeholder 2">
            <a:extLst>
              <a:ext uri="{FF2B5EF4-FFF2-40B4-BE49-F238E27FC236}">
                <a16:creationId xmlns:a16="http://schemas.microsoft.com/office/drawing/2014/main" id="{9495A8FF-FA83-5EA9-8795-FA6751A6E49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1081297-490E-B73D-7798-7DB26CB52E37}"/>
              </a:ext>
            </a:extLst>
          </p:cNvPr>
          <p:cNvSpPr>
            <a:spLocks noGrp="1"/>
          </p:cNvSpPr>
          <p:nvPr>
            <p:ph type="sldNum" sz="quarter" idx="12"/>
          </p:nvPr>
        </p:nvSpPr>
        <p:spPr/>
        <p:txBody>
          <a:bodyPr/>
          <a:lstStyle/>
          <a:p>
            <a:fld id="{3F9FC2AD-80D8-4DC0-BD2E-648DE691867D}" type="slidenum">
              <a:rPr lang="en-IN" smtClean="0"/>
              <a:t>‹#›</a:t>
            </a:fld>
            <a:endParaRPr lang="en-IN"/>
          </a:p>
        </p:txBody>
      </p:sp>
    </p:spTree>
    <p:extLst>
      <p:ext uri="{BB962C8B-B14F-4D97-AF65-F5344CB8AC3E}">
        <p14:creationId xmlns:p14="http://schemas.microsoft.com/office/powerpoint/2010/main" val="3884913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EB23A-3B19-6C0A-7A27-936DC45543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B8A2C63-1A97-6DA7-2D16-C6C2B802BF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4BD377-F9D8-A49E-C016-A9BBCF0AC7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065C76-A64C-2ABA-9859-E0C04201D34C}"/>
              </a:ext>
            </a:extLst>
          </p:cNvPr>
          <p:cNvSpPr>
            <a:spLocks noGrp="1"/>
          </p:cNvSpPr>
          <p:nvPr>
            <p:ph type="dt" sz="half" idx="10"/>
          </p:nvPr>
        </p:nvSpPr>
        <p:spPr/>
        <p:txBody>
          <a:bodyPr/>
          <a:lstStyle/>
          <a:p>
            <a:fld id="{8F23A20F-4A97-41D4-9754-88ACBFAA0130}" type="datetimeFigureOut">
              <a:rPr lang="en-IN" smtClean="0"/>
              <a:t>19-04-2026</a:t>
            </a:fld>
            <a:endParaRPr lang="en-IN"/>
          </a:p>
        </p:txBody>
      </p:sp>
      <p:sp>
        <p:nvSpPr>
          <p:cNvPr id="6" name="Footer Placeholder 5">
            <a:extLst>
              <a:ext uri="{FF2B5EF4-FFF2-40B4-BE49-F238E27FC236}">
                <a16:creationId xmlns:a16="http://schemas.microsoft.com/office/drawing/2014/main" id="{89D3D6D9-F4E0-FD9D-1A3A-999F8B8587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60F1CA-2991-FF89-ABAB-A548234F2BBB}"/>
              </a:ext>
            </a:extLst>
          </p:cNvPr>
          <p:cNvSpPr>
            <a:spLocks noGrp="1"/>
          </p:cNvSpPr>
          <p:nvPr>
            <p:ph type="sldNum" sz="quarter" idx="12"/>
          </p:nvPr>
        </p:nvSpPr>
        <p:spPr/>
        <p:txBody>
          <a:bodyPr/>
          <a:lstStyle/>
          <a:p>
            <a:fld id="{3F9FC2AD-80D8-4DC0-BD2E-648DE691867D}" type="slidenum">
              <a:rPr lang="en-IN" smtClean="0"/>
              <a:t>‹#›</a:t>
            </a:fld>
            <a:endParaRPr lang="en-IN"/>
          </a:p>
        </p:txBody>
      </p:sp>
    </p:spTree>
    <p:extLst>
      <p:ext uri="{BB962C8B-B14F-4D97-AF65-F5344CB8AC3E}">
        <p14:creationId xmlns:p14="http://schemas.microsoft.com/office/powerpoint/2010/main" val="4094742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ABA64-F8DD-4A1C-C10A-82A2AE9BE6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9FB9215-7283-8705-F4C0-65E33B04AC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BA58428-E853-A74C-4404-BD603617DE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E00086-A9AA-4F78-C6FC-7F3797C4445C}"/>
              </a:ext>
            </a:extLst>
          </p:cNvPr>
          <p:cNvSpPr>
            <a:spLocks noGrp="1"/>
          </p:cNvSpPr>
          <p:nvPr>
            <p:ph type="dt" sz="half" idx="10"/>
          </p:nvPr>
        </p:nvSpPr>
        <p:spPr/>
        <p:txBody>
          <a:bodyPr/>
          <a:lstStyle/>
          <a:p>
            <a:fld id="{8F23A20F-4A97-41D4-9754-88ACBFAA0130}" type="datetimeFigureOut">
              <a:rPr lang="en-IN" smtClean="0"/>
              <a:t>19-04-2026</a:t>
            </a:fld>
            <a:endParaRPr lang="en-IN"/>
          </a:p>
        </p:txBody>
      </p:sp>
      <p:sp>
        <p:nvSpPr>
          <p:cNvPr id="6" name="Footer Placeholder 5">
            <a:extLst>
              <a:ext uri="{FF2B5EF4-FFF2-40B4-BE49-F238E27FC236}">
                <a16:creationId xmlns:a16="http://schemas.microsoft.com/office/drawing/2014/main" id="{7F0B2132-DC92-8BD0-1A38-581397C494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52D1D9-2F55-3C9B-82DC-BDAD23389BB0}"/>
              </a:ext>
            </a:extLst>
          </p:cNvPr>
          <p:cNvSpPr>
            <a:spLocks noGrp="1"/>
          </p:cNvSpPr>
          <p:nvPr>
            <p:ph type="sldNum" sz="quarter" idx="12"/>
          </p:nvPr>
        </p:nvSpPr>
        <p:spPr/>
        <p:txBody>
          <a:bodyPr/>
          <a:lstStyle/>
          <a:p>
            <a:fld id="{3F9FC2AD-80D8-4DC0-BD2E-648DE691867D}" type="slidenum">
              <a:rPr lang="en-IN" smtClean="0"/>
              <a:t>‹#›</a:t>
            </a:fld>
            <a:endParaRPr lang="en-IN"/>
          </a:p>
        </p:txBody>
      </p:sp>
    </p:spTree>
    <p:extLst>
      <p:ext uri="{BB962C8B-B14F-4D97-AF65-F5344CB8AC3E}">
        <p14:creationId xmlns:p14="http://schemas.microsoft.com/office/powerpoint/2010/main" val="1689798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1E113-6427-1768-674B-B9F26296EA9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715329-3CC4-57CF-2FB4-112FC1BC8D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46015D-2025-2DA7-EE4E-E14316F6706E}"/>
              </a:ext>
            </a:extLst>
          </p:cNvPr>
          <p:cNvSpPr>
            <a:spLocks noGrp="1"/>
          </p:cNvSpPr>
          <p:nvPr>
            <p:ph type="dt" sz="half" idx="10"/>
          </p:nvPr>
        </p:nvSpPr>
        <p:spPr/>
        <p:txBody>
          <a:bodyPr/>
          <a:lstStyle/>
          <a:p>
            <a:fld id="{8F23A20F-4A97-41D4-9754-88ACBFAA0130}" type="datetimeFigureOut">
              <a:rPr lang="en-IN" smtClean="0"/>
              <a:t>19-04-2026</a:t>
            </a:fld>
            <a:endParaRPr lang="en-IN"/>
          </a:p>
        </p:txBody>
      </p:sp>
      <p:sp>
        <p:nvSpPr>
          <p:cNvPr id="5" name="Footer Placeholder 4">
            <a:extLst>
              <a:ext uri="{FF2B5EF4-FFF2-40B4-BE49-F238E27FC236}">
                <a16:creationId xmlns:a16="http://schemas.microsoft.com/office/drawing/2014/main" id="{73D9746E-6137-AA9C-E9A5-9CE1E53A6C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596FF7-A817-97FF-B1A6-C8F6FDD76EFD}"/>
              </a:ext>
            </a:extLst>
          </p:cNvPr>
          <p:cNvSpPr>
            <a:spLocks noGrp="1"/>
          </p:cNvSpPr>
          <p:nvPr>
            <p:ph type="sldNum" sz="quarter" idx="12"/>
          </p:nvPr>
        </p:nvSpPr>
        <p:spPr/>
        <p:txBody>
          <a:bodyPr/>
          <a:lstStyle/>
          <a:p>
            <a:fld id="{3F9FC2AD-80D8-4DC0-BD2E-648DE691867D}" type="slidenum">
              <a:rPr lang="en-IN" smtClean="0"/>
              <a:t>‹#›</a:t>
            </a:fld>
            <a:endParaRPr lang="en-IN"/>
          </a:p>
        </p:txBody>
      </p:sp>
    </p:spTree>
    <p:extLst>
      <p:ext uri="{BB962C8B-B14F-4D97-AF65-F5344CB8AC3E}">
        <p14:creationId xmlns:p14="http://schemas.microsoft.com/office/powerpoint/2010/main" val="2673945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6A4151-E1D9-0A1B-897F-E03A9B680A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5CDC52B-1DC7-8DC3-6A6C-7928FD57E7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EB5B11-6CD7-FAAD-CC99-723EF8DFC71D}"/>
              </a:ext>
            </a:extLst>
          </p:cNvPr>
          <p:cNvSpPr>
            <a:spLocks noGrp="1"/>
          </p:cNvSpPr>
          <p:nvPr>
            <p:ph type="dt" sz="half" idx="10"/>
          </p:nvPr>
        </p:nvSpPr>
        <p:spPr/>
        <p:txBody>
          <a:bodyPr/>
          <a:lstStyle/>
          <a:p>
            <a:fld id="{8F23A20F-4A97-41D4-9754-88ACBFAA0130}" type="datetimeFigureOut">
              <a:rPr lang="en-IN" smtClean="0"/>
              <a:t>19-04-2026</a:t>
            </a:fld>
            <a:endParaRPr lang="en-IN"/>
          </a:p>
        </p:txBody>
      </p:sp>
      <p:sp>
        <p:nvSpPr>
          <p:cNvPr id="5" name="Footer Placeholder 4">
            <a:extLst>
              <a:ext uri="{FF2B5EF4-FFF2-40B4-BE49-F238E27FC236}">
                <a16:creationId xmlns:a16="http://schemas.microsoft.com/office/drawing/2014/main" id="{8FD8741C-4B25-6718-F7DF-5F0569E670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553B94-B9B7-7741-32A2-41BB60A96FBC}"/>
              </a:ext>
            </a:extLst>
          </p:cNvPr>
          <p:cNvSpPr>
            <a:spLocks noGrp="1"/>
          </p:cNvSpPr>
          <p:nvPr>
            <p:ph type="sldNum" sz="quarter" idx="12"/>
          </p:nvPr>
        </p:nvSpPr>
        <p:spPr/>
        <p:txBody>
          <a:bodyPr/>
          <a:lstStyle/>
          <a:p>
            <a:fld id="{3F9FC2AD-80D8-4DC0-BD2E-648DE691867D}" type="slidenum">
              <a:rPr lang="en-IN" smtClean="0"/>
              <a:t>‹#›</a:t>
            </a:fld>
            <a:endParaRPr lang="en-IN"/>
          </a:p>
        </p:txBody>
      </p:sp>
    </p:spTree>
    <p:extLst>
      <p:ext uri="{BB962C8B-B14F-4D97-AF65-F5344CB8AC3E}">
        <p14:creationId xmlns:p14="http://schemas.microsoft.com/office/powerpoint/2010/main" val="563391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DDB430-602B-6052-F46F-D45A163A95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6FF4CD-2B7C-8818-28D9-38A2CC14BD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4D2B27-DF56-5C48-6372-F7B32D2EF0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23A20F-4A97-41D4-9754-88ACBFAA0130}" type="datetimeFigureOut">
              <a:rPr lang="en-IN" smtClean="0"/>
              <a:t>19-04-2026</a:t>
            </a:fld>
            <a:endParaRPr lang="en-IN"/>
          </a:p>
        </p:txBody>
      </p:sp>
      <p:sp>
        <p:nvSpPr>
          <p:cNvPr id="5" name="Footer Placeholder 4">
            <a:extLst>
              <a:ext uri="{FF2B5EF4-FFF2-40B4-BE49-F238E27FC236}">
                <a16:creationId xmlns:a16="http://schemas.microsoft.com/office/drawing/2014/main" id="{01C3B1DC-EDC7-BA2C-CF87-202B8D25A1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D7438A-9D86-24AF-13F5-08DEF25CE7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9FC2AD-80D8-4DC0-BD2E-648DE691867D}" type="slidenum">
              <a:rPr lang="en-IN" smtClean="0"/>
              <a:t>‹#›</a:t>
            </a:fld>
            <a:endParaRPr lang="en-IN"/>
          </a:p>
        </p:txBody>
      </p:sp>
    </p:spTree>
    <p:extLst>
      <p:ext uri="{BB962C8B-B14F-4D97-AF65-F5344CB8AC3E}">
        <p14:creationId xmlns:p14="http://schemas.microsoft.com/office/powerpoint/2010/main" val="29516657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23.xml.rels><?xml version="1.0" encoding="UTF-8" standalone="yes"?>
<Relationships xmlns="http://schemas.openxmlformats.org/package/2006/relationships"><Relationship Id="rId3" Type="http://schemas.openxmlformats.org/officeDocument/2006/relationships/image" Target="../media/image54.gif"/><Relationship Id="rId2" Type="http://schemas.openxmlformats.org/officeDocument/2006/relationships/image" Target="../media/image53.gi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3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3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7.xml"/><Relationship Id="rId4" Type="http://schemas.openxmlformats.org/officeDocument/2006/relationships/image" Target="../media/image88.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89.gi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101.gi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image" Target="../media/image115.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A1679-2BC9-2514-F703-D4F8114E1329}"/>
              </a:ext>
            </a:extLst>
          </p:cNvPr>
          <p:cNvSpPr>
            <a:spLocks noGrp="1"/>
          </p:cNvSpPr>
          <p:nvPr>
            <p:ph type="ctrTitle"/>
          </p:nvPr>
        </p:nvSpPr>
        <p:spPr>
          <a:xfrm>
            <a:off x="1524000" y="235973"/>
            <a:ext cx="9144000" cy="648929"/>
          </a:xfrm>
        </p:spPr>
        <p:txBody>
          <a:bodyPr>
            <a:normAutofit/>
          </a:bodyPr>
          <a:lstStyle/>
          <a:p>
            <a:r>
              <a:rPr lang="en-US" sz="4000" b="1" u="sng" dirty="0"/>
              <a:t>Perceptron to Transformer</a:t>
            </a:r>
            <a:endParaRPr lang="en-IN" sz="4000" b="1" u="sng" dirty="0"/>
          </a:p>
        </p:txBody>
      </p:sp>
      <p:pic>
        <p:nvPicPr>
          <p:cNvPr id="5" name="Picture 4">
            <a:extLst>
              <a:ext uri="{FF2B5EF4-FFF2-40B4-BE49-F238E27FC236}">
                <a16:creationId xmlns:a16="http://schemas.microsoft.com/office/drawing/2014/main" id="{9AB2C482-2BDD-521E-E9FA-99ABFE449BA1}"/>
              </a:ext>
            </a:extLst>
          </p:cNvPr>
          <p:cNvPicPr>
            <a:picLocks noChangeAspect="1"/>
          </p:cNvPicPr>
          <p:nvPr/>
        </p:nvPicPr>
        <p:blipFill>
          <a:blip r:embed="rId2"/>
          <a:stretch>
            <a:fillRect/>
          </a:stretch>
        </p:blipFill>
        <p:spPr>
          <a:xfrm>
            <a:off x="6499122" y="1042218"/>
            <a:ext cx="3873911" cy="4277033"/>
          </a:xfrm>
          <a:prstGeom prst="rect">
            <a:avLst/>
          </a:prstGeom>
        </p:spPr>
      </p:pic>
      <p:sp>
        <p:nvSpPr>
          <p:cNvPr id="3" name="Arrow: Right 2">
            <a:extLst>
              <a:ext uri="{FF2B5EF4-FFF2-40B4-BE49-F238E27FC236}">
                <a16:creationId xmlns:a16="http://schemas.microsoft.com/office/drawing/2014/main" id="{BF650C7E-E7E8-9083-70DA-F4910F6AE1AE}"/>
              </a:ext>
            </a:extLst>
          </p:cNvPr>
          <p:cNvSpPr/>
          <p:nvPr/>
        </p:nvSpPr>
        <p:spPr>
          <a:xfrm>
            <a:off x="5034117" y="3180734"/>
            <a:ext cx="1809135" cy="27284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F7954312-C5C3-1F84-EC7D-DC182A06C9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3935" y="2284770"/>
            <a:ext cx="2684207" cy="2015613"/>
          </a:xfrm>
          <a:prstGeom prst="rect">
            <a:avLst/>
          </a:prstGeom>
        </p:spPr>
      </p:pic>
      <p:sp>
        <p:nvSpPr>
          <p:cNvPr id="8" name="TextBox 7">
            <a:extLst>
              <a:ext uri="{FF2B5EF4-FFF2-40B4-BE49-F238E27FC236}">
                <a16:creationId xmlns:a16="http://schemas.microsoft.com/office/drawing/2014/main" id="{C3C113EF-9D5B-F1E4-18E8-47DCCCC2CED7}"/>
              </a:ext>
            </a:extLst>
          </p:cNvPr>
          <p:cNvSpPr txBox="1"/>
          <p:nvPr/>
        </p:nvSpPr>
        <p:spPr>
          <a:xfrm>
            <a:off x="4842387" y="5592096"/>
            <a:ext cx="2394155" cy="400110"/>
          </a:xfrm>
          <a:prstGeom prst="rect">
            <a:avLst/>
          </a:prstGeom>
          <a:noFill/>
        </p:spPr>
        <p:txBody>
          <a:bodyPr wrap="square" rtlCol="0">
            <a:spAutoFit/>
          </a:bodyPr>
          <a:lstStyle/>
          <a:p>
            <a:r>
              <a:rPr lang="en-US" sz="2000" dirty="0"/>
              <a:t>Chandradip</a:t>
            </a:r>
            <a:r>
              <a:rPr lang="en-US" dirty="0"/>
              <a:t> Karmakar</a:t>
            </a:r>
            <a:endParaRPr lang="en-IN" dirty="0"/>
          </a:p>
        </p:txBody>
      </p:sp>
      <p:sp>
        <p:nvSpPr>
          <p:cNvPr id="10" name="TextBox 9">
            <a:extLst>
              <a:ext uri="{FF2B5EF4-FFF2-40B4-BE49-F238E27FC236}">
                <a16:creationId xmlns:a16="http://schemas.microsoft.com/office/drawing/2014/main" id="{D0A84A44-EA69-B64A-9EAE-165677C36A5F}"/>
              </a:ext>
            </a:extLst>
          </p:cNvPr>
          <p:cNvSpPr txBox="1"/>
          <p:nvPr/>
        </p:nvSpPr>
        <p:spPr>
          <a:xfrm>
            <a:off x="4606413" y="6019177"/>
            <a:ext cx="2979174" cy="369332"/>
          </a:xfrm>
          <a:prstGeom prst="rect">
            <a:avLst/>
          </a:prstGeom>
          <a:noFill/>
        </p:spPr>
        <p:txBody>
          <a:bodyPr wrap="square" rtlCol="0">
            <a:spAutoFit/>
          </a:bodyPr>
          <a:lstStyle/>
          <a:p>
            <a:r>
              <a:rPr lang="en-US" dirty="0"/>
              <a:t>Supervisor: Dr. Soumya Dutta</a:t>
            </a:r>
            <a:endParaRPr lang="en-IN" dirty="0"/>
          </a:p>
        </p:txBody>
      </p:sp>
    </p:spTree>
    <p:extLst>
      <p:ext uri="{BB962C8B-B14F-4D97-AF65-F5344CB8AC3E}">
        <p14:creationId xmlns:p14="http://schemas.microsoft.com/office/powerpoint/2010/main" val="3356896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 Brief History of AI with Deep Learning | by LM Po | Medium">
            <a:extLst>
              <a:ext uri="{FF2B5EF4-FFF2-40B4-BE49-F238E27FC236}">
                <a16:creationId xmlns:a16="http://schemas.microsoft.com/office/drawing/2014/main" id="{8D3644EE-A81A-8BC4-65CA-433E135E54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1107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1ACA8-7EE3-26FB-6DC9-7F6C86B573CB}"/>
              </a:ext>
            </a:extLst>
          </p:cNvPr>
          <p:cNvSpPr>
            <a:spLocks noGrp="1"/>
          </p:cNvSpPr>
          <p:nvPr>
            <p:ph type="title"/>
          </p:nvPr>
        </p:nvSpPr>
        <p:spPr/>
        <p:txBody>
          <a:bodyPr/>
          <a:lstStyle/>
          <a:p>
            <a:r>
              <a:rPr lang="en-US" dirty="0"/>
              <a:t>Topics to cover</a:t>
            </a:r>
            <a:endParaRPr lang="en-IN" dirty="0"/>
          </a:p>
        </p:txBody>
      </p:sp>
      <p:sp>
        <p:nvSpPr>
          <p:cNvPr id="5" name="AutoShape 4" descr="What is Perceptron - GeeksforGeeks">
            <a:extLst>
              <a:ext uri="{FF2B5EF4-FFF2-40B4-BE49-F238E27FC236}">
                <a16:creationId xmlns:a16="http://schemas.microsoft.com/office/drawing/2014/main" id="{B50CCEDC-5D25-77CB-2967-6BD80D5CE225}"/>
              </a:ext>
            </a:extLst>
          </p:cNvPr>
          <p:cNvSpPr>
            <a:spLocks noGrp="1" noChangeAspect="1" noChangeArrowheads="1"/>
          </p:cNvSpPr>
          <p:nvPr>
            <p:ph idx="1"/>
          </p:nvPr>
        </p:nvSpPr>
        <p:spPr bwMode="auto">
          <a:xfrm>
            <a:off x="838200" y="1474839"/>
            <a:ext cx="10515600" cy="47021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fontScale="85000" lnSpcReduction="20000"/>
          </a:bodyPr>
          <a:lstStyle/>
          <a:p>
            <a:r>
              <a:rPr lang="en-US" dirty="0"/>
              <a:t>Perceptron</a:t>
            </a:r>
          </a:p>
          <a:p>
            <a:r>
              <a:rPr lang="en-US" dirty="0"/>
              <a:t>Applications , advantages and limitations of Perceptron</a:t>
            </a:r>
          </a:p>
          <a:p>
            <a:r>
              <a:rPr lang="en-US" dirty="0"/>
              <a:t>Artificial Neural Networks(ANN)</a:t>
            </a:r>
          </a:p>
          <a:p>
            <a:r>
              <a:rPr lang="en-US" dirty="0"/>
              <a:t>Applications , advantages and limitations of ANNs</a:t>
            </a:r>
          </a:p>
          <a:p>
            <a:r>
              <a:rPr lang="en-US" dirty="0"/>
              <a:t>Convolutional Neural Network(CNN)</a:t>
            </a:r>
          </a:p>
          <a:p>
            <a:r>
              <a:rPr lang="en-US" dirty="0"/>
              <a:t>Applications , advantages and limitations of CNNs</a:t>
            </a:r>
          </a:p>
          <a:p>
            <a:r>
              <a:rPr lang="en-US" dirty="0"/>
              <a:t>Recurrent Neural Network(RNN)</a:t>
            </a:r>
          </a:p>
          <a:p>
            <a:r>
              <a:rPr lang="en-US" dirty="0"/>
              <a:t>Applications , advantages and limitations of RNNs</a:t>
            </a:r>
          </a:p>
          <a:p>
            <a:r>
              <a:rPr lang="en-US" dirty="0"/>
              <a:t>Long Short-Term Memory(LSTM)</a:t>
            </a:r>
          </a:p>
          <a:p>
            <a:r>
              <a:rPr lang="en-US" dirty="0"/>
              <a:t>Applications , advantages and limitations of LSTM</a:t>
            </a:r>
          </a:p>
          <a:p>
            <a:r>
              <a:rPr lang="en-US" dirty="0"/>
              <a:t>Attention Mechanism and Transformer </a:t>
            </a:r>
            <a:r>
              <a:rPr lang="en-US" dirty="0" err="1"/>
              <a:t>Architechture</a:t>
            </a:r>
            <a:endParaRPr lang="en-US" dirty="0"/>
          </a:p>
          <a:p>
            <a:r>
              <a:rPr lang="en-US" dirty="0"/>
              <a:t>Applications , advantages and limitations of Transformer</a:t>
            </a:r>
          </a:p>
          <a:p>
            <a:endParaRPr lang="en-IN" dirty="0"/>
          </a:p>
        </p:txBody>
      </p:sp>
    </p:spTree>
    <p:extLst>
      <p:ext uri="{BB962C8B-B14F-4D97-AF65-F5344CB8AC3E}">
        <p14:creationId xmlns:p14="http://schemas.microsoft.com/office/powerpoint/2010/main" val="1838043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DE3B1-1C77-DE2E-7DE8-0431612434FC}"/>
              </a:ext>
            </a:extLst>
          </p:cNvPr>
          <p:cNvSpPr>
            <a:spLocks noGrp="1"/>
          </p:cNvSpPr>
          <p:nvPr>
            <p:ph type="title"/>
          </p:nvPr>
        </p:nvSpPr>
        <p:spPr/>
        <p:txBody>
          <a:bodyPr/>
          <a:lstStyle/>
          <a:p>
            <a:r>
              <a:rPr lang="en-US" dirty="0"/>
              <a:t>Perceptron</a:t>
            </a:r>
            <a:endParaRPr lang="en-IN" dirty="0"/>
          </a:p>
        </p:txBody>
      </p:sp>
      <p:sp>
        <p:nvSpPr>
          <p:cNvPr id="4" name="TextBox 3">
            <a:extLst>
              <a:ext uri="{FF2B5EF4-FFF2-40B4-BE49-F238E27FC236}">
                <a16:creationId xmlns:a16="http://schemas.microsoft.com/office/drawing/2014/main" id="{F7B55380-4253-57B1-CC0A-B341C4D123EA}"/>
              </a:ext>
            </a:extLst>
          </p:cNvPr>
          <p:cNvSpPr txBox="1"/>
          <p:nvPr/>
        </p:nvSpPr>
        <p:spPr>
          <a:xfrm>
            <a:off x="838200" y="1573161"/>
            <a:ext cx="6941574" cy="646331"/>
          </a:xfrm>
          <a:prstGeom prst="rect">
            <a:avLst/>
          </a:prstGeom>
          <a:noFill/>
        </p:spPr>
        <p:txBody>
          <a:bodyPr wrap="square" rtlCol="0">
            <a:spAutoFit/>
          </a:bodyPr>
          <a:lstStyle/>
          <a:p>
            <a:r>
              <a:rPr lang="en-US" dirty="0"/>
              <a:t>The perceptron is the simplest architecture for a neural network. Its architecture is based on a single neuron with weighted inputs. </a:t>
            </a:r>
            <a:endParaRPr lang="en-IN" dirty="0"/>
          </a:p>
        </p:txBody>
      </p:sp>
      <p:pic>
        <p:nvPicPr>
          <p:cNvPr id="6" name="Picture 5">
            <a:extLst>
              <a:ext uri="{FF2B5EF4-FFF2-40B4-BE49-F238E27FC236}">
                <a16:creationId xmlns:a16="http://schemas.microsoft.com/office/drawing/2014/main" id="{A813D77F-8C2B-151F-E415-2E6A745076A4}"/>
              </a:ext>
            </a:extLst>
          </p:cNvPr>
          <p:cNvPicPr>
            <a:picLocks noChangeAspect="1"/>
          </p:cNvPicPr>
          <p:nvPr/>
        </p:nvPicPr>
        <p:blipFill>
          <a:blip r:embed="rId2"/>
          <a:stretch>
            <a:fillRect/>
          </a:stretch>
        </p:blipFill>
        <p:spPr>
          <a:xfrm>
            <a:off x="7892226" y="971207"/>
            <a:ext cx="3867155" cy="2457793"/>
          </a:xfrm>
          <a:prstGeom prst="rect">
            <a:avLst/>
          </a:prstGeom>
        </p:spPr>
      </p:pic>
      <p:sp>
        <p:nvSpPr>
          <p:cNvPr id="7" name="TextBox 6">
            <a:extLst>
              <a:ext uri="{FF2B5EF4-FFF2-40B4-BE49-F238E27FC236}">
                <a16:creationId xmlns:a16="http://schemas.microsoft.com/office/drawing/2014/main" id="{0B98116E-E017-A27A-3EEB-EA01E12AF19C}"/>
              </a:ext>
            </a:extLst>
          </p:cNvPr>
          <p:cNvSpPr txBox="1"/>
          <p:nvPr/>
        </p:nvSpPr>
        <p:spPr>
          <a:xfrm>
            <a:off x="914707" y="2728464"/>
            <a:ext cx="6646607" cy="646331"/>
          </a:xfrm>
          <a:prstGeom prst="rect">
            <a:avLst/>
          </a:prstGeom>
          <a:noFill/>
        </p:spPr>
        <p:txBody>
          <a:bodyPr wrap="square" rtlCol="0">
            <a:spAutoFit/>
          </a:bodyPr>
          <a:lstStyle/>
          <a:p>
            <a:r>
              <a:rPr lang="en-US" dirty="0"/>
              <a:t> Let </a:t>
            </a:r>
            <a:r>
              <a:rPr lang="en-US" i="1" dirty="0"/>
              <a:t>x</a:t>
            </a:r>
            <a:r>
              <a:rPr lang="en-US" baseline="-25000" dirty="0"/>
              <a:t>1</a:t>
            </a:r>
            <a:r>
              <a:rPr lang="en-US" dirty="0"/>
              <a:t>, </a:t>
            </a:r>
            <a:r>
              <a:rPr lang="en-US" i="1" dirty="0"/>
              <a:t>x</a:t>
            </a:r>
            <a:r>
              <a:rPr lang="en-US" baseline="-25000" dirty="0"/>
              <a:t>2</a:t>
            </a:r>
            <a:r>
              <a:rPr lang="en-US" dirty="0"/>
              <a:t>, …, </a:t>
            </a:r>
            <a:r>
              <a:rPr lang="en-US" i="1" dirty="0"/>
              <a:t>x</a:t>
            </a:r>
            <a:r>
              <a:rPr lang="en-US" i="1" baseline="-25000" dirty="0"/>
              <a:t>d</a:t>
            </a:r>
            <a:r>
              <a:rPr lang="en-US" dirty="0"/>
              <a:t> be the inputs of the neuron, </a:t>
            </a:r>
            <a:r>
              <a:rPr lang="en-US" i="1" dirty="0"/>
              <a:t>w</a:t>
            </a:r>
            <a:r>
              <a:rPr lang="en-US" baseline="-25000" dirty="0"/>
              <a:t>1</a:t>
            </a:r>
            <a:r>
              <a:rPr lang="en-US" dirty="0"/>
              <a:t>, </a:t>
            </a:r>
            <a:r>
              <a:rPr lang="en-US" i="1" dirty="0"/>
              <a:t>w</a:t>
            </a:r>
            <a:r>
              <a:rPr lang="en-US" baseline="-25000" dirty="0"/>
              <a:t>2</a:t>
            </a:r>
            <a:r>
              <a:rPr lang="en-US" dirty="0"/>
              <a:t>, …, </a:t>
            </a:r>
            <a:r>
              <a:rPr lang="en-US" i="1" dirty="0"/>
              <a:t>w</a:t>
            </a:r>
            <a:r>
              <a:rPr lang="en-US" i="1" baseline="-25000" dirty="0"/>
              <a:t>d</a:t>
            </a:r>
            <a:r>
              <a:rPr lang="en-US" dirty="0"/>
              <a:t> the corresponding weights. A specific ‘input’ consists in the threshold </a:t>
            </a:r>
            <a:r>
              <a:rPr lang="en-US" i="1" dirty="0"/>
              <a:t>θ</a:t>
            </a:r>
            <a:r>
              <a:rPr lang="en-US" dirty="0"/>
              <a:t>.</a:t>
            </a:r>
            <a:endParaRPr lang="en-IN" dirty="0"/>
          </a:p>
        </p:txBody>
      </p:sp>
      <p:pic>
        <p:nvPicPr>
          <p:cNvPr id="3074" name="Picture 2">
            <a:extLst>
              <a:ext uri="{FF2B5EF4-FFF2-40B4-BE49-F238E27FC236}">
                <a16:creationId xmlns:a16="http://schemas.microsoft.com/office/drawing/2014/main" id="{F82D6D80-9731-BDC9-2FC2-CDD5085160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1238" y="3424238"/>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723D981A-F11B-775A-5A84-DFDE3E9842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4113" y="3394754"/>
            <a:ext cx="9525" cy="952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458F0976-7190-2E50-5BC0-AEB9AFB40431}"/>
                  </a:ext>
                </a:extLst>
              </p:cNvPr>
              <p:cNvSpPr txBox="1"/>
              <p:nvPr/>
            </p:nvSpPr>
            <p:spPr>
              <a:xfrm>
                <a:off x="-1209368" y="3483206"/>
                <a:ext cx="6096000" cy="8769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rPr>
                        <m:t>𝑢</m:t>
                      </m:r>
                      <m:r>
                        <a:rPr lang="en-IN" i="0">
                          <a:latin typeface="Cambria Math" panose="02040503050406030204" pitchFamily="18" charset="0"/>
                        </a:rPr>
                        <m:t>=</m:t>
                      </m:r>
                      <m:nary>
                        <m:naryPr>
                          <m:chr m:val="∑"/>
                          <m:grow m:val="on"/>
                          <m:ctrlPr>
                            <a:rPr lang="en-IN" i="1">
                              <a:latin typeface="Cambria Math" panose="02040503050406030204" pitchFamily="18" charset="0"/>
                            </a:rPr>
                          </m:ctrlPr>
                        </m:naryPr>
                        <m:sub>
                          <m:r>
                            <a:rPr lang="en-IN" i="1">
                              <a:latin typeface="Cambria Math" panose="02040503050406030204" pitchFamily="18" charset="0"/>
                            </a:rPr>
                            <m:t>𝑖</m:t>
                          </m:r>
                          <m:r>
                            <a:rPr lang="en-IN" i="0">
                              <a:latin typeface="Cambria Math" panose="02040503050406030204" pitchFamily="18" charset="0"/>
                            </a:rPr>
                            <m:t>=1</m:t>
                          </m:r>
                        </m:sub>
                        <m:sup>
                          <m:r>
                            <a:rPr lang="en-IN" i="1">
                              <a:latin typeface="Cambria Math" panose="02040503050406030204" pitchFamily="18" charset="0"/>
                            </a:rPr>
                            <m:t>𝑑</m:t>
                          </m:r>
                        </m:sup>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i="1">
                                  <a:latin typeface="Cambria Math" panose="02040503050406030204" pitchFamily="18" charset="0"/>
                                </a:rPr>
                                <m:t>𝑖</m:t>
                              </m:r>
                            </m:sub>
                          </m:sSub>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𝑖</m:t>
                              </m:r>
                            </m:sub>
                          </m:sSub>
                          <m:r>
                            <a:rPr lang="en-IN" i="0">
                              <a:latin typeface="Cambria Math" panose="02040503050406030204" pitchFamily="18" charset="0"/>
                            </a:rPr>
                            <m:t>−</m:t>
                          </m:r>
                          <m:r>
                            <a:rPr lang="en-IN" i="1">
                              <a:latin typeface="Cambria Math" panose="02040503050406030204" pitchFamily="18" charset="0"/>
                            </a:rPr>
                            <m:t>𝜃</m:t>
                          </m:r>
                        </m:e>
                      </m:nary>
                    </m:oMath>
                  </m:oMathPara>
                </a14:m>
                <a:endParaRPr lang="en-IN" dirty="0"/>
              </a:p>
            </p:txBody>
          </p:sp>
        </mc:Choice>
        <mc:Fallback>
          <p:sp>
            <p:nvSpPr>
              <p:cNvPr id="9" name="TextBox 8">
                <a:extLst>
                  <a:ext uri="{FF2B5EF4-FFF2-40B4-BE49-F238E27FC236}">
                    <a16:creationId xmlns:a16="http://schemas.microsoft.com/office/drawing/2014/main" id="{458F0976-7190-2E50-5BC0-AEB9AFB40431}"/>
                  </a:ext>
                </a:extLst>
              </p:cNvPr>
              <p:cNvSpPr txBox="1">
                <a:spLocks noRot="1" noChangeAspect="1" noMove="1" noResize="1" noEditPoints="1" noAdjustHandles="1" noChangeArrowheads="1" noChangeShapeType="1" noTextEdit="1"/>
              </p:cNvSpPr>
              <p:nvPr/>
            </p:nvSpPr>
            <p:spPr>
              <a:xfrm>
                <a:off x="-1209368" y="3483206"/>
                <a:ext cx="6096000" cy="87690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BC7DC503-B67D-7204-7095-E0A44E6CDE45}"/>
                  </a:ext>
                </a:extLst>
              </p:cNvPr>
              <p:cNvSpPr txBox="1"/>
              <p:nvPr/>
            </p:nvSpPr>
            <p:spPr>
              <a:xfrm>
                <a:off x="-1511710" y="5623827"/>
                <a:ext cx="6700684" cy="7101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rPr>
                        <m:t>𝑦</m:t>
                      </m:r>
                      <m:r>
                        <a:rPr lang="en-IN" i="0">
                          <a:latin typeface="Cambria Math" panose="02040503050406030204" pitchFamily="18" charset="0"/>
                        </a:rPr>
                        <m:t>=</m:t>
                      </m:r>
                      <m:d>
                        <m:dPr>
                          <m:begChr m:val="{"/>
                          <m:endChr m:val=""/>
                          <m:ctrlPr>
                            <a:rPr lang="en-IN" i="1">
                              <a:latin typeface="Cambria Math" panose="02040503050406030204" pitchFamily="18" charset="0"/>
                            </a:rPr>
                          </m:ctrlPr>
                        </m:dPr>
                        <m:e>
                          <m:m>
                            <m:mPr>
                              <m:plcHide m:val="on"/>
                              <m:mcs>
                                <m:mc>
                                  <m:mcPr>
                                    <m:count m:val="2"/>
                                    <m:mcJc m:val="center"/>
                                  </m:mcPr>
                                </m:mc>
                              </m:mcs>
                              <m:ctrlPr>
                                <a:rPr lang="en-IN" i="1">
                                  <a:latin typeface="Cambria Math" panose="02040503050406030204" pitchFamily="18" charset="0"/>
                                </a:rPr>
                              </m:ctrlPr>
                            </m:mPr>
                            <m:mr>
                              <m:e>
                                <m:r>
                                  <a:rPr lang="en-IN" i="0">
                                    <a:latin typeface="Cambria Math" panose="02040503050406030204" pitchFamily="18" charset="0"/>
                                  </a:rPr>
                                  <m:t>1</m:t>
                                </m:r>
                              </m:e>
                              <m:e>
                                <m:r>
                                  <a:rPr lang="en-IN" i="1">
                                    <a:latin typeface="Cambria Math" panose="02040503050406030204" pitchFamily="18" charset="0"/>
                                  </a:rPr>
                                  <m:t>𝑢</m:t>
                                </m:r>
                                <m:r>
                                  <a:rPr lang="en-IN" i="0">
                                    <a:latin typeface="Cambria Math" panose="02040503050406030204" pitchFamily="18" charset="0"/>
                                  </a:rPr>
                                  <m:t>≥0</m:t>
                                </m:r>
                              </m:e>
                            </m:mr>
                            <m:mr>
                              <m:e>
                                <m:r>
                                  <a:rPr lang="en-IN" i="0">
                                    <a:latin typeface="Cambria Math" panose="02040503050406030204" pitchFamily="18" charset="0"/>
                                  </a:rPr>
                                  <m:t>−1</m:t>
                                </m:r>
                              </m:e>
                              <m:e>
                                <m:r>
                                  <a:rPr lang="en-IN" i="1">
                                    <a:latin typeface="Cambria Math" panose="02040503050406030204" pitchFamily="18" charset="0"/>
                                  </a:rPr>
                                  <m:t>𝑢</m:t>
                                </m:r>
                                <m:r>
                                  <a:rPr lang="en-IN" i="0">
                                    <a:latin typeface="Cambria Math" panose="02040503050406030204" pitchFamily="18" charset="0"/>
                                  </a:rPr>
                                  <m:t>&lt;0</m:t>
                                </m:r>
                              </m:e>
                            </m:mr>
                          </m:m>
                        </m:e>
                      </m:d>
                    </m:oMath>
                  </m:oMathPara>
                </a14:m>
                <a:endParaRPr lang="en-IN" dirty="0"/>
              </a:p>
            </p:txBody>
          </p:sp>
        </mc:Choice>
        <mc:Fallback>
          <p:sp>
            <p:nvSpPr>
              <p:cNvPr id="11" name="TextBox 10">
                <a:extLst>
                  <a:ext uri="{FF2B5EF4-FFF2-40B4-BE49-F238E27FC236}">
                    <a16:creationId xmlns:a16="http://schemas.microsoft.com/office/drawing/2014/main" id="{BC7DC503-B67D-7204-7095-E0A44E6CDE45}"/>
                  </a:ext>
                </a:extLst>
              </p:cNvPr>
              <p:cNvSpPr txBox="1">
                <a:spLocks noRot="1" noChangeAspect="1" noMove="1" noResize="1" noEditPoints="1" noAdjustHandles="1" noChangeArrowheads="1" noChangeShapeType="1" noTextEdit="1"/>
              </p:cNvSpPr>
              <p:nvPr/>
            </p:nvSpPr>
            <p:spPr>
              <a:xfrm>
                <a:off x="-1511710" y="5623827"/>
                <a:ext cx="6700684" cy="710194"/>
              </a:xfrm>
              <a:prstGeom prst="rect">
                <a:avLst/>
              </a:prstGeom>
              <a:blipFill>
                <a:blip r:embed="rId5"/>
                <a:stretch>
                  <a:fillRect/>
                </a:stretch>
              </a:blipFill>
            </p:spPr>
            <p:txBody>
              <a:bodyPr/>
              <a:lstStyle/>
              <a:p>
                <a:r>
                  <a:rPr lang="en-IN">
                    <a:noFill/>
                  </a:rPr>
                  <a:t> </a:t>
                </a:r>
              </a:p>
            </p:txBody>
          </p:sp>
        </mc:Fallback>
      </mc:AlternateContent>
      <p:sp>
        <p:nvSpPr>
          <p:cNvPr id="17" name="TextBox 16">
            <a:extLst>
              <a:ext uri="{FF2B5EF4-FFF2-40B4-BE49-F238E27FC236}">
                <a16:creationId xmlns:a16="http://schemas.microsoft.com/office/drawing/2014/main" id="{1E72A696-7A90-97B4-8BFB-4E87F421C50D}"/>
              </a:ext>
            </a:extLst>
          </p:cNvPr>
          <p:cNvSpPr txBox="1"/>
          <p:nvPr/>
        </p:nvSpPr>
        <p:spPr>
          <a:xfrm>
            <a:off x="4238010" y="5794258"/>
            <a:ext cx="6931742" cy="369332"/>
          </a:xfrm>
          <a:prstGeom prst="rect">
            <a:avLst/>
          </a:prstGeom>
          <a:noFill/>
        </p:spPr>
        <p:txBody>
          <a:bodyPr wrap="square">
            <a:spAutoFit/>
          </a:bodyPr>
          <a:lstStyle/>
          <a:p>
            <a:r>
              <a:rPr lang="en-US" dirty="0">
                <a:solidFill>
                  <a:srgbClr val="1F1F1F"/>
                </a:solidFill>
                <a:latin typeface="ElsevierGulliver"/>
              </a:rPr>
              <a:t>Hence , </a:t>
            </a:r>
            <a:r>
              <a:rPr lang="en-US" b="0" i="0" dirty="0">
                <a:solidFill>
                  <a:srgbClr val="1F1F1F"/>
                </a:solidFill>
                <a:effectLst/>
                <a:latin typeface="ElsevierGulliver"/>
              </a:rPr>
              <a:t>It can be used only when patterns are linearly separable.</a:t>
            </a:r>
            <a:endParaRPr lang="en-IN" dirty="0"/>
          </a:p>
        </p:txBody>
      </p:sp>
      <p:pic>
        <p:nvPicPr>
          <p:cNvPr id="19" name="Picture 18">
            <a:extLst>
              <a:ext uri="{FF2B5EF4-FFF2-40B4-BE49-F238E27FC236}">
                <a16:creationId xmlns:a16="http://schemas.microsoft.com/office/drawing/2014/main" id="{47AA1AB7-946D-8FBE-CDFE-F0ADCA570240}"/>
              </a:ext>
            </a:extLst>
          </p:cNvPr>
          <p:cNvPicPr>
            <a:picLocks noChangeAspect="1"/>
          </p:cNvPicPr>
          <p:nvPr/>
        </p:nvPicPr>
        <p:blipFill>
          <a:blip r:embed="rId6"/>
          <a:stretch>
            <a:fillRect/>
          </a:stretch>
        </p:blipFill>
        <p:spPr>
          <a:xfrm>
            <a:off x="8341131" y="3452350"/>
            <a:ext cx="2969343" cy="2209416"/>
          </a:xfrm>
          <a:prstGeom prst="rect">
            <a:avLst/>
          </a:prstGeom>
        </p:spPr>
      </p:pic>
    </p:spTree>
    <p:extLst>
      <p:ext uri="{BB962C8B-B14F-4D97-AF65-F5344CB8AC3E}">
        <p14:creationId xmlns:p14="http://schemas.microsoft.com/office/powerpoint/2010/main" val="3002878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7" grpId="0"/>
      <p:bldP spid="9" grpId="0"/>
      <p:bldP spid="11" grpId="0"/>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E9B802-3918-F0BF-F6C5-0C9AA481C6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2826" y="0"/>
            <a:ext cx="8996515" cy="6858000"/>
          </a:xfrm>
          <a:prstGeom prst="rect">
            <a:avLst/>
          </a:prstGeom>
        </p:spPr>
      </p:pic>
    </p:spTree>
    <p:extLst>
      <p:ext uri="{BB962C8B-B14F-4D97-AF65-F5344CB8AC3E}">
        <p14:creationId xmlns:p14="http://schemas.microsoft.com/office/powerpoint/2010/main" val="3012160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C99F8-F6E8-0F3D-7D6C-A52801A4D266}"/>
              </a:ext>
            </a:extLst>
          </p:cNvPr>
          <p:cNvSpPr>
            <a:spLocks noGrp="1"/>
          </p:cNvSpPr>
          <p:nvPr>
            <p:ph type="title"/>
          </p:nvPr>
        </p:nvSpPr>
        <p:spPr/>
        <p:txBody>
          <a:bodyPr/>
          <a:lstStyle/>
          <a:p>
            <a:r>
              <a:rPr lang="en-US" dirty="0"/>
              <a:t>Application</a:t>
            </a:r>
            <a:endParaRPr lang="en-IN" dirty="0"/>
          </a:p>
        </p:txBody>
      </p:sp>
      <p:sp>
        <p:nvSpPr>
          <p:cNvPr id="5" name="TextBox 4">
            <a:extLst>
              <a:ext uri="{FF2B5EF4-FFF2-40B4-BE49-F238E27FC236}">
                <a16:creationId xmlns:a16="http://schemas.microsoft.com/office/drawing/2014/main" id="{CFD16052-E795-E9E6-6475-944B521DDB01}"/>
              </a:ext>
            </a:extLst>
          </p:cNvPr>
          <p:cNvSpPr txBox="1"/>
          <p:nvPr/>
        </p:nvSpPr>
        <p:spPr>
          <a:xfrm>
            <a:off x="838200" y="1690688"/>
            <a:ext cx="10901516" cy="646331"/>
          </a:xfrm>
          <a:prstGeom prst="rect">
            <a:avLst/>
          </a:prstGeom>
          <a:noFill/>
        </p:spPr>
        <p:txBody>
          <a:bodyPr wrap="square">
            <a:spAutoFit/>
          </a:bodyPr>
          <a:lstStyle/>
          <a:p>
            <a:pPr algn="l" fontAlgn="base">
              <a:spcAft>
                <a:spcPts val="1800"/>
              </a:spcAft>
            </a:pPr>
            <a:r>
              <a:rPr lang="en-US" b="1" i="0" dirty="0">
                <a:solidFill>
                  <a:srgbClr val="273239"/>
                </a:solidFill>
                <a:effectLst/>
                <a:latin typeface="Nunito" panose="020F0502020204030204" pitchFamily="2" charset="0"/>
              </a:rPr>
              <a:t>1. Binary Classification</a:t>
            </a:r>
            <a:r>
              <a:rPr lang="en-US" b="0" i="0" dirty="0">
                <a:solidFill>
                  <a:srgbClr val="273239"/>
                </a:solidFill>
                <a:effectLst/>
                <a:latin typeface="Nunito" panose="020F0502020204030204" pitchFamily="2" charset="0"/>
              </a:rPr>
              <a:t>: Used for simple yes/no decision problems such as spam detection or basic quality checks.</a:t>
            </a:r>
          </a:p>
        </p:txBody>
      </p:sp>
      <p:sp>
        <p:nvSpPr>
          <p:cNvPr id="7" name="TextBox 6">
            <a:extLst>
              <a:ext uri="{FF2B5EF4-FFF2-40B4-BE49-F238E27FC236}">
                <a16:creationId xmlns:a16="http://schemas.microsoft.com/office/drawing/2014/main" id="{6747DC05-B544-F596-6178-F8ACD1723738}"/>
              </a:ext>
            </a:extLst>
          </p:cNvPr>
          <p:cNvSpPr txBox="1"/>
          <p:nvPr/>
        </p:nvSpPr>
        <p:spPr>
          <a:xfrm>
            <a:off x="838199" y="2693085"/>
            <a:ext cx="10901515" cy="369332"/>
          </a:xfrm>
          <a:prstGeom prst="rect">
            <a:avLst/>
          </a:prstGeom>
          <a:noFill/>
        </p:spPr>
        <p:txBody>
          <a:bodyPr wrap="square">
            <a:spAutoFit/>
          </a:bodyPr>
          <a:lstStyle/>
          <a:p>
            <a:pPr algn="l" fontAlgn="base">
              <a:spcAft>
                <a:spcPts val="1800"/>
              </a:spcAft>
            </a:pPr>
            <a:r>
              <a:rPr lang="en-US" b="1" i="0" dirty="0">
                <a:solidFill>
                  <a:srgbClr val="273239"/>
                </a:solidFill>
                <a:effectLst/>
                <a:latin typeface="Nunito" pitchFamily="2" charset="0"/>
              </a:rPr>
              <a:t>2. Logic Gate Modelling</a:t>
            </a:r>
            <a:r>
              <a:rPr lang="en-US" b="0" i="0" dirty="0">
                <a:solidFill>
                  <a:srgbClr val="273239"/>
                </a:solidFill>
                <a:effectLst/>
                <a:latin typeface="Nunito" pitchFamily="2" charset="0"/>
              </a:rPr>
              <a:t>: Implements linearly separable gates like AND or NAND with perfect accuracy.</a:t>
            </a:r>
          </a:p>
        </p:txBody>
      </p:sp>
      <p:sp>
        <p:nvSpPr>
          <p:cNvPr id="9" name="TextBox 8">
            <a:extLst>
              <a:ext uri="{FF2B5EF4-FFF2-40B4-BE49-F238E27FC236}">
                <a16:creationId xmlns:a16="http://schemas.microsoft.com/office/drawing/2014/main" id="{DBB7AB59-3D3B-12FC-E5A6-9FEB98198C9D}"/>
              </a:ext>
            </a:extLst>
          </p:cNvPr>
          <p:cNvSpPr txBox="1"/>
          <p:nvPr/>
        </p:nvSpPr>
        <p:spPr>
          <a:xfrm>
            <a:off x="838198" y="3662582"/>
            <a:ext cx="10901515" cy="646331"/>
          </a:xfrm>
          <a:prstGeom prst="rect">
            <a:avLst/>
          </a:prstGeom>
          <a:noFill/>
        </p:spPr>
        <p:txBody>
          <a:bodyPr wrap="square">
            <a:spAutoFit/>
          </a:bodyPr>
          <a:lstStyle/>
          <a:p>
            <a:pPr algn="l" fontAlgn="base">
              <a:spcAft>
                <a:spcPts val="1800"/>
              </a:spcAft>
            </a:pPr>
            <a:r>
              <a:rPr lang="en-US" b="1" i="0" dirty="0">
                <a:solidFill>
                  <a:srgbClr val="273239"/>
                </a:solidFill>
                <a:effectLst/>
                <a:latin typeface="Nunito" pitchFamily="2" charset="0"/>
              </a:rPr>
              <a:t>3. Pattern Recognition Basics</a:t>
            </a:r>
            <a:r>
              <a:rPr lang="en-US" b="0" i="0" dirty="0">
                <a:solidFill>
                  <a:srgbClr val="273239"/>
                </a:solidFill>
                <a:effectLst/>
                <a:latin typeface="Nunito" pitchFamily="2" charset="0"/>
              </a:rPr>
              <a:t>: Helps identify simple patterns where classes can be separated with a straight line.</a:t>
            </a:r>
          </a:p>
        </p:txBody>
      </p:sp>
      <p:sp>
        <p:nvSpPr>
          <p:cNvPr id="11" name="TextBox 10">
            <a:extLst>
              <a:ext uri="{FF2B5EF4-FFF2-40B4-BE49-F238E27FC236}">
                <a16:creationId xmlns:a16="http://schemas.microsoft.com/office/drawing/2014/main" id="{D0F68E32-C815-F915-A124-F4E58CEB3625}"/>
              </a:ext>
            </a:extLst>
          </p:cNvPr>
          <p:cNvSpPr txBox="1"/>
          <p:nvPr/>
        </p:nvSpPr>
        <p:spPr>
          <a:xfrm>
            <a:off x="838197" y="4909078"/>
            <a:ext cx="10901515" cy="646331"/>
          </a:xfrm>
          <a:prstGeom prst="rect">
            <a:avLst/>
          </a:prstGeom>
          <a:noFill/>
        </p:spPr>
        <p:txBody>
          <a:bodyPr wrap="square">
            <a:spAutoFit/>
          </a:bodyPr>
          <a:lstStyle/>
          <a:p>
            <a:pPr algn="l" fontAlgn="base">
              <a:spcAft>
                <a:spcPts val="1800"/>
              </a:spcAft>
            </a:pPr>
            <a:r>
              <a:rPr lang="en-US" b="1" i="0" dirty="0">
                <a:solidFill>
                  <a:srgbClr val="273239"/>
                </a:solidFill>
                <a:effectLst/>
                <a:latin typeface="Nunito" pitchFamily="2" charset="0"/>
              </a:rPr>
              <a:t>4. Feature Importance Insight</a:t>
            </a:r>
            <a:r>
              <a:rPr lang="en-US" b="0" i="0" dirty="0">
                <a:solidFill>
                  <a:srgbClr val="273239"/>
                </a:solidFill>
                <a:effectLst/>
                <a:latin typeface="Nunito" pitchFamily="2" charset="0"/>
              </a:rPr>
              <a:t>: Weight values indicate which features influence the output more strongly.</a:t>
            </a:r>
          </a:p>
        </p:txBody>
      </p:sp>
    </p:spTree>
    <p:extLst>
      <p:ext uri="{BB962C8B-B14F-4D97-AF65-F5344CB8AC3E}">
        <p14:creationId xmlns:p14="http://schemas.microsoft.com/office/powerpoint/2010/main" val="3506445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71DED-AB2C-85DA-CD98-C1340C3B1ADF}"/>
              </a:ext>
            </a:extLst>
          </p:cNvPr>
          <p:cNvSpPr>
            <a:spLocks noGrp="1"/>
          </p:cNvSpPr>
          <p:nvPr>
            <p:ph type="title"/>
          </p:nvPr>
        </p:nvSpPr>
        <p:spPr/>
        <p:txBody>
          <a:bodyPr/>
          <a:lstStyle/>
          <a:p>
            <a:r>
              <a:rPr lang="en-US" dirty="0"/>
              <a:t>Advantages</a:t>
            </a:r>
            <a:endParaRPr lang="en-IN" dirty="0"/>
          </a:p>
        </p:txBody>
      </p:sp>
      <p:sp>
        <p:nvSpPr>
          <p:cNvPr id="5" name="TextBox 4">
            <a:extLst>
              <a:ext uri="{FF2B5EF4-FFF2-40B4-BE49-F238E27FC236}">
                <a16:creationId xmlns:a16="http://schemas.microsoft.com/office/drawing/2014/main" id="{EA3288B6-D81C-7F25-A048-8803AD8BFC97}"/>
              </a:ext>
            </a:extLst>
          </p:cNvPr>
          <p:cNvSpPr txBox="1"/>
          <p:nvPr/>
        </p:nvSpPr>
        <p:spPr>
          <a:xfrm>
            <a:off x="838200" y="1658733"/>
            <a:ext cx="10881852" cy="646331"/>
          </a:xfrm>
          <a:prstGeom prst="rect">
            <a:avLst/>
          </a:prstGeom>
          <a:noFill/>
        </p:spPr>
        <p:txBody>
          <a:bodyPr wrap="square">
            <a:spAutoFit/>
          </a:bodyPr>
          <a:lstStyle/>
          <a:p>
            <a:r>
              <a:rPr lang="en-IN" dirty="0"/>
              <a:t>1. </a:t>
            </a:r>
            <a:r>
              <a:rPr lang="en-IN" b="1" dirty="0"/>
              <a:t>Simplicity : </a:t>
            </a:r>
            <a:r>
              <a:rPr lang="en-US" dirty="0"/>
              <a:t>The mathematical structure of a perceptron is straightforward: it computes a weighted sum of inputs and applies a threshold function.</a:t>
            </a:r>
            <a:r>
              <a:rPr lang="en-IN" b="1" dirty="0"/>
              <a:t> </a:t>
            </a:r>
            <a:r>
              <a:rPr lang="en-IN" dirty="0"/>
              <a:t> </a:t>
            </a:r>
          </a:p>
        </p:txBody>
      </p:sp>
      <p:sp>
        <p:nvSpPr>
          <p:cNvPr id="7" name="TextBox 6">
            <a:extLst>
              <a:ext uri="{FF2B5EF4-FFF2-40B4-BE49-F238E27FC236}">
                <a16:creationId xmlns:a16="http://schemas.microsoft.com/office/drawing/2014/main" id="{742ADB7C-C209-A03D-C9D6-27C0FFC7EDCC}"/>
              </a:ext>
            </a:extLst>
          </p:cNvPr>
          <p:cNvSpPr txBox="1"/>
          <p:nvPr/>
        </p:nvSpPr>
        <p:spPr>
          <a:xfrm>
            <a:off x="838200" y="2382283"/>
            <a:ext cx="10881852" cy="646331"/>
          </a:xfrm>
          <a:prstGeom prst="rect">
            <a:avLst/>
          </a:prstGeom>
          <a:noFill/>
        </p:spPr>
        <p:txBody>
          <a:bodyPr wrap="square">
            <a:spAutoFit/>
          </a:bodyPr>
          <a:lstStyle/>
          <a:p>
            <a:r>
              <a:rPr lang="en-IN" dirty="0"/>
              <a:t>2. </a:t>
            </a:r>
            <a:r>
              <a:rPr lang="en-IN" b="1" dirty="0"/>
              <a:t>Computational Efficiency : </a:t>
            </a:r>
            <a:r>
              <a:rPr lang="en-US" dirty="0"/>
              <a:t>In hardware implementations, </a:t>
            </a:r>
            <a:r>
              <a:rPr lang="en-US" dirty="0" err="1"/>
              <a:t>perceptrons</a:t>
            </a:r>
            <a:r>
              <a:rPr lang="en-US" dirty="0"/>
              <a:t> can perform classifications almost instantaneously, making them ideal for high-speed, real-time applications where linear separability is guaranteed.</a:t>
            </a:r>
            <a:endParaRPr lang="en-IN" b="1" dirty="0"/>
          </a:p>
        </p:txBody>
      </p:sp>
      <p:sp>
        <p:nvSpPr>
          <p:cNvPr id="9" name="TextBox 8">
            <a:extLst>
              <a:ext uri="{FF2B5EF4-FFF2-40B4-BE49-F238E27FC236}">
                <a16:creationId xmlns:a16="http://schemas.microsoft.com/office/drawing/2014/main" id="{4162C9CB-ED4B-B4AE-633C-BAFAC73FBC89}"/>
              </a:ext>
            </a:extLst>
          </p:cNvPr>
          <p:cNvSpPr txBox="1"/>
          <p:nvPr/>
        </p:nvSpPr>
        <p:spPr>
          <a:xfrm>
            <a:off x="838200" y="3105834"/>
            <a:ext cx="10881852" cy="646331"/>
          </a:xfrm>
          <a:prstGeom prst="rect">
            <a:avLst/>
          </a:prstGeom>
          <a:noFill/>
        </p:spPr>
        <p:txBody>
          <a:bodyPr wrap="square">
            <a:spAutoFit/>
          </a:bodyPr>
          <a:lstStyle/>
          <a:p>
            <a:r>
              <a:rPr lang="en-IN" dirty="0"/>
              <a:t>3. </a:t>
            </a:r>
            <a:r>
              <a:rPr lang="en-IN" b="1" dirty="0"/>
              <a:t>Guaranteed Convergence : </a:t>
            </a:r>
            <a:r>
              <a:rPr lang="en-US" dirty="0"/>
              <a:t>If a dataset is linearly separable , the perceptron learning algorithm is mathematically guaranteed to find a solution in a finite number of steps.</a:t>
            </a:r>
            <a:r>
              <a:rPr lang="en-IN" b="1" dirty="0"/>
              <a:t> </a:t>
            </a:r>
          </a:p>
        </p:txBody>
      </p:sp>
      <p:sp>
        <p:nvSpPr>
          <p:cNvPr id="11" name="TextBox 10">
            <a:extLst>
              <a:ext uri="{FF2B5EF4-FFF2-40B4-BE49-F238E27FC236}">
                <a16:creationId xmlns:a16="http://schemas.microsoft.com/office/drawing/2014/main" id="{93D221D4-CF6D-71D3-DD02-536AFF3D48D7}"/>
              </a:ext>
            </a:extLst>
          </p:cNvPr>
          <p:cNvSpPr txBox="1"/>
          <p:nvPr/>
        </p:nvSpPr>
        <p:spPr>
          <a:xfrm>
            <a:off x="838199" y="3829385"/>
            <a:ext cx="10881851" cy="1200329"/>
          </a:xfrm>
          <a:prstGeom prst="rect">
            <a:avLst/>
          </a:prstGeom>
          <a:noFill/>
        </p:spPr>
        <p:txBody>
          <a:bodyPr wrap="square">
            <a:spAutoFit/>
          </a:bodyPr>
          <a:lstStyle/>
          <a:p>
            <a:r>
              <a:rPr lang="en-IN" dirty="0"/>
              <a:t>4. </a:t>
            </a:r>
            <a:r>
              <a:rPr lang="en-IN" b="1" dirty="0"/>
              <a:t>High Interpretability : </a:t>
            </a:r>
            <a:r>
              <a:rPr lang="en-IN" dirty="0"/>
              <a:t>By looking at the weights( W</a:t>
            </a:r>
            <a:r>
              <a:rPr lang="en-IN" sz="1200" dirty="0"/>
              <a:t>i</a:t>
            </a:r>
            <a:r>
              <a:rPr lang="en-IN" b="1" dirty="0"/>
              <a:t> </a:t>
            </a:r>
            <a:r>
              <a:rPr lang="en-IN" dirty="0"/>
              <a:t>) , </a:t>
            </a:r>
            <a:r>
              <a:rPr lang="en-US" dirty="0"/>
              <a:t>assigned to each input, one can directly see which features the model considers most important. A higher absolute weight indicates a stronger influence on the final output. The decision-making process can be visualized as a simple geometric boundary, making it easy to explain to non-technical people.</a:t>
            </a:r>
            <a:endParaRPr lang="en-IN" b="1" dirty="0"/>
          </a:p>
        </p:txBody>
      </p:sp>
      <p:sp>
        <p:nvSpPr>
          <p:cNvPr id="15" name="TextBox 14">
            <a:extLst>
              <a:ext uri="{FF2B5EF4-FFF2-40B4-BE49-F238E27FC236}">
                <a16:creationId xmlns:a16="http://schemas.microsoft.com/office/drawing/2014/main" id="{79834557-D6D5-6252-06D7-2A64EE4D5D19}"/>
              </a:ext>
            </a:extLst>
          </p:cNvPr>
          <p:cNvSpPr txBox="1"/>
          <p:nvPr/>
        </p:nvSpPr>
        <p:spPr>
          <a:xfrm>
            <a:off x="838199" y="5206641"/>
            <a:ext cx="10881850" cy="923330"/>
          </a:xfrm>
          <a:prstGeom prst="rect">
            <a:avLst/>
          </a:prstGeom>
          <a:noFill/>
        </p:spPr>
        <p:txBody>
          <a:bodyPr wrap="square">
            <a:spAutoFit/>
          </a:bodyPr>
          <a:lstStyle/>
          <a:p>
            <a:r>
              <a:rPr lang="en-IN" dirty="0"/>
              <a:t>5. </a:t>
            </a:r>
            <a:r>
              <a:rPr lang="en-IN" b="1" dirty="0"/>
              <a:t>Real-time Adaptation : </a:t>
            </a:r>
            <a:r>
              <a:rPr lang="en-US" dirty="0" err="1"/>
              <a:t>Perceptrons</a:t>
            </a:r>
            <a:r>
              <a:rPr lang="en-US" dirty="0"/>
              <a:t> do not require the entire dataset to be stored in memory. As new data arrives, the perceptron adjusts its weights immediately and discards the sample, which is highly effective for streaming data.</a:t>
            </a:r>
            <a:endParaRPr lang="en-IN" b="1" dirty="0"/>
          </a:p>
        </p:txBody>
      </p:sp>
    </p:spTree>
    <p:extLst>
      <p:ext uri="{BB962C8B-B14F-4D97-AF65-F5344CB8AC3E}">
        <p14:creationId xmlns:p14="http://schemas.microsoft.com/office/powerpoint/2010/main" val="390337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1"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2CE4B-37C4-C6DA-8FE0-6D2FAA3508D4}"/>
              </a:ext>
            </a:extLst>
          </p:cNvPr>
          <p:cNvSpPr>
            <a:spLocks noGrp="1"/>
          </p:cNvSpPr>
          <p:nvPr>
            <p:ph type="title"/>
          </p:nvPr>
        </p:nvSpPr>
        <p:spPr/>
        <p:txBody>
          <a:bodyPr/>
          <a:lstStyle/>
          <a:p>
            <a:r>
              <a:rPr lang="en-US" dirty="0"/>
              <a:t>Limitations</a:t>
            </a:r>
            <a:endParaRPr lang="en-IN" dirty="0"/>
          </a:p>
        </p:txBody>
      </p:sp>
      <p:sp>
        <p:nvSpPr>
          <p:cNvPr id="5" name="TextBox 4">
            <a:extLst>
              <a:ext uri="{FF2B5EF4-FFF2-40B4-BE49-F238E27FC236}">
                <a16:creationId xmlns:a16="http://schemas.microsoft.com/office/drawing/2014/main" id="{81379C69-8D48-CBDF-AC25-8521E9DBF6F4}"/>
              </a:ext>
            </a:extLst>
          </p:cNvPr>
          <p:cNvSpPr txBox="1"/>
          <p:nvPr/>
        </p:nvSpPr>
        <p:spPr>
          <a:xfrm>
            <a:off x="838200" y="1506022"/>
            <a:ext cx="10901516" cy="1477328"/>
          </a:xfrm>
          <a:prstGeom prst="rect">
            <a:avLst/>
          </a:prstGeom>
          <a:noFill/>
        </p:spPr>
        <p:txBody>
          <a:bodyPr wrap="square">
            <a:spAutoFit/>
          </a:bodyPr>
          <a:lstStyle/>
          <a:p>
            <a:r>
              <a:rPr lang="en-IN" dirty="0"/>
              <a:t>1. </a:t>
            </a:r>
            <a:r>
              <a:rPr lang="en-IN" b="1" dirty="0"/>
              <a:t>Linear Separability Constraint : </a:t>
            </a:r>
            <a:r>
              <a:rPr lang="en-US" dirty="0"/>
              <a:t>A perceptron cannot solve the XOR (exclusive OR) logic gate because the outputs cannot be divided by a single straight line. And this led to a period of reduced interest in neural network research known as the "AI Winter."</a:t>
            </a:r>
          </a:p>
          <a:p>
            <a:r>
              <a:rPr lang="en-US" dirty="0"/>
              <a:t>Most real-world data (such as images, speech, and natural language) is highly non-linear and cannot be classified using simple hyperplanes.</a:t>
            </a:r>
            <a:endParaRPr lang="en-IN" b="1" dirty="0"/>
          </a:p>
        </p:txBody>
      </p:sp>
      <p:sp>
        <p:nvSpPr>
          <p:cNvPr id="7" name="TextBox 6">
            <a:extLst>
              <a:ext uri="{FF2B5EF4-FFF2-40B4-BE49-F238E27FC236}">
                <a16:creationId xmlns:a16="http://schemas.microsoft.com/office/drawing/2014/main" id="{EDF0EC91-4BA8-9C12-6D15-BD5B6191D1B5}"/>
              </a:ext>
            </a:extLst>
          </p:cNvPr>
          <p:cNvSpPr txBox="1"/>
          <p:nvPr/>
        </p:nvSpPr>
        <p:spPr>
          <a:xfrm>
            <a:off x="838200" y="3200917"/>
            <a:ext cx="10901516" cy="923330"/>
          </a:xfrm>
          <a:prstGeom prst="rect">
            <a:avLst/>
          </a:prstGeom>
          <a:noFill/>
        </p:spPr>
        <p:txBody>
          <a:bodyPr wrap="square">
            <a:spAutoFit/>
          </a:bodyPr>
          <a:lstStyle/>
          <a:p>
            <a:r>
              <a:rPr lang="en-IN" dirty="0"/>
              <a:t>2. </a:t>
            </a:r>
            <a:r>
              <a:rPr lang="en-IN" b="1" dirty="0"/>
              <a:t>Lack of Probabilistic Output : </a:t>
            </a:r>
            <a:r>
              <a:rPr lang="en-US" dirty="0"/>
              <a:t>The output is strictly 0 or 1. It cannot tell the confidence of its prediction. Also as the step function is not differentiable at the threshold, </a:t>
            </a:r>
            <a:r>
              <a:rPr lang="en-US" dirty="0" err="1"/>
              <a:t>perceptrons</a:t>
            </a:r>
            <a:r>
              <a:rPr lang="en-US" dirty="0"/>
              <a:t> cannot use </a:t>
            </a:r>
            <a:r>
              <a:rPr lang="en-US" b="1" dirty="0"/>
              <a:t>Gradient Descent</a:t>
            </a:r>
            <a:r>
              <a:rPr lang="en-US" dirty="0"/>
              <a:t>—the primary optimization algorithm used to train modern AI. </a:t>
            </a:r>
            <a:endParaRPr lang="en-IN" b="1" dirty="0"/>
          </a:p>
        </p:txBody>
      </p:sp>
      <p:sp>
        <p:nvSpPr>
          <p:cNvPr id="9" name="TextBox 8">
            <a:extLst>
              <a:ext uri="{FF2B5EF4-FFF2-40B4-BE49-F238E27FC236}">
                <a16:creationId xmlns:a16="http://schemas.microsoft.com/office/drawing/2014/main" id="{CA59B2C3-CB14-C088-A559-F96D7881FE5B}"/>
              </a:ext>
            </a:extLst>
          </p:cNvPr>
          <p:cNvSpPr txBox="1"/>
          <p:nvPr/>
        </p:nvSpPr>
        <p:spPr>
          <a:xfrm>
            <a:off x="838200" y="4403517"/>
            <a:ext cx="10901516" cy="646331"/>
          </a:xfrm>
          <a:prstGeom prst="rect">
            <a:avLst/>
          </a:prstGeom>
          <a:noFill/>
        </p:spPr>
        <p:txBody>
          <a:bodyPr wrap="square">
            <a:spAutoFit/>
          </a:bodyPr>
          <a:lstStyle/>
          <a:p>
            <a:r>
              <a:rPr lang="en-IN" dirty="0"/>
              <a:t>3. </a:t>
            </a:r>
            <a:r>
              <a:rPr lang="en-IN" b="1" dirty="0"/>
              <a:t>Overfitting to Extremes : </a:t>
            </a:r>
            <a:r>
              <a:rPr lang="en-US" dirty="0"/>
              <a:t>A single outlier that is far from its cluster can significantly pull the decision boundary, ruining the model's ability to generalize to new data.</a:t>
            </a:r>
            <a:endParaRPr lang="en-IN" b="1" dirty="0"/>
          </a:p>
        </p:txBody>
      </p:sp>
      <p:sp>
        <p:nvSpPr>
          <p:cNvPr id="11" name="TextBox 10">
            <a:extLst>
              <a:ext uri="{FF2B5EF4-FFF2-40B4-BE49-F238E27FC236}">
                <a16:creationId xmlns:a16="http://schemas.microsoft.com/office/drawing/2014/main" id="{A3F3E377-6136-12A7-4C8F-C38F2A21A053}"/>
              </a:ext>
            </a:extLst>
          </p:cNvPr>
          <p:cNvSpPr txBox="1"/>
          <p:nvPr/>
        </p:nvSpPr>
        <p:spPr>
          <a:xfrm>
            <a:off x="838200" y="5351978"/>
            <a:ext cx="10901515" cy="923330"/>
          </a:xfrm>
          <a:prstGeom prst="rect">
            <a:avLst/>
          </a:prstGeom>
          <a:noFill/>
        </p:spPr>
        <p:txBody>
          <a:bodyPr wrap="square">
            <a:spAutoFit/>
          </a:bodyPr>
          <a:lstStyle/>
          <a:p>
            <a:r>
              <a:rPr lang="en-IN" dirty="0"/>
              <a:t>4. </a:t>
            </a:r>
            <a:r>
              <a:rPr lang="en-IN" b="1" dirty="0"/>
              <a:t>No Feature Extraction : </a:t>
            </a:r>
            <a:r>
              <a:rPr lang="en-US" dirty="0" err="1"/>
              <a:t>Perceptrons</a:t>
            </a:r>
            <a:r>
              <a:rPr lang="en-US" dirty="0"/>
              <a:t> rely entirely on the quality of the input features provided to them. Unlike deep networks, they cannot learn to identify shapes or patterns within raw data; they only weigh the inputs they are given.</a:t>
            </a:r>
            <a:r>
              <a:rPr lang="en-IN" b="1" dirty="0"/>
              <a:t> </a:t>
            </a:r>
          </a:p>
        </p:txBody>
      </p:sp>
    </p:spTree>
    <p:extLst>
      <p:ext uri="{BB962C8B-B14F-4D97-AF65-F5344CB8AC3E}">
        <p14:creationId xmlns:p14="http://schemas.microsoft.com/office/powerpoint/2010/main" val="3884996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A07B44-1FB2-4207-4890-D4D8872CDA83}"/>
              </a:ext>
            </a:extLst>
          </p:cNvPr>
          <p:cNvSpPr txBox="1"/>
          <p:nvPr/>
        </p:nvSpPr>
        <p:spPr>
          <a:xfrm>
            <a:off x="3215148" y="2349909"/>
            <a:ext cx="5761704" cy="646331"/>
          </a:xfrm>
          <a:prstGeom prst="rect">
            <a:avLst/>
          </a:prstGeom>
          <a:noFill/>
        </p:spPr>
        <p:txBody>
          <a:bodyPr wrap="square" rtlCol="0">
            <a:spAutoFit/>
          </a:bodyPr>
          <a:lstStyle/>
          <a:p>
            <a:r>
              <a:rPr lang="en-US" sz="3600" dirty="0"/>
              <a:t>Then What is the solution???</a:t>
            </a:r>
            <a:endParaRPr lang="en-IN" sz="3600" dirty="0"/>
          </a:p>
        </p:txBody>
      </p:sp>
      <p:sp>
        <p:nvSpPr>
          <p:cNvPr id="3" name="TextBox 2">
            <a:extLst>
              <a:ext uri="{FF2B5EF4-FFF2-40B4-BE49-F238E27FC236}">
                <a16:creationId xmlns:a16="http://schemas.microsoft.com/office/drawing/2014/main" id="{07E43C03-7C10-4344-A58D-4D86F47373B7}"/>
              </a:ext>
            </a:extLst>
          </p:cNvPr>
          <p:cNvSpPr txBox="1"/>
          <p:nvPr/>
        </p:nvSpPr>
        <p:spPr>
          <a:xfrm>
            <a:off x="3342967" y="3733942"/>
            <a:ext cx="5506065" cy="646331"/>
          </a:xfrm>
          <a:prstGeom prst="rect">
            <a:avLst/>
          </a:prstGeom>
          <a:noFill/>
        </p:spPr>
        <p:txBody>
          <a:bodyPr wrap="square" rtlCol="0">
            <a:spAutoFit/>
          </a:bodyPr>
          <a:lstStyle/>
          <a:p>
            <a:r>
              <a:rPr lang="en-US" sz="3600" dirty="0"/>
              <a:t>Artificial Neural Network !!!</a:t>
            </a:r>
            <a:endParaRPr lang="en-IN" sz="3600" dirty="0"/>
          </a:p>
        </p:txBody>
      </p:sp>
      <p:pic>
        <p:nvPicPr>
          <p:cNvPr id="5122" name="Picture 2" descr="Artificial Neural Networks and its Applications - GeeksforGeeks">
            <a:extLst>
              <a:ext uri="{FF2B5EF4-FFF2-40B4-BE49-F238E27FC236}">
                <a16:creationId xmlns:a16="http://schemas.microsoft.com/office/drawing/2014/main" id="{C4AAD76C-EFD7-14E2-DFF3-B04EE7A067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21395" y="4493342"/>
            <a:ext cx="4001728" cy="22417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5894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793BB-CE9C-8265-B1BF-C4B1940A1013}"/>
              </a:ext>
            </a:extLst>
          </p:cNvPr>
          <p:cNvSpPr>
            <a:spLocks noGrp="1"/>
          </p:cNvSpPr>
          <p:nvPr>
            <p:ph type="title"/>
          </p:nvPr>
        </p:nvSpPr>
        <p:spPr/>
        <p:txBody>
          <a:bodyPr/>
          <a:lstStyle/>
          <a:p>
            <a:r>
              <a:rPr lang="en-US" dirty="0"/>
              <a:t>Artificial Neural Network(ANN)</a:t>
            </a:r>
            <a:endParaRPr lang="en-IN" dirty="0"/>
          </a:p>
        </p:txBody>
      </p:sp>
      <p:sp>
        <p:nvSpPr>
          <p:cNvPr id="5" name="TextBox 4">
            <a:extLst>
              <a:ext uri="{FF2B5EF4-FFF2-40B4-BE49-F238E27FC236}">
                <a16:creationId xmlns:a16="http://schemas.microsoft.com/office/drawing/2014/main" id="{F8BEFF33-BDE8-8E1F-E7B7-386D33429D88}"/>
              </a:ext>
            </a:extLst>
          </p:cNvPr>
          <p:cNvSpPr txBox="1"/>
          <p:nvPr/>
        </p:nvSpPr>
        <p:spPr>
          <a:xfrm>
            <a:off x="838200" y="1690688"/>
            <a:ext cx="6096000" cy="923330"/>
          </a:xfrm>
          <a:prstGeom prst="rect">
            <a:avLst/>
          </a:prstGeom>
          <a:noFill/>
        </p:spPr>
        <p:txBody>
          <a:bodyPr wrap="square">
            <a:spAutoFit/>
          </a:bodyPr>
          <a:lstStyle/>
          <a:p>
            <a:r>
              <a:rPr lang="en-US" b="0" i="0" dirty="0">
                <a:solidFill>
                  <a:srgbClr val="242424"/>
                </a:solidFill>
                <a:effectLst/>
                <a:latin typeface="source-serif-pro"/>
              </a:rPr>
              <a:t>An Artificial Neural Network (ANN) is a computational model inspired by the way biological neural networks in the human brain process information.</a:t>
            </a:r>
            <a:endParaRPr lang="en-IN" dirty="0"/>
          </a:p>
        </p:txBody>
      </p:sp>
      <p:sp>
        <p:nvSpPr>
          <p:cNvPr id="6" name="TextBox 5">
            <a:extLst>
              <a:ext uri="{FF2B5EF4-FFF2-40B4-BE49-F238E27FC236}">
                <a16:creationId xmlns:a16="http://schemas.microsoft.com/office/drawing/2014/main" id="{C1484BFF-D37C-1DA0-EE27-353A94B6EF19}"/>
              </a:ext>
            </a:extLst>
          </p:cNvPr>
          <p:cNvSpPr txBox="1"/>
          <p:nvPr/>
        </p:nvSpPr>
        <p:spPr>
          <a:xfrm>
            <a:off x="838200" y="3939581"/>
            <a:ext cx="5769077" cy="646331"/>
          </a:xfrm>
          <a:prstGeom prst="rect">
            <a:avLst/>
          </a:prstGeom>
          <a:noFill/>
        </p:spPr>
        <p:txBody>
          <a:bodyPr wrap="square" rtlCol="0">
            <a:spAutoFit/>
          </a:bodyPr>
          <a:lstStyle/>
          <a:p>
            <a:r>
              <a:rPr lang="en-US" dirty="0"/>
              <a:t>It has multiple layers like input layer , hidden layer , output layer. So it is also called Multi Layered Perceptron(MLP)</a:t>
            </a:r>
            <a:endParaRPr lang="en-IN" dirty="0"/>
          </a:p>
        </p:txBody>
      </p:sp>
      <p:pic>
        <p:nvPicPr>
          <p:cNvPr id="37890" name="Picture 2">
            <a:extLst>
              <a:ext uri="{FF2B5EF4-FFF2-40B4-BE49-F238E27FC236}">
                <a16:creationId xmlns:a16="http://schemas.microsoft.com/office/drawing/2014/main" id="{A3B15862-52B9-397D-5CE3-2126C9314F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6673" y="1386349"/>
            <a:ext cx="3557127" cy="22417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0943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89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32201A5-0B62-7EA9-43B6-D892CB522A8E}"/>
              </a:ext>
            </a:extLst>
          </p:cNvPr>
          <p:cNvSpPr txBox="1"/>
          <p:nvPr/>
        </p:nvSpPr>
        <p:spPr>
          <a:xfrm>
            <a:off x="688258" y="481363"/>
            <a:ext cx="6096000" cy="374461"/>
          </a:xfrm>
          <a:prstGeom prst="rect">
            <a:avLst/>
          </a:prstGeom>
          <a:noFill/>
        </p:spPr>
        <p:txBody>
          <a:bodyPr wrap="square">
            <a:spAutoFit/>
          </a:bodyPr>
          <a:lstStyle/>
          <a:p>
            <a:pPr algn="l">
              <a:lnSpc>
                <a:spcPts val="2250"/>
              </a:lnSpc>
              <a:buNone/>
            </a:pPr>
            <a:r>
              <a:rPr lang="en-IN" b="1" i="0" dirty="0">
                <a:solidFill>
                  <a:srgbClr val="242424"/>
                </a:solidFill>
                <a:effectLst/>
                <a:latin typeface="sohne"/>
              </a:rPr>
              <a:t>Core Components</a:t>
            </a:r>
          </a:p>
        </p:txBody>
      </p:sp>
      <p:sp>
        <p:nvSpPr>
          <p:cNvPr id="5" name="TextBox 4">
            <a:extLst>
              <a:ext uri="{FF2B5EF4-FFF2-40B4-BE49-F238E27FC236}">
                <a16:creationId xmlns:a16="http://schemas.microsoft.com/office/drawing/2014/main" id="{6DEE4A3E-AF9C-8041-E002-CA1653A55AC3}"/>
              </a:ext>
            </a:extLst>
          </p:cNvPr>
          <p:cNvSpPr txBox="1"/>
          <p:nvPr/>
        </p:nvSpPr>
        <p:spPr>
          <a:xfrm>
            <a:off x="688258" y="745905"/>
            <a:ext cx="6096000" cy="999633"/>
          </a:xfrm>
          <a:prstGeom prst="rect">
            <a:avLst/>
          </a:prstGeom>
          <a:noFill/>
        </p:spPr>
        <p:txBody>
          <a:bodyPr wrap="square">
            <a:spAutoFit/>
          </a:bodyPr>
          <a:lstStyle/>
          <a:p>
            <a:pPr algn="l">
              <a:lnSpc>
                <a:spcPts val="2400"/>
              </a:lnSpc>
              <a:buFont typeface="+mj-lt"/>
              <a:buAutoNum type="arabicPeriod"/>
            </a:pPr>
            <a:r>
              <a:rPr lang="en-US" b="1" i="0" dirty="0">
                <a:solidFill>
                  <a:srgbClr val="242424"/>
                </a:solidFill>
                <a:effectLst/>
                <a:latin typeface="source-serif-pro"/>
              </a:rPr>
              <a:t>Neurons (Nodes)</a:t>
            </a:r>
            <a:endParaRPr lang="en-US" b="0" i="0" dirty="0">
              <a:solidFill>
                <a:srgbClr val="242424"/>
              </a:solidFill>
              <a:effectLst/>
              <a:latin typeface="source-serif-pro"/>
            </a:endParaRPr>
          </a:p>
          <a:p>
            <a:pPr algn="l">
              <a:lnSpc>
                <a:spcPts val="2400"/>
              </a:lnSpc>
              <a:buFont typeface="Arial" panose="020B0604020202020204" pitchFamily="34" charset="0"/>
              <a:buChar char="•"/>
            </a:pPr>
            <a:r>
              <a:rPr lang="en-US" b="0" i="0" dirty="0">
                <a:solidFill>
                  <a:srgbClr val="242424"/>
                </a:solidFill>
                <a:effectLst/>
                <a:latin typeface="source-serif-pro"/>
              </a:rPr>
              <a:t>Basic units of an ANN.</a:t>
            </a:r>
          </a:p>
          <a:p>
            <a:pPr algn="l">
              <a:lnSpc>
                <a:spcPts val="2400"/>
              </a:lnSpc>
              <a:buFont typeface="Arial" panose="020B0604020202020204" pitchFamily="34" charset="0"/>
              <a:buChar char="•"/>
            </a:pPr>
            <a:r>
              <a:rPr lang="en-US" b="0" i="0" dirty="0">
                <a:solidFill>
                  <a:srgbClr val="242424"/>
                </a:solidFill>
                <a:effectLst/>
                <a:latin typeface="source-serif-pro"/>
              </a:rPr>
              <a:t>Receive input, process it, and pass the output to the next layer.</a:t>
            </a:r>
          </a:p>
        </p:txBody>
      </p:sp>
      <p:sp>
        <p:nvSpPr>
          <p:cNvPr id="7" name="TextBox 6">
            <a:extLst>
              <a:ext uri="{FF2B5EF4-FFF2-40B4-BE49-F238E27FC236}">
                <a16:creationId xmlns:a16="http://schemas.microsoft.com/office/drawing/2014/main" id="{78042A38-F2B2-C2E2-BE4C-178A27749800}"/>
              </a:ext>
            </a:extLst>
          </p:cNvPr>
          <p:cNvSpPr txBox="1"/>
          <p:nvPr/>
        </p:nvSpPr>
        <p:spPr>
          <a:xfrm>
            <a:off x="688258" y="1745538"/>
            <a:ext cx="6096000" cy="1615186"/>
          </a:xfrm>
          <a:prstGeom prst="rect">
            <a:avLst/>
          </a:prstGeom>
          <a:noFill/>
        </p:spPr>
        <p:txBody>
          <a:bodyPr wrap="square">
            <a:spAutoFit/>
          </a:bodyPr>
          <a:lstStyle/>
          <a:p>
            <a:pPr algn="l">
              <a:lnSpc>
                <a:spcPts val="2400"/>
              </a:lnSpc>
            </a:pPr>
            <a:r>
              <a:rPr lang="en-US" b="1" i="0" dirty="0">
                <a:solidFill>
                  <a:srgbClr val="242424"/>
                </a:solidFill>
                <a:effectLst/>
                <a:latin typeface="source-serif-pro"/>
              </a:rPr>
              <a:t>2.Layers</a:t>
            </a:r>
            <a:endParaRPr lang="en-US" b="0" i="0" dirty="0">
              <a:solidFill>
                <a:srgbClr val="242424"/>
              </a:solidFill>
              <a:effectLst/>
              <a:latin typeface="source-serif-pro"/>
            </a:endParaRPr>
          </a:p>
          <a:p>
            <a:pPr algn="l">
              <a:lnSpc>
                <a:spcPts val="2400"/>
              </a:lnSpc>
              <a:buFont typeface="Arial" panose="020B0604020202020204" pitchFamily="34" charset="0"/>
              <a:buChar char="•"/>
            </a:pPr>
            <a:r>
              <a:rPr lang="en-US" b="1" i="0" dirty="0">
                <a:solidFill>
                  <a:srgbClr val="242424"/>
                </a:solidFill>
                <a:effectLst/>
                <a:latin typeface="source-serif-pro"/>
              </a:rPr>
              <a:t>Input Layer:</a:t>
            </a:r>
            <a:r>
              <a:rPr lang="en-US" b="0" i="0" dirty="0">
                <a:solidFill>
                  <a:srgbClr val="242424"/>
                </a:solidFill>
                <a:effectLst/>
                <a:latin typeface="source-serif-pro"/>
              </a:rPr>
              <a:t> The layer that receives the input data.</a:t>
            </a:r>
          </a:p>
          <a:p>
            <a:pPr algn="l">
              <a:lnSpc>
                <a:spcPts val="2400"/>
              </a:lnSpc>
              <a:buFont typeface="Arial" panose="020B0604020202020204" pitchFamily="34" charset="0"/>
              <a:buChar char="•"/>
            </a:pPr>
            <a:r>
              <a:rPr lang="en-US" b="1" i="0" dirty="0">
                <a:solidFill>
                  <a:srgbClr val="242424"/>
                </a:solidFill>
                <a:effectLst/>
                <a:latin typeface="source-serif-pro"/>
              </a:rPr>
              <a:t>Hidden Layers:</a:t>
            </a:r>
            <a:r>
              <a:rPr lang="en-US" b="0" i="0" dirty="0">
                <a:solidFill>
                  <a:srgbClr val="242424"/>
                </a:solidFill>
                <a:effectLst/>
                <a:latin typeface="source-serif-pro"/>
              </a:rPr>
              <a:t> Intermediate layers where the processing is done. There can be one or more hidden layers.</a:t>
            </a:r>
          </a:p>
          <a:p>
            <a:pPr algn="l">
              <a:lnSpc>
                <a:spcPts val="2400"/>
              </a:lnSpc>
              <a:buFont typeface="Arial" panose="020B0604020202020204" pitchFamily="34" charset="0"/>
              <a:buChar char="•"/>
            </a:pPr>
            <a:r>
              <a:rPr lang="en-US" b="1" i="0" dirty="0">
                <a:solidFill>
                  <a:srgbClr val="242424"/>
                </a:solidFill>
                <a:effectLst/>
                <a:latin typeface="source-serif-pro"/>
              </a:rPr>
              <a:t>Output Layer:</a:t>
            </a:r>
            <a:r>
              <a:rPr lang="en-US" b="0" i="0" dirty="0">
                <a:solidFill>
                  <a:srgbClr val="242424"/>
                </a:solidFill>
                <a:effectLst/>
                <a:latin typeface="source-serif-pro"/>
              </a:rPr>
              <a:t> Produces the final output of the network.</a:t>
            </a:r>
          </a:p>
        </p:txBody>
      </p:sp>
      <p:sp>
        <p:nvSpPr>
          <p:cNvPr id="9" name="TextBox 8">
            <a:extLst>
              <a:ext uri="{FF2B5EF4-FFF2-40B4-BE49-F238E27FC236}">
                <a16:creationId xmlns:a16="http://schemas.microsoft.com/office/drawing/2014/main" id="{6EFC50A4-DB13-D789-F945-5FF5D4387EF5}"/>
              </a:ext>
            </a:extLst>
          </p:cNvPr>
          <p:cNvSpPr txBox="1"/>
          <p:nvPr/>
        </p:nvSpPr>
        <p:spPr>
          <a:xfrm>
            <a:off x="688258" y="3360724"/>
            <a:ext cx="6096000" cy="999633"/>
          </a:xfrm>
          <a:prstGeom prst="rect">
            <a:avLst/>
          </a:prstGeom>
          <a:noFill/>
        </p:spPr>
        <p:txBody>
          <a:bodyPr wrap="square">
            <a:spAutoFit/>
          </a:bodyPr>
          <a:lstStyle/>
          <a:p>
            <a:pPr algn="l">
              <a:lnSpc>
                <a:spcPts val="2400"/>
              </a:lnSpc>
              <a:buNone/>
            </a:pPr>
            <a:r>
              <a:rPr lang="en-US" b="1" dirty="0">
                <a:solidFill>
                  <a:srgbClr val="242424"/>
                </a:solidFill>
                <a:latin typeface="source-serif-pro"/>
              </a:rPr>
              <a:t>3</a:t>
            </a:r>
            <a:r>
              <a:rPr lang="en-US" b="1" i="0" dirty="0">
                <a:solidFill>
                  <a:srgbClr val="242424"/>
                </a:solidFill>
                <a:effectLst/>
                <a:latin typeface="source-serif-pro"/>
              </a:rPr>
              <a:t>. Weights</a:t>
            </a:r>
            <a:endParaRPr lang="en-US" b="0" i="0" dirty="0">
              <a:solidFill>
                <a:srgbClr val="242424"/>
              </a:solidFill>
              <a:effectLst/>
              <a:latin typeface="source-serif-pro"/>
            </a:endParaRPr>
          </a:p>
          <a:p>
            <a:pPr algn="l">
              <a:lnSpc>
                <a:spcPts val="2400"/>
              </a:lnSpc>
              <a:buFont typeface="Arial" panose="020B0604020202020204" pitchFamily="34" charset="0"/>
              <a:buChar char="•"/>
            </a:pPr>
            <a:r>
              <a:rPr lang="en-US" b="0" i="0" dirty="0">
                <a:solidFill>
                  <a:srgbClr val="242424"/>
                </a:solidFill>
                <a:effectLst/>
                <a:latin typeface="source-serif-pro"/>
              </a:rPr>
              <a:t>Parameters that are adjusted during training.</a:t>
            </a:r>
          </a:p>
          <a:p>
            <a:pPr algn="l">
              <a:lnSpc>
                <a:spcPts val="2400"/>
              </a:lnSpc>
              <a:buFont typeface="Arial" panose="020B0604020202020204" pitchFamily="34" charset="0"/>
              <a:buChar char="•"/>
            </a:pPr>
            <a:r>
              <a:rPr lang="en-US" b="0" i="0" dirty="0">
                <a:solidFill>
                  <a:srgbClr val="242424"/>
                </a:solidFill>
                <a:effectLst/>
                <a:latin typeface="source-serif-pro"/>
              </a:rPr>
              <a:t>Represent the strength of the connection between neurons.</a:t>
            </a:r>
          </a:p>
        </p:txBody>
      </p:sp>
      <p:sp>
        <p:nvSpPr>
          <p:cNvPr id="11" name="TextBox 10">
            <a:extLst>
              <a:ext uri="{FF2B5EF4-FFF2-40B4-BE49-F238E27FC236}">
                <a16:creationId xmlns:a16="http://schemas.microsoft.com/office/drawing/2014/main" id="{96A2A886-2D4E-98CA-0E99-B5BACAF61C63}"/>
              </a:ext>
            </a:extLst>
          </p:cNvPr>
          <p:cNvSpPr txBox="1"/>
          <p:nvPr/>
        </p:nvSpPr>
        <p:spPr>
          <a:xfrm>
            <a:off x="688258" y="4360357"/>
            <a:ext cx="6096000" cy="999633"/>
          </a:xfrm>
          <a:prstGeom prst="rect">
            <a:avLst/>
          </a:prstGeom>
          <a:noFill/>
        </p:spPr>
        <p:txBody>
          <a:bodyPr wrap="square">
            <a:spAutoFit/>
          </a:bodyPr>
          <a:lstStyle/>
          <a:p>
            <a:pPr algn="l">
              <a:lnSpc>
                <a:spcPts val="2400"/>
              </a:lnSpc>
              <a:buNone/>
            </a:pPr>
            <a:r>
              <a:rPr lang="en-US" b="1" dirty="0">
                <a:solidFill>
                  <a:srgbClr val="242424"/>
                </a:solidFill>
                <a:latin typeface="source-serif-pro"/>
              </a:rPr>
              <a:t>4.</a:t>
            </a:r>
            <a:r>
              <a:rPr lang="en-US" b="1" i="0" dirty="0">
                <a:solidFill>
                  <a:srgbClr val="242424"/>
                </a:solidFill>
                <a:effectLst/>
                <a:latin typeface="source-serif-pro"/>
              </a:rPr>
              <a:t> Bias</a:t>
            </a:r>
            <a:endParaRPr lang="en-US" b="0" i="0" dirty="0">
              <a:solidFill>
                <a:srgbClr val="242424"/>
              </a:solidFill>
              <a:effectLst/>
              <a:latin typeface="source-serif-pro"/>
            </a:endParaRPr>
          </a:p>
          <a:p>
            <a:pPr algn="l">
              <a:lnSpc>
                <a:spcPts val="2400"/>
              </a:lnSpc>
              <a:buFont typeface="Arial" panose="020B0604020202020204" pitchFamily="34" charset="0"/>
              <a:buChar char="•"/>
            </a:pPr>
            <a:r>
              <a:rPr lang="en-US" b="0" i="0" dirty="0">
                <a:solidFill>
                  <a:srgbClr val="242424"/>
                </a:solidFill>
                <a:effectLst/>
                <a:latin typeface="source-serif-pro"/>
              </a:rPr>
              <a:t>An additional parameter in each neuron that allows the model to fit the data better.</a:t>
            </a:r>
          </a:p>
        </p:txBody>
      </p:sp>
      <p:sp>
        <p:nvSpPr>
          <p:cNvPr id="13" name="TextBox 12">
            <a:extLst>
              <a:ext uri="{FF2B5EF4-FFF2-40B4-BE49-F238E27FC236}">
                <a16:creationId xmlns:a16="http://schemas.microsoft.com/office/drawing/2014/main" id="{9709A115-B9D6-9171-B87D-47D5E52DE475}"/>
              </a:ext>
            </a:extLst>
          </p:cNvPr>
          <p:cNvSpPr txBox="1"/>
          <p:nvPr/>
        </p:nvSpPr>
        <p:spPr>
          <a:xfrm>
            <a:off x="688258" y="5359990"/>
            <a:ext cx="11434916" cy="1307409"/>
          </a:xfrm>
          <a:prstGeom prst="rect">
            <a:avLst/>
          </a:prstGeom>
          <a:noFill/>
        </p:spPr>
        <p:txBody>
          <a:bodyPr wrap="square">
            <a:spAutoFit/>
          </a:bodyPr>
          <a:lstStyle/>
          <a:p>
            <a:pPr algn="l">
              <a:lnSpc>
                <a:spcPts val="2400"/>
              </a:lnSpc>
              <a:buNone/>
            </a:pPr>
            <a:r>
              <a:rPr lang="en-US" b="1" dirty="0">
                <a:solidFill>
                  <a:srgbClr val="242424"/>
                </a:solidFill>
                <a:latin typeface="source-serif-pro"/>
              </a:rPr>
              <a:t>5</a:t>
            </a:r>
            <a:r>
              <a:rPr lang="en-US" b="1" i="0" dirty="0">
                <a:solidFill>
                  <a:srgbClr val="242424"/>
                </a:solidFill>
                <a:effectLst/>
                <a:latin typeface="source-serif-pro"/>
              </a:rPr>
              <a:t>. Activation Function</a:t>
            </a:r>
            <a:endParaRPr lang="en-US" b="0" i="0" dirty="0">
              <a:solidFill>
                <a:srgbClr val="242424"/>
              </a:solidFill>
              <a:effectLst/>
              <a:latin typeface="source-serif-pro"/>
            </a:endParaRPr>
          </a:p>
          <a:p>
            <a:pPr algn="l">
              <a:lnSpc>
                <a:spcPts val="2400"/>
              </a:lnSpc>
              <a:buFont typeface="Arial" panose="020B0604020202020204" pitchFamily="34" charset="0"/>
              <a:buChar char="•"/>
            </a:pPr>
            <a:r>
              <a:rPr lang="en-US" b="0" i="0" dirty="0">
                <a:solidFill>
                  <a:srgbClr val="242424"/>
                </a:solidFill>
                <a:effectLst/>
                <a:latin typeface="source-serif-pro"/>
              </a:rPr>
              <a:t>A mathematical function is applied to the output of each neuron.</a:t>
            </a:r>
          </a:p>
          <a:p>
            <a:pPr algn="l">
              <a:lnSpc>
                <a:spcPts val="2400"/>
              </a:lnSpc>
              <a:buFont typeface="Arial" panose="020B0604020202020204" pitchFamily="34" charset="0"/>
              <a:buChar char="•"/>
            </a:pPr>
            <a:r>
              <a:rPr lang="en-US" b="0" i="0" dirty="0">
                <a:solidFill>
                  <a:srgbClr val="242424"/>
                </a:solidFill>
                <a:effectLst/>
                <a:latin typeface="source-serif-pro"/>
              </a:rPr>
              <a:t>Introduces non-linearity to the model.</a:t>
            </a:r>
          </a:p>
          <a:p>
            <a:pPr algn="l">
              <a:lnSpc>
                <a:spcPts val="2400"/>
              </a:lnSpc>
              <a:buFont typeface="Arial" panose="020B0604020202020204" pitchFamily="34" charset="0"/>
              <a:buChar char="•"/>
            </a:pPr>
            <a:r>
              <a:rPr lang="en-US" b="0" i="0" dirty="0">
                <a:solidFill>
                  <a:srgbClr val="242424"/>
                </a:solidFill>
                <a:effectLst/>
                <a:latin typeface="source-serif-pro"/>
              </a:rPr>
              <a:t>Common activation functions include Sigmoid, Tanh, </a:t>
            </a:r>
            <a:r>
              <a:rPr lang="en-US" b="0" i="0" dirty="0" err="1">
                <a:solidFill>
                  <a:srgbClr val="242424"/>
                </a:solidFill>
                <a:effectLst/>
                <a:latin typeface="source-serif-pro"/>
              </a:rPr>
              <a:t>ReLU</a:t>
            </a:r>
            <a:r>
              <a:rPr lang="en-US" b="0" i="0" dirty="0">
                <a:solidFill>
                  <a:srgbClr val="242424"/>
                </a:solidFill>
                <a:effectLst/>
                <a:latin typeface="source-serif-pro"/>
              </a:rPr>
              <a:t> (Rectified Linear Unit), and </a:t>
            </a:r>
            <a:r>
              <a:rPr lang="en-US" b="0" i="0" dirty="0" err="1">
                <a:solidFill>
                  <a:srgbClr val="242424"/>
                </a:solidFill>
                <a:effectLst/>
                <a:latin typeface="source-serif-pro"/>
              </a:rPr>
              <a:t>Softmax</a:t>
            </a:r>
            <a:r>
              <a:rPr lang="en-US" b="0" i="0" dirty="0">
                <a:solidFill>
                  <a:srgbClr val="242424"/>
                </a:solidFill>
                <a:effectLst/>
                <a:latin typeface="source-serif-pro"/>
              </a:rPr>
              <a:t>.</a:t>
            </a:r>
          </a:p>
        </p:txBody>
      </p:sp>
      <p:pic>
        <p:nvPicPr>
          <p:cNvPr id="38914" name="Picture 2" descr="A pattern of trained neural network with weight and bias values. | Download  Scientific Diagram">
            <a:extLst>
              <a:ext uri="{FF2B5EF4-FFF2-40B4-BE49-F238E27FC236}">
                <a16:creationId xmlns:a16="http://schemas.microsoft.com/office/drawing/2014/main" id="{996EE7C2-9B2C-436B-BC4C-31E82F418D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4258" y="1312357"/>
            <a:ext cx="495300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07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P spid="9" grpId="0"/>
      <p:bldP spid="11"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a:extLst>
              <a:ext uri="{FF2B5EF4-FFF2-40B4-BE49-F238E27FC236}">
                <a16:creationId xmlns:a16="http://schemas.microsoft.com/office/drawing/2014/main" id="{BACB8C8D-8C7D-0CC5-9D82-DD162ECBDF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096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0964" name="Picture 4">
            <a:extLst>
              <a:ext uri="{FF2B5EF4-FFF2-40B4-BE49-F238E27FC236}">
                <a16:creationId xmlns:a16="http://schemas.microsoft.com/office/drawing/2014/main" id="{A393C7AE-8A7F-5B8F-471A-78D15C0ADC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0"/>
            <a:ext cx="6096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9939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a:extLst>
              <a:ext uri="{FF2B5EF4-FFF2-40B4-BE49-F238E27FC236}">
                <a16:creationId xmlns:a16="http://schemas.microsoft.com/office/drawing/2014/main" id="{874C5157-1043-1D60-1AB6-C3F800D665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412322" cy="3283972"/>
          </a:xfrm>
          <a:prstGeom prst="rect">
            <a:avLst/>
          </a:prstGeom>
          <a:noFill/>
          <a:extLst>
            <a:ext uri="{909E8E84-426E-40DD-AFC4-6F175D3DCCD1}">
              <a14:hiddenFill xmlns:a14="http://schemas.microsoft.com/office/drawing/2010/main">
                <a:solidFill>
                  <a:srgbClr val="FFFFFF"/>
                </a:solidFill>
              </a14:hiddenFill>
            </a:ext>
          </a:extLst>
        </p:spPr>
      </p:pic>
      <p:pic>
        <p:nvPicPr>
          <p:cNvPr id="39940" name="Picture 4">
            <a:extLst>
              <a:ext uri="{FF2B5EF4-FFF2-40B4-BE49-F238E27FC236}">
                <a16:creationId xmlns:a16="http://schemas.microsoft.com/office/drawing/2014/main" id="{8A3442B0-5BFD-EE94-71B1-636752B795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2322" y="0"/>
            <a:ext cx="5779678" cy="3283972"/>
          </a:xfrm>
          <a:prstGeom prst="rect">
            <a:avLst/>
          </a:prstGeom>
          <a:noFill/>
          <a:extLst>
            <a:ext uri="{909E8E84-426E-40DD-AFC4-6F175D3DCCD1}">
              <a14:hiddenFill xmlns:a14="http://schemas.microsoft.com/office/drawing/2010/main">
                <a:solidFill>
                  <a:srgbClr val="FFFFFF"/>
                </a:solidFill>
              </a14:hiddenFill>
            </a:ext>
          </a:extLst>
        </p:spPr>
      </p:pic>
      <p:pic>
        <p:nvPicPr>
          <p:cNvPr id="39942" name="Picture 6">
            <a:extLst>
              <a:ext uri="{FF2B5EF4-FFF2-40B4-BE49-F238E27FC236}">
                <a16:creationId xmlns:a16="http://schemas.microsoft.com/office/drawing/2014/main" id="{76471020-6C95-EBD8-AC8C-28A21229A8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283974"/>
            <a:ext cx="6096000" cy="3574027"/>
          </a:xfrm>
          <a:prstGeom prst="rect">
            <a:avLst/>
          </a:prstGeom>
          <a:noFill/>
          <a:extLst>
            <a:ext uri="{909E8E84-426E-40DD-AFC4-6F175D3DCCD1}">
              <a14:hiddenFill xmlns:a14="http://schemas.microsoft.com/office/drawing/2010/main">
                <a:solidFill>
                  <a:srgbClr val="FFFFFF"/>
                </a:solidFill>
              </a14:hiddenFill>
            </a:ext>
          </a:extLst>
        </p:spPr>
      </p:pic>
      <p:pic>
        <p:nvPicPr>
          <p:cNvPr id="39944" name="Picture 8">
            <a:extLst>
              <a:ext uri="{FF2B5EF4-FFF2-40B4-BE49-F238E27FC236}">
                <a16:creationId xmlns:a16="http://schemas.microsoft.com/office/drawing/2014/main" id="{FBA791DF-526A-8589-5F68-16488995A3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1" y="3283973"/>
            <a:ext cx="6096000" cy="35740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3274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9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9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EF509-0B27-B381-C903-33259C280C15}"/>
              </a:ext>
            </a:extLst>
          </p:cNvPr>
          <p:cNvSpPr>
            <a:spLocks noGrp="1"/>
          </p:cNvSpPr>
          <p:nvPr>
            <p:ph type="title"/>
          </p:nvPr>
        </p:nvSpPr>
        <p:spPr>
          <a:xfrm>
            <a:off x="838200" y="18255"/>
            <a:ext cx="10515600" cy="1325563"/>
          </a:xfrm>
        </p:spPr>
        <p:txBody>
          <a:bodyPr/>
          <a:lstStyle/>
          <a:p>
            <a:r>
              <a:rPr lang="en-IN" b="1" dirty="0"/>
              <a:t>Activation Functions</a:t>
            </a:r>
            <a:endParaRPr lang="en-IN" dirty="0"/>
          </a:p>
        </p:txBody>
      </p:sp>
      <p:sp>
        <p:nvSpPr>
          <p:cNvPr id="5" name="TextBox 4">
            <a:extLst>
              <a:ext uri="{FF2B5EF4-FFF2-40B4-BE49-F238E27FC236}">
                <a16:creationId xmlns:a16="http://schemas.microsoft.com/office/drawing/2014/main" id="{707116B5-0B23-43BA-59B9-A258A45DE487}"/>
              </a:ext>
            </a:extLst>
          </p:cNvPr>
          <p:cNvSpPr txBox="1"/>
          <p:nvPr/>
        </p:nvSpPr>
        <p:spPr>
          <a:xfrm>
            <a:off x="838200" y="1180632"/>
            <a:ext cx="6096000" cy="326371"/>
          </a:xfrm>
          <a:prstGeom prst="rect">
            <a:avLst/>
          </a:prstGeom>
          <a:noFill/>
        </p:spPr>
        <p:txBody>
          <a:bodyPr wrap="square">
            <a:spAutoFit/>
          </a:bodyPr>
          <a:lstStyle/>
          <a:p>
            <a:pPr algn="l">
              <a:lnSpc>
                <a:spcPts val="1800"/>
              </a:lnSpc>
              <a:buNone/>
            </a:pPr>
            <a:r>
              <a:rPr lang="en-IN" b="1" i="0" dirty="0">
                <a:solidFill>
                  <a:srgbClr val="242424"/>
                </a:solidFill>
                <a:effectLst/>
                <a:latin typeface="sohne"/>
              </a:rPr>
              <a:t>Step function</a:t>
            </a:r>
          </a:p>
        </p:txBody>
      </p:sp>
      <p:pic>
        <p:nvPicPr>
          <p:cNvPr id="41986" name="Picture 2">
            <a:extLst>
              <a:ext uri="{FF2B5EF4-FFF2-40B4-BE49-F238E27FC236}">
                <a16:creationId xmlns:a16="http://schemas.microsoft.com/office/drawing/2014/main" id="{08CCF05B-F273-342F-ADC3-618756D115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8387" y="1104900"/>
            <a:ext cx="3095625" cy="23241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76A19AA-1A68-166C-6905-D0F8681E6E46}"/>
              </a:ext>
            </a:extLst>
          </p:cNvPr>
          <p:cNvSpPr txBox="1"/>
          <p:nvPr/>
        </p:nvSpPr>
        <p:spPr>
          <a:xfrm>
            <a:off x="838200" y="3900442"/>
            <a:ext cx="6096000" cy="326371"/>
          </a:xfrm>
          <a:prstGeom prst="rect">
            <a:avLst/>
          </a:prstGeom>
          <a:noFill/>
        </p:spPr>
        <p:txBody>
          <a:bodyPr wrap="square">
            <a:spAutoFit/>
          </a:bodyPr>
          <a:lstStyle/>
          <a:p>
            <a:pPr algn="l">
              <a:lnSpc>
                <a:spcPts val="1800"/>
              </a:lnSpc>
              <a:buNone/>
            </a:pPr>
            <a:r>
              <a:rPr lang="en-IN" b="1" i="0" dirty="0">
                <a:solidFill>
                  <a:srgbClr val="242424"/>
                </a:solidFill>
                <a:effectLst/>
                <a:latin typeface="sohne"/>
              </a:rPr>
              <a:t>Sigmoid Function</a:t>
            </a:r>
          </a:p>
        </p:txBody>
      </p:sp>
      <p:pic>
        <p:nvPicPr>
          <p:cNvPr id="41988" name="Picture 4">
            <a:extLst>
              <a:ext uri="{FF2B5EF4-FFF2-40B4-BE49-F238E27FC236}">
                <a16:creationId xmlns:a16="http://schemas.microsoft.com/office/drawing/2014/main" id="{81D47600-D5EF-543F-0926-24163C82A7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995" y="4358489"/>
            <a:ext cx="21336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41990" name="Picture 6">
            <a:extLst>
              <a:ext uri="{FF2B5EF4-FFF2-40B4-BE49-F238E27FC236}">
                <a16:creationId xmlns:a16="http://schemas.microsoft.com/office/drawing/2014/main" id="{6E329AB4-7D84-417F-228B-1C7F363AA4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2682" y="4031226"/>
            <a:ext cx="3095624" cy="282677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D23E34F-7CBC-9F87-FC5B-DB00FBD15966}"/>
              </a:ext>
            </a:extLst>
          </p:cNvPr>
          <p:cNvSpPr txBox="1"/>
          <p:nvPr/>
        </p:nvSpPr>
        <p:spPr>
          <a:xfrm>
            <a:off x="5434012" y="1088031"/>
            <a:ext cx="6096000" cy="326371"/>
          </a:xfrm>
          <a:prstGeom prst="rect">
            <a:avLst/>
          </a:prstGeom>
          <a:noFill/>
        </p:spPr>
        <p:txBody>
          <a:bodyPr wrap="square">
            <a:spAutoFit/>
          </a:bodyPr>
          <a:lstStyle/>
          <a:p>
            <a:pPr algn="l">
              <a:lnSpc>
                <a:spcPts val="1800"/>
              </a:lnSpc>
              <a:buNone/>
            </a:pPr>
            <a:r>
              <a:rPr lang="en-IN" b="1" i="0" dirty="0">
                <a:solidFill>
                  <a:srgbClr val="242424"/>
                </a:solidFill>
                <a:effectLst/>
                <a:latin typeface="sohne"/>
              </a:rPr>
              <a:t>Tanh Function</a:t>
            </a:r>
          </a:p>
        </p:txBody>
      </p:sp>
      <p:pic>
        <p:nvPicPr>
          <p:cNvPr id="41992" name="Picture 8">
            <a:extLst>
              <a:ext uri="{FF2B5EF4-FFF2-40B4-BE49-F238E27FC236}">
                <a16:creationId xmlns:a16="http://schemas.microsoft.com/office/drawing/2014/main" id="{71F5B7F5-07FC-0C53-3B3B-452DACAD98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98305" y="1414402"/>
            <a:ext cx="2871788" cy="642151"/>
          </a:xfrm>
          <a:prstGeom prst="rect">
            <a:avLst/>
          </a:prstGeom>
          <a:noFill/>
          <a:extLst>
            <a:ext uri="{909E8E84-426E-40DD-AFC4-6F175D3DCCD1}">
              <a14:hiddenFill xmlns:a14="http://schemas.microsoft.com/office/drawing/2010/main">
                <a:solidFill>
                  <a:srgbClr val="FFFFFF"/>
                </a:solidFill>
              </a14:hiddenFill>
            </a:ext>
          </a:extLst>
        </p:spPr>
      </p:pic>
      <p:pic>
        <p:nvPicPr>
          <p:cNvPr id="41994" name="Picture 10">
            <a:extLst>
              <a:ext uri="{FF2B5EF4-FFF2-40B4-BE49-F238E27FC236}">
                <a16:creationId xmlns:a16="http://schemas.microsoft.com/office/drawing/2014/main" id="{51B45CBB-7D96-A792-E2C1-9658AD1B7E8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30452" y="1885844"/>
            <a:ext cx="2669652" cy="452018"/>
          </a:xfrm>
          <a:prstGeom prst="rect">
            <a:avLst/>
          </a:prstGeom>
          <a:noFill/>
          <a:extLst>
            <a:ext uri="{909E8E84-426E-40DD-AFC4-6F175D3DCCD1}">
              <a14:hiddenFill xmlns:a14="http://schemas.microsoft.com/office/drawing/2010/main">
                <a:solidFill>
                  <a:srgbClr val="FFFFFF"/>
                </a:solidFill>
              </a14:hiddenFill>
            </a:ext>
          </a:extLst>
        </p:spPr>
      </p:pic>
      <p:pic>
        <p:nvPicPr>
          <p:cNvPr id="41996" name="Picture 12">
            <a:extLst>
              <a:ext uri="{FF2B5EF4-FFF2-40B4-BE49-F238E27FC236}">
                <a16:creationId xmlns:a16="http://schemas.microsoft.com/office/drawing/2014/main" id="{DFA54912-180D-0CA4-E811-0151CDF3E8B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24824" y="457094"/>
            <a:ext cx="3810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102F26F-F213-F5C9-3467-AFCE6DB0C635}"/>
              </a:ext>
            </a:extLst>
          </p:cNvPr>
          <p:cNvSpPr txBox="1"/>
          <p:nvPr/>
        </p:nvSpPr>
        <p:spPr>
          <a:xfrm>
            <a:off x="5663380" y="3900441"/>
            <a:ext cx="6096000" cy="326371"/>
          </a:xfrm>
          <a:prstGeom prst="rect">
            <a:avLst/>
          </a:prstGeom>
          <a:noFill/>
        </p:spPr>
        <p:txBody>
          <a:bodyPr wrap="square">
            <a:spAutoFit/>
          </a:bodyPr>
          <a:lstStyle/>
          <a:p>
            <a:pPr algn="l">
              <a:lnSpc>
                <a:spcPts val="1800"/>
              </a:lnSpc>
              <a:buNone/>
            </a:pPr>
            <a:r>
              <a:rPr lang="en-IN" b="1" i="0" dirty="0" err="1">
                <a:solidFill>
                  <a:srgbClr val="242424"/>
                </a:solidFill>
                <a:effectLst/>
                <a:latin typeface="sohne"/>
              </a:rPr>
              <a:t>ReLu</a:t>
            </a:r>
            <a:endParaRPr lang="en-IN" b="1" i="0" dirty="0">
              <a:solidFill>
                <a:srgbClr val="242424"/>
              </a:solidFill>
              <a:effectLst/>
              <a:latin typeface="sohne"/>
            </a:endParaRPr>
          </a:p>
        </p:txBody>
      </p:sp>
      <p:sp>
        <p:nvSpPr>
          <p:cNvPr id="13" name="TextBox 12">
            <a:extLst>
              <a:ext uri="{FF2B5EF4-FFF2-40B4-BE49-F238E27FC236}">
                <a16:creationId xmlns:a16="http://schemas.microsoft.com/office/drawing/2014/main" id="{6F301EE2-9158-CEA1-7A3E-FD4EBCA86FE2}"/>
              </a:ext>
            </a:extLst>
          </p:cNvPr>
          <p:cNvSpPr txBox="1"/>
          <p:nvPr/>
        </p:nvSpPr>
        <p:spPr>
          <a:xfrm>
            <a:off x="5663380" y="4326647"/>
            <a:ext cx="6096000" cy="369332"/>
          </a:xfrm>
          <a:prstGeom prst="rect">
            <a:avLst/>
          </a:prstGeom>
          <a:noFill/>
        </p:spPr>
        <p:txBody>
          <a:bodyPr wrap="square">
            <a:spAutoFit/>
          </a:bodyPr>
          <a:lstStyle/>
          <a:p>
            <a:r>
              <a:rPr lang="pt-BR" b="0" i="0" dirty="0">
                <a:solidFill>
                  <a:srgbClr val="242424"/>
                </a:solidFill>
                <a:effectLst/>
                <a:latin typeface="source-serif-pro"/>
              </a:rPr>
              <a:t>A(x) = max(0,x)</a:t>
            </a:r>
            <a:endParaRPr lang="en-IN" dirty="0"/>
          </a:p>
        </p:txBody>
      </p:sp>
      <p:pic>
        <p:nvPicPr>
          <p:cNvPr id="41998" name="Picture 14">
            <a:extLst>
              <a:ext uri="{FF2B5EF4-FFF2-40B4-BE49-F238E27FC236}">
                <a16:creationId xmlns:a16="http://schemas.microsoft.com/office/drawing/2014/main" id="{2F3EF7D2-9504-7BD5-2D6A-238301B204C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63757" y="4226811"/>
            <a:ext cx="3095623" cy="2612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1034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9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98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99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199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199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199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19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1" grpId="0"/>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3D7E88-1801-9F5F-087D-1FE07C114256}"/>
              </a:ext>
            </a:extLst>
          </p:cNvPr>
          <p:cNvSpPr txBox="1"/>
          <p:nvPr/>
        </p:nvSpPr>
        <p:spPr>
          <a:xfrm>
            <a:off x="580103" y="314215"/>
            <a:ext cx="6096000" cy="374461"/>
          </a:xfrm>
          <a:prstGeom prst="rect">
            <a:avLst/>
          </a:prstGeom>
          <a:noFill/>
        </p:spPr>
        <p:txBody>
          <a:bodyPr wrap="square">
            <a:spAutoFit/>
          </a:bodyPr>
          <a:lstStyle/>
          <a:p>
            <a:pPr algn="l">
              <a:lnSpc>
                <a:spcPts val="2250"/>
              </a:lnSpc>
              <a:buNone/>
            </a:pPr>
            <a:r>
              <a:rPr lang="en-IN" b="1" i="0" dirty="0">
                <a:solidFill>
                  <a:srgbClr val="242424"/>
                </a:solidFill>
                <a:effectLst/>
                <a:latin typeface="sohne"/>
              </a:rPr>
              <a:t>Functioning of an ANN</a:t>
            </a:r>
          </a:p>
        </p:txBody>
      </p:sp>
      <p:sp>
        <p:nvSpPr>
          <p:cNvPr id="5" name="TextBox 4">
            <a:extLst>
              <a:ext uri="{FF2B5EF4-FFF2-40B4-BE49-F238E27FC236}">
                <a16:creationId xmlns:a16="http://schemas.microsoft.com/office/drawing/2014/main" id="{CE91F3F0-AF10-8D72-C4C3-537A4C99EBC2}"/>
              </a:ext>
            </a:extLst>
          </p:cNvPr>
          <p:cNvSpPr txBox="1"/>
          <p:nvPr/>
        </p:nvSpPr>
        <p:spPr>
          <a:xfrm>
            <a:off x="580102" y="873723"/>
            <a:ext cx="11080955" cy="1307409"/>
          </a:xfrm>
          <a:prstGeom prst="rect">
            <a:avLst/>
          </a:prstGeom>
          <a:noFill/>
        </p:spPr>
        <p:txBody>
          <a:bodyPr wrap="square">
            <a:spAutoFit/>
          </a:bodyPr>
          <a:lstStyle/>
          <a:p>
            <a:pPr algn="l">
              <a:lnSpc>
                <a:spcPts val="2400"/>
              </a:lnSpc>
              <a:buFont typeface="+mj-lt"/>
              <a:buAutoNum type="arabicPeriod"/>
            </a:pPr>
            <a:r>
              <a:rPr lang="en-US" b="1" i="0" dirty="0">
                <a:solidFill>
                  <a:srgbClr val="242424"/>
                </a:solidFill>
                <a:effectLst/>
                <a:latin typeface="source-serif-pro"/>
              </a:rPr>
              <a:t>Forward Propagation</a:t>
            </a:r>
            <a:endParaRPr lang="en-US" b="0" i="0" dirty="0">
              <a:solidFill>
                <a:srgbClr val="242424"/>
              </a:solidFill>
              <a:effectLst/>
              <a:latin typeface="source-serif-pro"/>
            </a:endParaRPr>
          </a:p>
          <a:p>
            <a:pPr algn="l">
              <a:lnSpc>
                <a:spcPts val="2400"/>
              </a:lnSpc>
              <a:buFont typeface="Arial" panose="020B0604020202020204" pitchFamily="34" charset="0"/>
              <a:buChar char="•"/>
            </a:pPr>
            <a:r>
              <a:rPr lang="en-US" b="0" i="0" dirty="0">
                <a:solidFill>
                  <a:srgbClr val="242424"/>
                </a:solidFill>
                <a:effectLst/>
                <a:latin typeface="source-serif-pro"/>
              </a:rPr>
              <a:t>Input data is fed into the input layer.</a:t>
            </a:r>
          </a:p>
          <a:p>
            <a:pPr algn="l">
              <a:lnSpc>
                <a:spcPts val="2400"/>
              </a:lnSpc>
              <a:buFont typeface="Arial" panose="020B0604020202020204" pitchFamily="34" charset="0"/>
              <a:buChar char="•"/>
            </a:pPr>
            <a:r>
              <a:rPr lang="en-US" b="0" i="0" dirty="0">
                <a:solidFill>
                  <a:srgbClr val="242424"/>
                </a:solidFill>
                <a:effectLst/>
                <a:latin typeface="source-serif-pro"/>
              </a:rPr>
              <a:t>Data is passed through hidden layers, where neurons process it using weights, biases, and activation functions.</a:t>
            </a:r>
          </a:p>
          <a:p>
            <a:pPr algn="l">
              <a:lnSpc>
                <a:spcPts val="2400"/>
              </a:lnSpc>
              <a:buFont typeface="Arial" panose="020B0604020202020204" pitchFamily="34" charset="0"/>
              <a:buChar char="•"/>
            </a:pPr>
            <a:r>
              <a:rPr lang="en-US" b="0" i="0" dirty="0">
                <a:solidFill>
                  <a:srgbClr val="242424"/>
                </a:solidFill>
                <a:effectLst/>
                <a:latin typeface="source-serif-pro"/>
              </a:rPr>
              <a:t>Final output is produced at the output layer.</a:t>
            </a:r>
          </a:p>
        </p:txBody>
      </p:sp>
      <p:sp>
        <p:nvSpPr>
          <p:cNvPr id="7" name="TextBox 6">
            <a:extLst>
              <a:ext uri="{FF2B5EF4-FFF2-40B4-BE49-F238E27FC236}">
                <a16:creationId xmlns:a16="http://schemas.microsoft.com/office/drawing/2014/main" id="{33A05C78-C58F-3665-6070-C75E0CB09E42}"/>
              </a:ext>
            </a:extLst>
          </p:cNvPr>
          <p:cNvSpPr txBox="1"/>
          <p:nvPr/>
        </p:nvSpPr>
        <p:spPr>
          <a:xfrm>
            <a:off x="580101" y="2467519"/>
            <a:ext cx="11080955" cy="1307409"/>
          </a:xfrm>
          <a:prstGeom prst="rect">
            <a:avLst/>
          </a:prstGeom>
          <a:noFill/>
        </p:spPr>
        <p:txBody>
          <a:bodyPr wrap="square">
            <a:spAutoFit/>
          </a:bodyPr>
          <a:lstStyle/>
          <a:p>
            <a:pPr algn="l">
              <a:lnSpc>
                <a:spcPts val="2400"/>
              </a:lnSpc>
              <a:buNone/>
            </a:pPr>
            <a:r>
              <a:rPr lang="en-US" b="1" i="0" dirty="0">
                <a:solidFill>
                  <a:srgbClr val="242424"/>
                </a:solidFill>
                <a:effectLst/>
                <a:latin typeface="source-serif-pro"/>
              </a:rPr>
              <a:t>2. Loss Calculation</a:t>
            </a:r>
            <a:endParaRPr lang="en-US" b="0" i="0" dirty="0">
              <a:solidFill>
                <a:srgbClr val="242424"/>
              </a:solidFill>
              <a:effectLst/>
              <a:latin typeface="source-serif-pro"/>
            </a:endParaRPr>
          </a:p>
          <a:p>
            <a:pPr algn="l">
              <a:lnSpc>
                <a:spcPts val="2400"/>
              </a:lnSpc>
              <a:buFont typeface="Arial" panose="020B0604020202020204" pitchFamily="34" charset="0"/>
              <a:buChar char="•"/>
            </a:pPr>
            <a:r>
              <a:rPr lang="en-US" b="0" i="0" dirty="0">
                <a:solidFill>
                  <a:srgbClr val="242424"/>
                </a:solidFill>
                <a:effectLst/>
                <a:latin typeface="source-serif-pro"/>
              </a:rPr>
              <a:t>The output is compared to the actual target values using a loss function (e.g., Mean Squared Error for regression, Cross-Entropy for classification).</a:t>
            </a:r>
          </a:p>
          <a:p>
            <a:pPr algn="l">
              <a:lnSpc>
                <a:spcPts val="2400"/>
              </a:lnSpc>
              <a:buFont typeface="Arial" panose="020B0604020202020204" pitchFamily="34" charset="0"/>
              <a:buChar char="•"/>
            </a:pPr>
            <a:r>
              <a:rPr lang="en-US" b="0" i="0" dirty="0">
                <a:solidFill>
                  <a:srgbClr val="242424"/>
                </a:solidFill>
                <a:effectLst/>
                <a:latin typeface="source-serif-pro"/>
              </a:rPr>
              <a:t>The loss function measures how far the predicted output is from the actual target.</a:t>
            </a:r>
          </a:p>
        </p:txBody>
      </p:sp>
      <p:sp>
        <p:nvSpPr>
          <p:cNvPr id="9" name="TextBox 8">
            <a:extLst>
              <a:ext uri="{FF2B5EF4-FFF2-40B4-BE49-F238E27FC236}">
                <a16:creationId xmlns:a16="http://schemas.microsoft.com/office/drawing/2014/main" id="{58E03580-98B8-9CB8-C489-BC3E9EB561CF}"/>
              </a:ext>
            </a:extLst>
          </p:cNvPr>
          <p:cNvSpPr txBox="1"/>
          <p:nvPr/>
        </p:nvSpPr>
        <p:spPr>
          <a:xfrm>
            <a:off x="580102" y="3959975"/>
            <a:ext cx="11080953" cy="999633"/>
          </a:xfrm>
          <a:prstGeom prst="rect">
            <a:avLst/>
          </a:prstGeom>
          <a:noFill/>
        </p:spPr>
        <p:txBody>
          <a:bodyPr wrap="square">
            <a:spAutoFit/>
          </a:bodyPr>
          <a:lstStyle/>
          <a:p>
            <a:pPr algn="l">
              <a:lnSpc>
                <a:spcPts val="2400"/>
              </a:lnSpc>
              <a:buNone/>
            </a:pPr>
            <a:r>
              <a:rPr lang="en-US" b="1" i="0" dirty="0">
                <a:solidFill>
                  <a:srgbClr val="242424"/>
                </a:solidFill>
                <a:effectLst/>
                <a:latin typeface="source-serif-pro"/>
              </a:rPr>
              <a:t>3. Backward Propagation</a:t>
            </a:r>
            <a:endParaRPr lang="en-US" b="0" i="0" dirty="0">
              <a:solidFill>
                <a:srgbClr val="242424"/>
              </a:solidFill>
              <a:effectLst/>
              <a:latin typeface="source-serif-pro"/>
            </a:endParaRPr>
          </a:p>
          <a:p>
            <a:pPr algn="l">
              <a:lnSpc>
                <a:spcPts val="2400"/>
              </a:lnSpc>
              <a:buFont typeface="Arial" panose="020B0604020202020204" pitchFamily="34" charset="0"/>
              <a:buChar char="•"/>
            </a:pPr>
            <a:r>
              <a:rPr lang="en-US" b="0" i="0" dirty="0">
                <a:solidFill>
                  <a:srgbClr val="242424"/>
                </a:solidFill>
                <a:effectLst/>
                <a:latin typeface="source-serif-pro"/>
              </a:rPr>
              <a:t>The error is propagated back through the network.</a:t>
            </a:r>
          </a:p>
          <a:p>
            <a:pPr algn="l">
              <a:lnSpc>
                <a:spcPts val="2400"/>
              </a:lnSpc>
              <a:buFont typeface="Arial" panose="020B0604020202020204" pitchFamily="34" charset="0"/>
              <a:buChar char="•"/>
            </a:pPr>
            <a:r>
              <a:rPr lang="en-US" b="0" i="0" dirty="0">
                <a:solidFill>
                  <a:srgbClr val="242424"/>
                </a:solidFill>
                <a:effectLst/>
                <a:latin typeface="source-serif-pro"/>
              </a:rPr>
              <a:t>Weights and biases are adjusted to minimize the loss using optimization algorithms like Gradient Descent.</a:t>
            </a:r>
          </a:p>
        </p:txBody>
      </p:sp>
      <p:sp>
        <p:nvSpPr>
          <p:cNvPr id="11" name="TextBox 10">
            <a:extLst>
              <a:ext uri="{FF2B5EF4-FFF2-40B4-BE49-F238E27FC236}">
                <a16:creationId xmlns:a16="http://schemas.microsoft.com/office/drawing/2014/main" id="{65BC6703-D947-1F4E-4041-0D1CD0131C9E}"/>
              </a:ext>
            </a:extLst>
          </p:cNvPr>
          <p:cNvSpPr txBox="1"/>
          <p:nvPr/>
        </p:nvSpPr>
        <p:spPr>
          <a:xfrm>
            <a:off x="580103" y="5144655"/>
            <a:ext cx="11080952" cy="1569660"/>
          </a:xfrm>
          <a:prstGeom prst="rect">
            <a:avLst/>
          </a:prstGeom>
          <a:noFill/>
        </p:spPr>
        <p:txBody>
          <a:bodyPr wrap="square">
            <a:spAutoFit/>
          </a:bodyPr>
          <a:lstStyle/>
          <a:p>
            <a:pPr algn="l">
              <a:lnSpc>
                <a:spcPts val="2400"/>
              </a:lnSpc>
              <a:buNone/>
            </a:pPr>
            <a:r>
              <a:rPr lang="en-US" b="1" i="0" dirty="0">
                <a:solidFill>
                  <a:srgbClr val="242424"/>
                </a:solidFill>
                <a:effectLst/>
                <a:latin typeface="source-serif-pro"/>
              </a:rPr>
              <a:t>4. Training</a:t>
            </a:r>
            <a:endParaRPr lang="en-US" b="0" i="0" dirty="0">
              <a:solidFill>
                <a:srgbClr val="242424"/>
              </a:solidFill>
              <a:effectLst/>
              <a:latin typeface="source-serif-pro"/>
            </a:endParaRPr>
          </a:p>
          <a:p>
            <a:pPr algn="l">
              <a:lnSpc>
                <a:spcPts val="2400"/>
              </a:lnSpc>
              <a:buFont typeface="Arial" panose="020B0604020202020204" pitchFamily="34" charset="0"/>
              <a:buChar char="•"/>
            </a:pPr>
            <a:r>
              <a:rPr lang="en-US" b="0" i="0" dirty="0">
                <a:solidFill>
                  <a:srgbClr val="242424"/>
                </a:solidFill>
                <a:effectLst/>
                <a:latin typeface="source-serif-pro"/>
              </a:rPr>
              <a:t>The processes of forward propagation, loss calculation, and backward propagation are repeated iteratively.</a:t>
            </a:r>
          </a:p>
          <a:p>
            <a:pPr algn="l">
              <a:lnSpc>
                <a:spcPts val="2400"/>
              </a:lnSpc>
              <a:buFont typeface="Arial" panose="020B0604020202020204" pitchFamily="34" charset="0"/>
              <a:buChar char="•"/>
            </a:pPr>
            <a:r>
              <a:rPr lang="en-US" b="0" i="0" dirty="0">
                <a:solidFill>
                  <a:srgbClr val="242424"/>
                </a:solidFill>
                <a:effectLst/>
                <a:latin typeface="source-serif-pro"/>
              </a:rPr>
              <a:t>The network learns to make better predictions by adjusting the weights and biases.</a:t>
            </a:r>
          </a:p>
          <a:p>
            <a:pPr>
              <a:buNone/>
            </a:pPr>
            <a:br>
              <a:rPr lang="en-US" dirty="0"/>
            </a:br>
            <a:endParaRPr lang="en-IN" dirty="0"/>
          </a:p>
        </p:txBody>
      </p:sp>
    </p:spTree>
    <p:extLst>
      <p:ext uri="{BB962C8B-B14F-4D97-AF65-F5344CB8AC3E}">
        <p14:creationId xmlns:p14="http://schemas.microsoft.com/office/powerpoint/2010/main" val="307232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P spid="9"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descr="Neural Networks: Forward pass and Backpropagation | by Ritwick Roy | TDS  Archive | Medium">
            <a:extLst>
              <a:ext uri="{FF2B5EF4-FFF2-40B4-BE49-F238E27FC236}">
                <a16:creationId xmlns:a16="http://schemas.microsoft.com/office/drawing/2014/main" id="{CA7299FA-6FE6-98C3-C158-2C4011EDBD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8384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C09D7-A926-E0B9-E373-7E7084B95664}"/>
              </a:ext>
            </a:extLst>
          </p:cNvPr>
          <p:cNvSpPr>
            <a:spLocks noGrp="1"/>
          </p:cNvSpPr>
          <p:nvPr>
            <p:ph type="title"/>
          </p:nvPr>
        </p:nvSpPr>
        <p:spPr>
          <a:xfrm>
            <a:off x="838200" y="18255"/>
            <a:ext cx="10515600" cy="1325563"/>
          </a:xfrm>
        </p:spPr>
        <p:txBody>
          <a:bodyPr/>
          <a:lstStyle/>
          <a:p>
            <a:r>
              <a:rPr lang="en-US" dirty="0"/>
              <a:t>Loss Functions</a:t>
            </a:r>
            <a:endParaRPr lang="en-IN" dirty="0"/>
          </a:p>
        </p:txBody>
      </p:sp>
      <p:sp>
        <p:nvSpPr>
          <p:cNvPr id="5" name="TextBox 4">
            <a:extLst>
              <a:ext uri="{FF2B5EF4-FFF2-40B4-BE49-F238E27FC236}">
                <a16:creationId xmlns:a16="http://schemas.microsoft.com/office/drawing/2014/main" id="{CDEE7020-3B42-8769-1F48-211C32FBD498}"/>
              </a:ext>
            </a:extLst>
          </p:cNvPr>
          <p:cNvSpPr txBox="1"/>
          <p:nvPr/>
        </p:nvSpPr>
        <p:spPr>
          <a:xfrm>
            <a:off x="766916" y="1020652"/>
            <a:ext cx="10586884" cy="369332"/>
          </a:xfrm>
          <a:prstGeom prst="rect">
            <a:avLst/>
          </a:prstGeom>
          <a:noFill/>
        </p:spPr>
        <p:txBody>
          <a:bodyPr wrap="square">
            <a:spAutoFit/>
          </a:bodyPr>
          <a:lstStyle/>
          <a:p>
            <a:r>
              <a:rPr lang="en-US" b="0" i="0" dirty="0">
                <a:solidFill>
                  <a:srgbClr val="242424"/>
                </a:solidFill>
                <a:effectLst/>
                <a:latin typeface="source-serif-pro"/>
              </a:rPr>
              <a:t>Loss function is a method with which we can evaluate or measure how our model is working.</a:t>
            </a:r>
            <a:endParaRPr lang="en-IN" dirty="0"/>
          </a:p>
        </p:txBody>
      </p:sp>
      <p:sp>
        <p:nvSpPr>
          <p:cNvPr id="7" name="TextBox 6">
            <a:extLst>
              <a:ext uri="{FF2B5EF4-FFF2-40B4-BE49-F238E27FC236}">
                <a16:creationId xmlns:a16="http://schemas.microsoft.com/office/drawing/2014/main" id="{A1743610-C819-61E4-10D4-067924988447}"/>
              </a:ext>
            </a:extLst>
          </p:cNvPr>
          <p:cNvSpPr txBox="1"/>
          <p:nvPr/>
        </p:nvSpPr>
        <p:spPr>
          <a:xfrm>
            <a:off x="766916" y="1607551"/>
            <a:ext cx="10586884" cy="923330"/>
          </a:xfrm>
          <a:prstGeom prst="rect">
            <a:avLst/>
          </a:prstGeom>
          <a:noFill/>
        </p:spPr>
        <p:txBody>
          <a:bodyPr wrap="square">
            <a:spAutoFit/>
          </a:bodyPr>
          <a:lstStyle/>
          <a:p>
            <a:r>
              <a:rPr lang="en-US" b="0" i="0" dirty="0">
                <a:solidFill>
                  <a:srgbClr val="242424"/>
                </a:solidFill>
                <a:effectLst/>
                <a:latin typeface="source-serif-pro"/>
              </a:rPr>
              <a:t>If the value of the loss function is lower then our model is working well otherwise we have to change the parameter of the model to reduce or minimize the loss. It guides the learning algorithm in adjusting the model’s parameter </a:t>
            </a:r>
            <a:r>
              <a:rPr lang="en-US" b="0" i="0" dirty="0" err="1">
                <a:solidFill>
                  <a:srgbClr val="242424"/>
                </a:solidFill>
                <a:effectLst/>
                <a:latin typeface="source-serif-pro"/>
              </a:rPr>
              <a:t>i.e</a:t>
            </a:r>
            <a:r>
              <a:rPr lang="en-US" b="0" i="0" dirty="0">
                <a:solidFill>
                  <a:srgbClr val="242424"/>
                </a:solidFill>
                <a:effectLst/>
                <a:latin typeface="source-serif-pro"/>
              </a:rPr>
              <a:t> weights and biases during the training time.</a:t>
            </a:r>
            <a:endParaRPr lang="en-IN" dirty="0"/>
          </a:p>
        </p:txBody>
      </p:sp>
      <p:pic>
        <p:nvPicPr>
          <p:cNvPr id="43010" name="Picture 2">
            <a:extLst>
              <a:ext uri="{FF2B5EF4-FFF2-40B4-BE49-F238E27FC236}">
                <a16:creationId xmlns:a16="http://schemas.microsoft.com/office/drawing/2014/main" id="{B56F2BE4-CEC1-62A2-2E03-AEDAA109E0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6555" y="2530881"/>
            <a:ext cx="6636774" cy="3932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2190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0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EB60A-06F8-8B90-52E7-42E824FDE512}"/>
              </a:ext>
            </a:extLst>
          </p:cNvPr>
          <p:cNvSpPr>
            <a:spLocks noGrp="1"/>
          </p:cNvSpPr>
          <p:nvPr>
            <p:ph type="title"/>
          </p:nvPr>
        </p:nvSpPr>
        <p:spPr>
          <a:xfrm>
            <a:off x="838200" y="18255"/>
            <a:ext cx="10515600" cy="1325563"/>
          </a:xfrm>
        </p:spPr>
        <p:txBody>
          <a:bodyPr/>
          <a:lstStyle/>
          <a:p>
            <a:r>
              <a:rPr lang="en-US" dirty="0"/>
              <a:t>Backpropagation</a:t>
            </a:r>
            <a:endParaRPr lang="en-IN" dirty="0"/>
          </a:p>
        </p:txBody>
      </p:sp>
      <p:sp>
        <p:nvSpPr>
          <p:cNvPr id="5" name="TextBox 4">
            <a:extLst>
              <a:ext uri="{FF2B5EF4-FFF2-40B4-BE49-F238E27FC236}">
                <a16:creationId xmlns:a16="http://schemas.microsoft.com/office/drawing/2014/main" id="{8081A9AB-FE7C-7E69-4E2F-CA786CA1DC05}"/>
              </a:ext>
            </a:extLst>
          </p:cNvPr>
          <p:cNvSpPr txBox="1"/>
          <p:nvPr/>
        </p:nvSpPr>
        <p:spPr>
          <a:xfrm>
            <a:off x="838200" y="1343818"/>
            <a:ext cx="10515600" cy="1754326"/>
          </a:xfrm>
          <a:prstGeom prst="rect">
            <a:avLst/>
          </a:prstGeom>
          <a:noFill/>
        </p:spPr>
        <p:txBody>
          <a:bodyPr wrap="square">
            <a:spAutoFit/>
          </a:bodyPr>
          <a:lstStyle/>
          <a:p>
            <a:r>
              <a:rPr lang="en-US" b="0" i="0" dirty="0">
                <a:solidFill>
                  <a:srgbClr val="242424"/>
                </a:solidFill>
                <a:effectLst/>
                <a:latin typeface="source-serif-pro"/>
              </a:rPr>
              <a:t>The idea of the backpropagation algorithm is, based on </a:t>
            </a:r>
            <a:r>
              <a:rPr lang="en-US" b="1" i="0" dirty="0">
                <a:solidFill>
                  <a:srgbClr val="242424"/>
                </a:solidFill>
                <a:effectLst/>
                <a:latin typeface="source-serif-pro"/>
              </a:rPr>
              <a:t>error </a:t>
            </a:r>
            <a:r>
              <a:rPr lang="en-US" b="0" i="0" dirty="0">
                <a:solidFill>
                  <a:srgbClr val="242424"/>
                </a:solidFill>
                <a:effectLst/>
                <a:latin typeface="source-serif-pro"/>
              </a:rPr>
              <a:t>(or loss) calculation, to recalculate the weights array </a:t>
            </a:r>
            <a:r>
              <a:rPr lang="en-US" b="1" i="1" dirty="0">
                <a:solidFill>
                  <a:srgbClr val="242424"/>
                </a:solidFill>
                <a:effectLst/>
                <a:latin typeface="source-serif-pro"/>
              </a:rPr>
              <a:t>w </a:t>
            </a:r>
            <a:r>
              <a:rPr lang="en-US" b="0" i="0" dirty="0">
                <a:solidFill>
                  <a:srgbClr val="242424"/>
                </a:solidFill>
                <a:effectLst/>
                <a:latin typeface="source-serif-pro"/>
              </a:rPr>
              <a:t>in the last neuron layer, and proceed this way towards the previous layers, from back to front, that is, to update all the weights </a:t>
            </a:r>
            <a:r>
              <a:rPr lang="en-US" b="1" i="1" dirty="0">
                <a:solidFill>
                  <a:srgbClr val="242424"/>
                </a:solidFill>
                <a:effectLst/>
                <a:latin typeface="source-serif-pro"/>
              </a:rPr>
              <a:t>w </a:t>
            </a:r>
            <a:r>
              <a:rPr lang="en-US" b="0" i="0" dirty="0">
                <a:solidFill>
                  <a:srgbClr val="242424"/>
                </a:solidFill>
                <a:effectLst/>
                <a:latin typeface="source-serif-pro"/>
              </a:rPr>
              <a:t>in each layer, from the last one until reaching the input layer of the network, for this doing the backpropagation of the error obtained by the network. In other words, we calculate the error between what the network predicted to be and what it was indeed, then we recalculate all the weights values, from the last layer to the very first one, always intending to decrease the neural network error.</a:t>
            </a:r>
            <a:endParaRPr lang="en-IN" dirty="0"/>
          </a:p>
        </p:txBody>
      </p:sp>
      <p:pic>
        <p:nvPicPr>
          <p:cNvPr id="44034" name="Picture 2">
            <a:extLst>
              <a:ext uri="{FF2B5EF4-FFF2-40B4-BE49-F238E27FC236}">
                <a16:creationId xmlns:a16="http://schemas.microsoft.com/office/drawing/2014/main" id="{6081B55C-CC13-9D9B-F2D5-AA1ABD9FE6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5679" y="3429000"/>
            <a:ext cx="5372100" cy="2905125"/>
          </a:xfrm>
          <a:prstGeom prst="rect">
            <a:avLst/>
          </a:prstGeom>
          <a:noFill/>
          <a:extLst>
            <a:ext uri="{909E8E84-426E-40DD-AFC4-6F175D3DCCD1}">
              <a14:hiddenFill xmlns:a14="http://schemas.microsoft.com/office/drawing/2010/main">
                <a:solidFill>
                  <a:srgbClr val="FFFFFF"/>
                </a:solidFill>
              </a14:hiddenFill>
            </a:ext>
          </a:extLst>
        </p:spPr>
      </p:pic>
      <p:pic>
        <p:nvPicPr>
          <p:cNvPr id="44036" name="Picture 4">
            <a:extLst>
              <a:ext uri="{FF2B5EF4-FFF2-40B4-BE49-F238E27FC236}">
                <a16:creationId xmlns:a16="http://schemas.microsoft.com/office/drawing/2014/main" id="{D9BD4706-C8CF-1229-81B8-1F74664442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0520" y="4467224"/>
            <a:ext cx="2000250" cy="828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0456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0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0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a:extLst>
              <a:ext uri="{FF2B5EF4-FFF2-40B4-BE49-F238E27FC236}">
                <a16:creationId xmlns:a16="http://schemas.microsoft.com/office/drawing/2014/main" id="{4B47CC40-B72C-4E27-F920-4F20F38E5B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272980" cy="4365523"/>
          </a:xfrm>
          <a:prstGeom prst="rect">
            <a:avLst/>
          </a:prstGeom>
          <a:noFill/>
          <a:extLst>
            <a:ext uri="{909E8E84-426E-40DD-AFC4-6F175D3DCCD1}">
              <a14:hiddenFill xmlns:a14="http://schemas.microsoft.com/office/drawing/2010/main">
                <a:solidFill>
                  <a:srgbClr val="FFFFFF"/>
                </a:solidFill>
              </a14:hiddenFill>
            </a:ext>
          </a:extLst>
        </p:spPr>
      </p:pic>
      <p:pic>
        <p:nvPicPr>
          <p:cNvPr id="45060" name="Picture 4">
            <a:extLst>
              <a:ext uri="{FF2B5EF4-FFF2-40B4-BE49-F238E27FC236}">
                <a16:creationId xmlns:a16="http://schemas.microsoft.com/office/drawing/2014/main" id="{3692FE63-D1C8-FB39-393A-E2AB72E03F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0880" y="0"/>
            <a:ext cx="2828925" cy="828675"/>
          </a:xfrm>
          <a:prstGeom prst="rect">
            <a:avLst/>
          </a:prstGeom>
          <a:noFill/>
          <a:extLst>
            <a:ext uri="{909E8E84-426E-40DD-AFC4-6F175D3DCCD1}">
              <a14:hiddenFill xmlns:a14="http://schemas.microsoft.com/office/drawing/2010/main">
                <a:solidFill>
                  <a:srgbClr val="FFFFFF"/>
                </a:solidFill>
              </a14:hiddenFill>
            </a:ext>
          </a:extLst>
        </p:spPr>
      </p:pic>
      <p:pic>
        <p:nvPicPr>
          <p:cNvPr id="45062" name="Picture 6">
            <a:extLst>
              <a:ext uri="{FF2B5EF4-FFF2-40B4-BE49-F238E27FC236}">
                <a16:creationId xmlns:a16="http://schemas.microsoft.com/office/drawing/2014/main" id="{DD5C24F3-E6EB-1B34-FDC2-BD4BC0BB62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6328" y="1818967"/>
            <a:ext cx="5675672" cy="663063"/>
          </a:xfrm>
          <a:prstGeom prst="rect">
            <a:avLst/>
          </a:prstGeom>
          <a:noFill/>
          <a:extLst>
            <a:ext uri="{909E8E84-426E-40DD-AFC4-6F175D3DCCD1}">
              <a14:hiddenFill xmlns:a14="http://schemas.microsoft.com/office/drawing/2010/main">
                <a:solidFill>
                  <a:srgbClr val="FFFFFF"/>
                </a:solidFill>
              </a14:hiddenFill>
            </a:ext>
          </a:extLst>
        </p:spPr>
      </p:pic>
      <p:pic>
        <p:nvPicPr>
          <p:cNvPr id="45064" name="Picture 8">
            <a:extLst>
              <a:ext uri="{FF2B5EF4-FFF2-40B4-BE49-F238E27FC236}">
                <a16:creationId xmlns:a16="http://schemas.microsoft.com/office/drawing/2014/main" id="{B2E0DD10-92FD-A73F-C6B9-9E9B801794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50880" y="828675"/>
            <a:ext cx="2708326" cy="828675"/>
          </a:xfrm>
          <a:prstGeom prst="rect">
            <a:avLst/>
          </a:prstGeom>
          <a:noFill/>
          <a:extLst>
            <a:ext uri="{909E8E84-426E-40DD-AFC4-6F175D3DCCD1}">
              <a14:hiddenFill xmlns:a14="http://schemas.microsoft.com/office/drawing/2010/main">
                <a:solidFill>
                  <a:srgbClr val="FFFFFF"/>
                </a:solidFill>
              </a14:hiddenFill>
            </a:ext>
          </a:extLst>
        </p:spPr>
      </p:pic>
      <p:pic>
        <p:nvPicPr>
          <p:cNvPr id="45066" name="Picture 10">
            <a:extLst>
              <a:ext uri="{FF2B5EF4-FFF2-40B4-BE49-F238E27FC236}">
                <a16:creationId xmlns:a16="http://schemas.microsoft.com/office/drawing/2014/main" id="{41DD852F-6ED4-9BFA-3C85-C3F93484F7D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25276" y="2592028"/>
            <a:ext cx="5057775" cy="836972"/>
          </a:xfrm>
          <a:prstGeom prst="rect">
            <a:avLst/>
          </a:prstGeom>
          <a:noFill/>
          <a:extLst>
            <a:ext uri="{909E8E84-426E-40DD-AFC4-6F175D3DCCD1}">
              <a14:hiddenFill xmlns:a14="http://schemas.microsoft.com/office/drawing/2010/main">
                <a:solidFill>
                  <a:srgbClr val="FFFFFF"/>
                </a:solidFill>
              </a14:hiddenFill>
            </a:ext>
          </a:extLst>
        </p:spPr>
      </p:pic>
      <p:pic>
        <p:nvPicPr>
          <p:cNvPr id="45068" name="Picture 12">
            <a:extLst>
              <a:ext uri="{FF2B5EF4-FFF2-40B4-BE49-F238E27FC236}">
                <a16:creationId xmlns:a16="http://schemas.microsoft.com/office/drawing/2014/main" id="{315B62A2-C70D-9EC8-D367-F8D5A9593C4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69992" y="3776201"/>
            <a:ext cx="1790700" cy="800100"/>
          </a:xfrm>
          <a:prstGeom prst="rect">
            <a:avLst/>
          </a:prstGeom>
          <a:noFill/>
          <a:extLst>
            <a:ext uri="{909E8E84-426E-40DD-AFC4-6F175D3DCCD1}">
              <a14:hiddenFill xmlns:a14="http://schemas.microsoft.com/office/drawing/2010/main">
                <a:solidFill>
                  <a:srgbClr val="FFFFFF"/>
                </a:solidFill>
              </a14:hiddenFill>
            </a:ext>
          </a:extLst>
        </p:spPr>
      </p:pic>
      <p:pic>
        <p:nvPicPr>
          <p:cNvPr id="45070" name="Picture 14">
            <a:extLst>
              <a:ext uri="{FF2B5EF4-FFF2-40B4-BE49-F238E27FC236}">
                <a16:creationId xmlns:a16="http://schemas.microsoft.com/office/drawing/2014/main" id="{DA083915-BA08-3227-D2AA-8465E43FBA1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0945" y="4802444"/>
            <a:ext cx="6624331" cy="779514"/>
          </a:xfrm>
          <a:prstGeom prst="rect">
            <a:avLst/>
          </a:prstGeom>
          <a:noFill/>
          <a:extLst>
            <a:ext uri="{909E8E84-426E-40DD-AFC4-6F175D3DCCD1}">
              <a14:hiddenFill xmlns:a14="http://schemas.microsoft.com/office/drawing/2010/main">
                <a:solidFill>
                  <a:srgbClr val="FFFFFF"/>
                </a:solidFill>
              </a14:hiddenFill>
            </a:ext>
          </a:extLst>
        </p:spPr>
      </p:pic>
      <p:pic>
        <p:nvPicPr>
          <p:cNvPr id="45072" name="Picture 16">
            <a:extLst>
              <a:ext uri="{FF2B5EF4-FFF2-40B4-BE49-F238E27FC236}">
                <a16:creationId xmlns:a16="http://schemas.microsoft.com/office/drawing/2014/main" id="{3C9BD4BE-4D26-3F71-345A-EB991F808B4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0945" y="5618829"/>
            <a:ext cx="1628775" cy="800100"/>
          </a:xfrm>
          <a:prstGeom prst="rect">
            <a:avLst/>
          </a:prstGeom>
          <a:noFill/>
          <a:extLst>
            <a:ext uri="{909E8E84-426E-40DD-AFC4-6F175D3DCCD1}">
              <a14:hiddenFill xmlns:a14="http://schemas.microsoft.com/office/drawing/2010/main">
                <a:solidFill>
                  <a:srgbClr val="FFFFFF"/>
                </a:solidFill>
              </a14:hiddenFill>
            </a:ext>
          </a:extLst>
        </p:spPr>
      </p:pic>
      <p:pic>
        <p:nvPicPr>
          <p:cNvPr id="45074" name="Picture 18">
            <a:extLst>
              <a:ext uri="{FF2B5EF4-FFF2-40B4-BE49-F238E27FC236}">
                <a16:creationId xmlns:a16="http://schemas.microsoft.com/office/drawing/2014/main" id="{E09B6DAA-5CED-BD50-272B-76CD85791D9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44413" y="5029508"/>
            <a:ext cx="3619500" cy="552450"/>
          </a:xfrm>
          <a:prstGeom prst="rect">
            <a:avLst/>
          </a:prstGeom>
          <a:noFill/>
          <a:extLst>
            <a:ext uri="{909E8E84-426E-40DD-AFC4-6F175D3DCCD1}">
              <a14:hiddenFill xmlns:a14="http://schemas.microsoft.com/office/drawing/2010/main">
                <a:solidFill>
                  <a:srgbClr val="FFFFFF"/>
                </a:solidFill>
              </a14:hiddenFill>
            </a:ext>
          </a:extLst>
        </p:spPr>
      </p:pic>
      <p:pic>
        <p:nvPicPr>
          <p:cNvPr id="45076" name="Picture 20">
            <a:extLst>
              <a:ext uri="{FF2B5EF4-FFF2-40B4-BE49-F238E27FC236}">
                <a16:creationId xmlns:a16="http://schemas.microsoft.com/office/drawing/2014/main" id="{891220CE-615B-4905-7D3F-C4E7D84DF9A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811113" y="6055750"/>
            <a:ext cx="3086100" cy="552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182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0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06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506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506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07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507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507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5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a:extLst>
              <a:ext uri="{FF2B5EF4-FFF2-40B4-BE49-F238E27FC236}">
                <a16:creationId xmlns:a16="http://schemas.microsoft.com/office/drawing/2014/main" id="{FBA6C2B6-BD03-4918-2BD6-D2CC743787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259" y="458584"/>
            <a:ext cx="2886075" cy="847725"/>
          </a:xfrm>
          <a:prstGeom prst="rect">
            <a:avLst/>
          </a:prstGeom>
          <a:noFill/>
          <a:extLst>
            <a:ext uri="{909E8E84-426E-40DD-AFC4-6F175D3DCCD1}">
              <a14:hiddenFill xmlns:a14="http://schemas.microsoft.com/office/drawing/2010/main">
                <a:solidFill>
                  <a:srgbClr val="FFFFFF"/>
                </a:solidFill>
              </a14:hiddenFill>
            </a:ext>
          </a:extLst>
        </p:spPr>
      </p:pic>
      <p:pic>
        <p:nvPicPr>
          <p:cNvPr id="46084" name="Picture 4">
            <a:extLst>
              <a:ext uri="{FF2B5EF4-FFF2-40B4-BE49-F238E27FC236}">
                <a16:creationId xmlns:a16="http://schemas.microsoft.com/office/drawing/2014/main" id="{852454A5-2774-3453-2CDC-A972A012A3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697" y="1815435"/>
            <a:ext cx="4772025" cy="847725"/>
          </a:xfrm>
          <a:prstGeom prst="rect">
            <a:avLst/>
          </a:prstGeom>
          <a:noFill/>
          <a:extLst>
            <a:ext uri="{909E8E84-426E-40DD-AFC4-6F175D3DCCD1}">
              <a14:hiddenFill xmlns:a14="http://schemas.microsoft.com/office/drawing/2010/main">
                <a:solidFill>
                  <a:srgbClr val="FFFFFF"/>
                </a:solidFill>
              </a14:hiddenFill>
            </a:ext>
          </a:extLst>
        </p:spPr>
      </p:pic>
      <p:pic>
        <p:nvPicPr>
          <p:cNvPr id="46086" name="Picture 6">
            <a:extLst>
              <a:ext uri="{FF2B5EF4-FFF2-40B4-BE49-F238E27FC236}">
                <a16:creationId xmlns:a16="http://schemas.microsoft.com/office/drawing/2014/main" id="{51A5A90F-1680-3F05-BA29-8D4F042530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259" y="2896676"/>
            <a:ext cx="2495550" cy="828675"/>
          </a:xfrm>
          <a:prstGeom prst="rect">
            <a:avLst/>
          </a:prstGeom>
          <a:noFill/>
          <a:extLst>
            <a:ext uri="{909E8E84-426E-40DD-AFC4-6F175D3DCCD1}">
              <a14:hiddenFill xmlns:a14="http://schemas.microsoft.com/office/drawing/2010/main">
                <a:solidFill>
                  <a:srgbClr val="FFFFFF"/>
                </a:solidFill>
              </a14:hiddenFill>
            </a:ext>
          </a:extLst>
        </p:spPr>
      </p:pic>
      <p:pic>
        <p:nvPicPr>
          <p:cNvPr id="46088" name="Picture 8">
            <a:extLst>
              <a:ext uri="{FF2B5EF4-FFF2-40B4-BE49-F238E27FC236}">
                <a16:creationId xmlns:a16="http://schemas.microsoft.com/office/drawing/2014/main" id="{A137008D-9E39-6385-DD98-7DE4AA98F9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8697" y="3958867"/>
            <a:ext cx="6200775" cy="847725"/>
          </a:xfrm>
          <a:prstGeom prst="rect">
            <a:avLst/>
          </a:prstGeom>
          <a:noFill/>
          <a:extLst>
            <a:ext uri="{909E8E84-426E-40DD-AFC4-6F175D3DCCD1}">
              <a14:hiddenFill xmlns:a14="http://schemas.microsoft.com/office/drawing/2010/main">
                <a:solidFill>
                  <a:srgbClr val="FFFFFF"/>
                </a:solidFill>
              </a14:hiddenFill>
            </a:ext>
          </a:extLst>
        </p:spPr>
      </p:pic>
      <p:pic>
        <p:nvPicPr>
          <p:cNvPr id="46090" name="Picture 10">
            <a:extLst>
              <a:ext uri="{FF2B5EF4-FFF2-40B4-BE49-F238E27FC236}">
                <a16:creationId xmlns:a16="http://schemas.microsoft.com/office/drawing/2014/main" id="{E0449CCD-3D94-6ADF-9DCE-28B9A41B61C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8697" y="5040108"/>
            <a:ext cx="7296150" cy="847725"/>
          </a:xfrm>
          <a:prstGeom prst="rect">
            <a:avLst/>
          </a:prstGeom>
          <a:noFill/>
          <a:extLst>
            <a:ext uri="{909E8E84-426E-40DD-AFC4-6F175D3DCCD1}">
              <a14:hiddenFill xmlns:a14="http://schemas.microsoft.com/office/drawing/2010/main">
                <a:solidFill>
                  <a:srgbClr val="FFFFFF"/>
                </a:solidFill>
              </a14:hiddenFill>
            </a:ext>
          </a:extLst>
        </p:spPr>
      </p:pic>
      <p:pic>
        <p:nvPicPr>
          <p:cNvPr id="46092" name="Picture 12">
            <a:extLst>
              <a:ext uri="{FF2B5EF4-FFF2-40B4-BE49-F238E27FC236}">
                <a16:creationId xmlns:a16="http://schemas.microsoft.com/office/drawing/2014/main" id="{7092D26C-49CE-CC65-A596-8F9873CA851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64847" y="2239297"/>
            <a:ext cx="3476625" cy="552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4501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0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08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09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60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48EF8-E82A-134C-B3F0-C21A157F2CDD}"/>
              </a:ext>
            </a:extLst>
          </p:cNvPr>
          <p:cNvSpPr>
            <a:spLocks noGrp="1"/>
          </p:cNvSpPr>
          <p:nvPr>
            <p:ph type="title"/>
          </p:nvPr>
        </p:nvSpPr>
        <p:spPr>
          <a:xfrm>
            <a:off x="838200" y="18255"/>
            <a:ext cx="10515600" cy="1325563"/>
          </a:xfrm>
        </p:spPr>
        <p:txBody>
          <a:bodyPr/>
          <a:lstStyle/>
          <a:p>
            <a:r>
              <a:rPr lang="en-US" dirty="0"/>
              <a:t>Optimizer</a:t>
            </a:r>
            <a:endParaRPr lang="en-IN" dirty="0"/>
          </a:p>
        </p:txBody>
      </p:sp>
      <p:sp>
        <p:nvSpPr>
          <p:cNvPr id="5" name="TextBox 4">
            <a:extLst>
              <a:ext uri="{FF2B5EF4-FFF2-40B4-BE49-F238E27FC236}">
                <a16:creationId xmlns:a16="http://schemas.microsoft.com/office/drawing/2014/main" id="{B918C376-65CA-B7A8-A587-247A9A28D7FC}"/>
              </a:ext>
            </a:extLst>
          </p:cNvPr>
          <p:cNvSpPr txBox="1"/>
          <p:nvPr/>
        </p:nvSpPr>
        <p:spPr>
          <a:xfrm>
            <a:off x="838200" y="1156587"/>
            <a:ext cx="6096000" cy="374461"/>
          </a:xfrm>
          <a:prstGeom prst="rect">
            <a:avLst/>
          </a:prstGeom>
          <a:noFill/>
        </p:spPr>
        <p:txBody>
          <a:bodyPr wrap="square">
            <a:spAutoFit/>
          </a:bodyPr>
          <a:lstStyle/>
          <a:p>
            <a:pPr algn="l">
              <a:lnSpc>
                <a:spcPts val="2250"/>
              </a:lnSpc>
              <a:buNone/>
            </a:pPr>
            <a:r>
              <a:rPr lang="en-IN" b="1" i="0" dirty="0">
                <a:solidFill>
                  <a:srgbClr val="242424"/>
                </a:solidFill>
                <a:effectLst/>
                <a:latin typeface="sohne"/>
              </a:rPr>
              <a:t>Stochastic Gradient Descent</a:t>
            </a:r>
          </a:p>
        </p:txBody>
      </p:sp>
      <p:sp>
        <p:nvSpPr>
          <p:cNvPr id="7" name="TextBox 6">
            <a:extLst>
              <a:ext uri="{FF2B5EF4-FFF2-40B4-BE49-F238E27FC236}">
                <a16:creationId xmlns:a16="http://schemas.microsoft.com/office/drawing/2014/main" id="{4821B2C4-4AA2-4CCC-5265-70A547EF8CA4}"/>
              </a:ext>
            </a:extLst>
          </p:cNvPr>
          <p:cNvSpPr txBox="1"/>
          <p:nvPr/>
        </p:nvSpPr>
        <p:spPr>
          <a:xfrm>
            <a:off x="838200" y="2943012"/>
            <a:ext cx="6096000" cy="374461"/>
          </a:xfrm>
          <a:prstGeom prst="rect">
            <a:avLst/>
          </a:prstGeom>
          <a:noFill/>
        </p:spPr>
        <p:txBody>
          <a:bodyPr wrap="square">
            <a:spAutoFit/>
          </a:bodyPr>
          <a:lstStyle/>
          <a:p>
            <a:pPr algn="l">
              <a:lnSpc>
                <a:spcPts val="2250"/>
              </a:lnSpc>
              <a:buNone/>
            </a:pPr>
            <a:r>
              <a:rPr lang="en-IN" b="1" i="0" dirty="0">
                <a:solidFill>
                  <a:srgbClr val="242424"/>
                </a:solidFill>
                <a:effectLst/>
                <a:latin typeface="sohne"/>
              </a:rPr>
              <a:t>Mini-Batch Gradient Descent</a:t>
            </a:r>
          </a:p>
        </p:txBody>
      </p:sp>
      <p:pic>
        <p:nvPicPr>
          <p:cNvPr id="47106" name="Picture 2">
            <a:extLst>
              <a:ext uri="{FF2B5EF4-FFF2-40B4-BE49-F238E27FC236}">
                <a16:creationId xmlns:a16="http://schemas.microsoft.com/office/drawing/2014/main" id="{A5E2612A-1C49-9EB2-D9F4-DFF8F396CB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9665" y="508492"/>
            <a:ext cx="3942735" cy="1670649"/>
          </a:xfrm>
          <a:prstGeom prst="rect">
            <a:avLst/>
          </a:prstGeom>
          <a:noFill/>
          <a:extLst>
            <a:ext uri="{909E8E84-426E-40DD-AFC4-6F175D3DCCD1}">
              <a14:hiddenFill xmlns:a14="http://schemas.microsoft.com/office/drawing/2010/main">
                <a:solidFill>
                  <a:srgbClr val="FFFFFF"/>
                </a:solidFill>
              </a14:hiddenFill>
            </a:ext>
          </a:extLst>
        </p:spPr>
      </p:pic>
      <p:pic>
        <p:nvPicPr>
          <p:cNvPr id="47108" name="Picture 4">
            <a:extLst>
              <a:ext uri="{FF2B5EF4-FFF2-40B4-BE49-F238E27FC236}">
                <a16:creationId xmlns:a16="http://schemas.microsoft.com/office/drawing/2014/main" id="{018B40A9-38AB-AFD7-8C1A-2E72BF534A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9665" y="2327070"/>
            <a:ext cx="3942736" cy="167064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EA387655-F80B-D966-3026-AB8A2D6886ED}"/>
              </a:ext>
            </a:extLst>
          </p:cNvPr>
          <p:cNvSpPr txBox="1"/>
          <p:nvPr/>
        </p:nvSpPr>
        <p:spPr>
          <a:xfrm>
            <a:off x="838200" y="4081344"/>
            <a:ext cx="6096000" cy="374461"/>
          </a:xfrm>
          <a:prstGeom prst="rect">
            <a:avLst/>
          </a:prstGeom>
          <a:noFill/>
        </p:spPr>
        <p:txBody>
          <a:bodyPr wrap="square">
            <a:spAutoFit/>
          </a:bodyPr>
          <a:lstStyle/>
          <a:p>
            <a:pPr algn="l">
              <a:lnSpc>
                <a:spcPts val="2250"/>
              </a:lnSpc>
              <a:buNone/>
            </a:pPr>
            <a:r>
              <a:rPr lang="en-IN" b="1" i="0" dirty="0">
                <a:solidFill>
                  <a:srgbClr val="242424"/>
                </a:solidFill>
                <a:effectLst/>
                <a:latin typeface="sohne"/>
              </a:rPr>
              <a:t>SGD with Momentum</a:t>
            </a:r>
          </a:p>
        </p:txBody>
      </p:sp>
      <p:pic>
        <p:nvPicPr>
          <p:cNvPr id="47110" name="Picture 6">
            <a:extLst>
              <a:ext uri="{FF2B5EF4-FFF2-40B4-BE49-F238E27FC236}">
                <a16:creationId xmlns:a16="http://schemas.microsoft.com/office/drawing/2014/main" id="{08C86B23-173A-9125-18B9-1DF82F5DC3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4606510"/>
            <a:ext cx="5188974" cy="1739684"/>
          </a:xfrm>
          <a:prstGeom prst="rect">
            <a:avLst/>
          </a:prstGeom>
          <a:noFill/>
          <a:extLst>
            <a:ext uri="{909E8E84-426E-40DD-AFC4-6F175D3DCCD1}">
              <a14:hiddenFill xmlns:a14="http://schemas.microsoft.com/office/drawing/2010/main">
                <a:solidFill>
                  <a:srgbClr val="FFFFFF"/>
                </a:solidFill>
              </a14:hiddenFill>
            </a:ext>
          </a:extLst>
        </p:spPr>
      </p:pic>
      <p:pic>
        <p:nvPicPr>
          <p:cNvPr id="47112" name="Picture 8">
            <a:extLst>
              <a:ext uri="{FF2B5EF4-FFF2-40B4-BE49-F238E27FC236}">
                <a16:creationId xmlns:a16="http://schemas.microsoft.com/office/drawing/2014/main" id="{C8D44DE2-B2F5-85C6-1EED-3476D0573B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95883" y="5013777"/>
            <a:ext cx="5412658" cy="925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1188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0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1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71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9D02F9-58B5-2A95-391D-8B77CB0B5B1B}"/>
              </a:ext>
            </a:extLst>
          </p:cNvPr>
          <p:cNvSpPr txBox="1"/>
          <p:nvPr/>
        </p:nvSpPr>
        <p:spPr>
          <a:xfrm>
            <a:off x="599767" y="579686"/>
            <a:ext cx="6096000" cy="374461"/>
          </a:xfrm>
          <a:prstGeom prst="rect">
            <a:avLst/>
          </a:prstGeom>
          <a:noFill/>
        </p:spPr>
        <p:txBody>
          <a:bodyPr wrap="square">
            <a:spAutoFit/>
          </a:bodyPr>
          <a:lstStyle/>
          <a:p>
            <a:pPr algn="l">
              <a:lnSpc>
                <a:spcPts val="2250"/>
              </a:lnSpc>
              <a:buNone/>
            </a:pPr>
            <a:r>
              <a:rPr lang="en-IN" b="1" i="0" dirty="0" err="1">
                <a:solidFill>
                  <a:srgbClr val="242424"/>
                </a:solidFill>
                <a:effectLst/>
                <a:latin typeface="sohne"/>
              </a:rPr>
              <a:t>AdaGrad</a:t>
            </a:r>
            <a:r>
              <a:rPr lang="en-IN" b="1" i="0" dirty="0">
                <a:solidFill>
                  <a:srgbClr val="242424"/>
                </a:solidFill>
                <a:effectLst/>
                <a:latin typeface="sohne"/>
              </a:rPr>
              <a:t>(Adaptive Gradient Descent)</a:t>
            </a:r>
          </a:p>
        </p:txBody>
      </p:sp>
      <p:pic>
        <p:nvPicPr>
          <p:cNvPr id="48130" name="Picture 2">
            <a:extLst>
              <a:ext uri="{FF2B5EF4-FFF2-40B4-BE49-F238E27FC236}">
                <a16:creationId xmlns:a16="http://schemas.microsoft.com/office/drawing/2014/main" id="{0AD9BDAA-705F-D5B7-570C-17D799BF73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767" y="1188321"/>
            <a:ext cx="7620000" cy="9810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A33ED3C-0167-6FD5-E3BE-68A89B85F4D3}"/>
              </a:ext>
            </a:extLst>
          </p:cNvPr>
          <p:cNvSpPr txBox="1"/>
          <p:nvPr/>
        </p:nvSpPr>
        <p:spPr>
          <a:xfrm>
            <a:off x="599767" y="2216339"/>
            <a:ext cx="6096000" cy="374461"/>
          </a:xfrm>
          <a:prstGeom prst="rect">
            <a:avLst/>
          </a:prstGeom>
          <a:noFill/>
        </p:spPr>
        <p:txBody>
          <a:bodyPr wrap="square">
            <a:spAutoFit/>
          </a:bodyPr>
          <a:lstStyle/>
          <a:p>
            <a:pPr algn="l">
              <a:lnSpc>
                <a:spcPts val="2250"/>
              </a:lnSpc>
              <a:buNone/>
            </a:pPr>
            <a:r>
              <a:rPr lang="en-US" b="1" i="0" dirty="0">
                <a:solidFill>
                  <a:srgbClr val="242424"/>
                </a:solidFill>
                <a:effectLst/>
                <a:latin typeface="sohne"/>
              </a:rPr>
              <a:t>RMS-Prop (Root Mean Square Propagation)</a:t>
            </a:r>
          </a:p>
        </p:txBody>
      </p:sp>
      <p:pic>
        <p:nvPicPr>
          <p:cNvPr id="48132" name="Picture 4">
            <a:extLst>
              <a:ext uri="{FF2B5EF4-FFF2-40B4-BE49-F238E27FC236}">
                <a16:creationId xmlns:a16="http://schemas.microsoft.com/office/drawing/2014/main" id="{B44129F3-D8D8-EF9D-41BC-3076293ED0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767" y="2637743"/>
            <a:ext cx="7620000" cy="8763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1252F79-FFEC-50D0-12A8-6C901965BE3C}"/>
              </a:ext>
            </a:extLst>
          </p:cNvPr>
          <p:cNvSpPr txBox="1"/>
          <p:nvPr/>
        </p:nvSpPr>
        <p:spPr>
          <a:xfrm>
            <a:off x="511278" y="3982390"/>
            <a:ext cx="6096000" cy="374461"/>
          </a:xfrm>
          <a:prstGeom prst="rect">
            <a:avLst/>
          </a:prstGeom>
          <a:noFill/>
        </p:spPr>
        <p:txBody>
          <a:bodyPr wrap="square">
            <a:spAutoFit/>
          </a:bodyPr>
          <a:lstStyle/>
          <a:p>
            <a:pPr algn="l">
              <a:lnSpc>
                <a:spcPts val="2250"/>
              </a:lnSpc>
              <a:buNone/>
            </a:pPr>
            <a:r>
              <a:rPr lang="en-IN" b="1" i="0" dirty="0">
                <a:solidFill>
                  <a:srgbClr val="242424"/>
                </a:solidFill>
                <a:effectLst/>
                <a:latin typeface="sohne"/>
              </a:rPr>
              <a:t>Adam(Adaptive Moment Estimation)</a:t>
            </a:r>
          </a:p>
        </p:txBody>
      </p:sp>
      <p:pic>
        <p:nvPicPr>
          <p:cNvPr id="48134" name="Picture 6">
            <a:extLst>
              <a:ext uri="{FF2B5EF4-FFF2-40B4-BE49-F238E27FC236}">
                <a16:creationId xmlns:a16="http://schemas.microsoft.com/office/drawing/2014/main" id="{316607C8-95FA-3DD7-1357-C3079D6972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767" y="4551561"/>
            <a:ext cx="8077200" cy="1990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6883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1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1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8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a:extLst>
              <a:ext uri="{FF2B5EF4-FFF2-40B4-BE49-F238E27FC236}">
                <a16:creationId xmlns:a16="http://schemas.microsoft.com/office/drawing/2014/main" id="{01015CA5-F00B-D797-FB8E-6321EE8872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096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9156" name="Picture 4">
            <a:extLst>
              <a:ext uri="{FF2B5EF4-FFF2-40B4-BE49-F238E27FC236}">
                <a16:creationId xmlns:a16="http://schemas.microsoft.com/office/drawing/2014/main" id="{06083024-D51D-28C9-F0EA-0F7EAA58F8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0"/>
            <a:ext cx="6096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7855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C2ACD-C0C7-26D5-4CDC-8ABBFD426B38}"/>
              </a:ext>
            </a:extLst>
          </p:cNvPr>
          <p:cNvSpPr>
            <a:spLocks noGrp="1"/>
          </p:cNvSpPr>
          <p:nvPr>
            <p:ph type="title"/>
          </p:nvPr>
        </p:nvSpPr>
        <p:spPr>
          <a:xfrm>
            <a:off x="838200" y="390351"/>
            <a:ext cx="10515600" cy="857046"/>
          </a:xfrm>
        </p:spPr>
        <p:txBody>
          <a:bodyPr>
            <a:normAutofit/>
          </a:bodyPr>
          <a:lstStyle/>
          <a:p>
            <a:r>
              <a:rPr lang="en-IN" b="1" dirty="0"/>
              <a:t>Advantages</a:t>
            </a:r>
            <a:endParaRPr lang="en-IN" dirty="0"/>
          </a:p>
        </p:txBody>
      </p:sp>
      <p:sp>
        <p:nvSpPr>
          <p:cNvPr id="5" name="TextBox 4">
            <a:extLst>
              <a:ext uri="{FF2B5EF4-FFF2-40B4-BE49-F238E27FC236}">
                <a16:creationId xmlns:a16="http://schemas.microsoft.com/office/drawing/2014/main" id="{A5C6701E-4CD1-A6C8-6333-611C7EA7CCF8}"/>
              </a:ext>
            </a:extLst>
          </p:cNvPr>
          <p:cNvSpPr txBox="1"/>
          <p:nvPr/>
        </p:nvSpPr>
        <p:spPr>
          <a:xfrm>
            <a:off x="838200" y="1733245"/>
            <a:ext cx="10515600" cy="646331"/>
          </a:xfrm>
          <a:prstGeom prst="rect">
            <a:avLst/>
          </a:prstGeom>
          <a:noFill/>
        </p:spPr>
        <p:txBody>
          <a:bodyPr wrap="square">
            <a:spAutoFit/>
          </a:bodyPr>
          <a:lstStyle/>
          <a:p>
            <a:r>
              <a:rPr lang="en-US" b="0" i="0" dirty="0">
                <a:solidFill>
                  <a:srgbClr val="242424"/>
                </a:solidFill>
                <a:effectLst/>
                <a:latin typeface="source-serif-pro"/>
              </a:rPr>
              <a:t>1. </a:t>
            </a:r>
            <a:r>
              <a:rPr lang="en-US" b="1" i="0" dirty="0">
                <a:solidFill>
                  <a:srgbClr val="242424"/>
                </a:solidFill>
                <a:effectLst/>
                <a:latin typeface="source-serif-pro"/>
              </a:rPr>
              <a:t>Nonlinear Mapping</a:t>
            </a:r>
            <a:r>
              <a:rPr lang="en-US" b="0" i="0" dirty="0">
                <a:solidFill>
                  <a:srgbClr val="242424"/>
                </a:solidFill>
                <a:effectLst/>
                <a:latin typeface="source-serif-pro"/>
              </a:rPr>
              <a:t>: MLPs can approximate nonlinear functions, making them suitable for modelling complex relationships in data.</a:t>
            </a:r>
            <a:endParaRPr lang="en-IN" dirty="0"/>
          </a:p>
        </p:txBody>
      </p:sp>
      <p:sp>
        <p:nvSpPr>
          <p:cNvPr id="7" name="TextBox 6">
            <a:extLst>
              <a:ext uri="{FF2B5EF4-FFF2-40B4-BE49-F238E27FC236}">
                <a16:creationId xmlns:a16="http://schemas.microsoft.com/office/drawing/2014/main" id="{206E2F98-95C3-97D4-35B2-89B0D0BED317}"/>
              </a:ext>
            </a:extLst>
          </p:cNvPr>
          <p:cNvSpPr txBox="1"/>
          <p:nvPr/>
        </p:nvSpPr>
        <p:spPr>
          <a:xfrm>
            <a:off x="838200" y="2865424"/>
            <a:ext cx="10515600" cy="646331"/>
          </a:xfrm>
          <a:prstGeom prst="rect">
            <a:avLst/>
          </a:prstGeom>
          <a:noFill/>
        </p:spPr>
        <p:txBody>
          <a:bodyPr wrap="square">
            <a:spAutoFit/>
          </a:bodyPr>
          <a:lstStyle/>
          <a:p>
            <a:r>
              <a:rPr lang="en-US" b="0" i="0" dirty="0">
                <a:solidFill>
                  <a:srgbClr val="242424"/>
                </a:solidFill>
                <a:effectLst/>
                <a:latin typeface="source-serif-pro"/>
              </a:rPr>
              <a:t>2. </a:t>
            </a:r>
            <a:r>
              <a:rPr lang="en-US" b="1" i="0" dirty="0">
                <a:solidFill>
                  <a:srgbClr val="242424"/>
                </a:solidFill>
                <a:effectLst/>
                <a:latin typeface="source-serif-pro"/>
              </a:rPr>
              <a:t>Feature Learning</a:t>
            </a:r>
            <a:r>
              <a:rPr lang="en-US" b="0" i="0" dirty="0">
                <a:solidFill>
                  <a:srgbClr val="242424"/>
                </a:solidFill>
                <a:effectLst/>
                <a:latin typeface="source-serif-pro"/>
              </a:rPr>
              <a:t>: Through hidden layers, MLPs can automatically learn hierarchical representations of features from raw input data.</a:t>
            </a:r>
            <a:endParaRPr lang="en-IN" dirty="0"/>
          </a:p>
        </p:txBody>
      </p:sp>
      <p:sp>
        <p:nvSpPr>
          <p:cNvPr id="9" name="TextBox 8">
            <a:extLst>
              <a:ext uri="{FF2B5EF4-FFF2-40B4-BE49-F238E27FC236}">
                <a16:creationId xmlns:a16="http://schemas.microsoft.com/office/drawing/2014/main" id="{E57C8E09-642B-FE20-A8E3-C8C8B3CFC978}"/>
              </a:ext>
            </a:extLst>
          </p:cNvPr>
          <p:cNvSpPr txBox="1"/>
          <p:nvPr/>
        </p:nvSpPr>
        <p:spPr>
          <a:xfrm>
            <a:off x="838200" y="3992576"/>
            <a:ext cx="10515600" cy="646331"/>
          </a:xfrm>
          <a:prstGeom prst="rect">
            <a:avLst/>
          </a:prstGeom>
          <a:noFill/>
        </p:spPr>
        <p:txBody>
          <a:bodyPr wrap="square">
            <a:spAutoFit/>
          </a:bodyPr>
          <a:lstStyle/>
          <a:p>
            <a:r>
              <a:rPr lang="en-US" b="0" i="0" dirty="0">
                <a:solidFill>
                  <a:srgbClr val="242424"/>
                </a:solidFill>
                <a:effectLst/>
                <a:latin typeface="source-serif-pro"/>
              </a:rPr>
              <a:t>3. </a:t>
            </a:r>
            <a:r>
              <a:rPr lang="en-US" b="1" i="0" dirty="0">
                <a:solidFill>
                  <a:srgbClr val="242424"/>
                </a:solidFill>
                <a:effectLst/>
                <a:latin typeface="source-serif-pro"/>
              </a:rPr>
              <a:t>Versatility</a:t>
            </a:r>
            <a:r>
              <a:rPr lang="en-US" b="0" i="0" dirty="0">
                <a:solidFill>
                  <a:srgbClr val="242424"/>
                </a:solidFill>
                <a:effectLst/>
                <a:latin typeface="source-serif-pro"/>
              </a:rPr>
              <a:t>: MLPs have demonstrated effectiveness across various domains, including image recognition, speech recognition, and time series prediction.</a:t>
            </a:r>
            <a:endParaRPr lang="en-IN" dirty="0"/>
          </a:p>
        </p:txBody>
      </p:sp>
      <p:sp>
        <p:nvSpPr>
          <p:cNvPr id="11" name="TextBox 10">
            <a:extLst>
              <a:ext uri="{FF2B5EF4-FFF2-40B4-BE49-F238E27FC236}">
                <a16:creationId xmlns:a16="http://schemas.microsoft.com/office/drawing/2014/main" id="{41B39AFB-28B8-22AF-9D33-E56D651FE938}"/>
              </a:ext>
            </a:extLst>
          </p:cNvPr>
          <p:cNvSpPr txBox="1"/>
          <p:nvPr/>
        </p:nvSpPr>
        <p:spPr>
          <a:xfrm>
            <a:off x="838201" y="5124755"/>
            <a:ext cx="10515599" cy="646331"/>
          </a:xfrm>
          <a:prstGeom prst="rect">
            <a:avLst/>
          </a:prstGeom>
          <a:noFill/>
        </p:spPr>
        <p:txBody>
          <a:bodyPr wrap="square">
            <a:spAutoFit/>
          </a:bodyPr>
          <a:lstStyle/>
          <a:p>
            <a:r>
              <a:rPr lang="en-US" b="0" i="0" dirty="0">
                <a:solidFill>
                  <a:srgbClr val="242424"/>
                </a:solidFill>
                <a:effectLst/>
                <a:latin typeface="source-serif-pro"/>
              </a:rPr>
              <a:t>4. </a:t>
            </a:r>
            <a:r>
              <a:rPr lang="en-US" b="1" i="0" dirty="0">
                <a:solidFill>
                  <a:srgbClr val="242424"/>
                </a:solidFill>
                <a:effectLst/>
                <a:latin typeface="source-serif-pro"/>
              </a:rPr>
              <a:t>Scalability: </a:t>
            </a:r>
            <a:r>
              <a:rPr lang="en-US" b="0" i="0" dirty="0">
                <a:solidFill>
                  <a:srgbClr val="242424"/>
                </a:solidFill>
                <a:effectLst/>
                <a:latin typeface="source-serif-pro"/>
              </a:rPr>
              <a:t>With advancements in hardware and </a:t>
            </a:r>
            <a:r>
              <a:rPr lang="en-US" b="0" i="0" dirty="0" err="1">
                <a:solidFill>
                  <a:srgbClr val="242424"/>
                </a:solidFill>
                <a:effectLst/>
                <a:latin typeface="source-serif-pro"/>
              </a:rPr>
              <a:t>optimisation</a:t>
            </a:r>
            <a:r>
              <a:rPr lang="en-US" b="0" i="0" dirty="0">
                <a:solidFill>
                  <a:srgbClr val="242424"/>
                </a:solidFill>
                <a:effectLst/>
                <a:latin typeface="source-serif-pro"/>
              </a:rPr>
              <a:t> techniques, MLPs can scale to accommodate large datasets and complex architectures.</a:t>
            </a:r>
            <a:endParaRPr lang="en-IN" dirty="0"/>
          </a:p>
        </p:txBody>
      </p:sp>
    </p:spTree>
    <p:extLst>
      <p:ext uri="{BB962C8B-B14F-4D97-AF65-F5344CB8AC3E}">
        <p14:creationId xmlns:p14="http://schemas.microsoft.com/office/powerpoint/2010/main" val="1499559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9784F-E0A3-860E-B306-0E2458FCA983}"/>
              </a:ext>
            </a:extLst>
          </p:cNvPr>
          <p:cNvSpPr>
            <a:spLocks noGrp="1"/>
          </p:cNvSpPr>
          <p:nvPr>
            <p:ph type="title"/>
          </p:nvPr>
        </p:nvSpPr>
        <p:spPr>
          <a:xfrm>
            <a:off x="873839" y="18254"/>
            <a:ext cx="10515600" cy="1325563"/>
          </a:xfrm>
        </p:spPr>
        <p:txBody>
          <a:bodyPr/>
          <a:lstStyle/>
          <a:p>
            <a:r>
              <a:rPr lang="en-IN" b="1" dirty="0"/>
              <a:t>Limitations</a:t>
            </a:r>
            <a:endParaRPr lang="en-IN" dirty="0"/>
          </a:p>
        </p:txBody>
      </p:sp>
      <p:sp>
        <p:nvSpPr>
          <p:cNvPr id="5" name="TextBox 4">
            <a:extLst>
              <a:ext uri="{FF2B5EF4-FFF2-40B4-BE49-F238E27FC236}">
                <a16:creationId xmlns:a16="http://schemas.microsoft.com/office/drawing/2014/main" id="{89B11B24-370F-C5B5-CA3A-453804298B0F}"/>
              </a:ext>
            </a:extLst>
          </p:cNvPr>
          <p:cNvSpPr txBox="1"/>
          <p:nvPr/>
        </p:nvSpPr>
        <p:spPr>
          <a:xfrm>
            <a:off x="802556" y="1884550"/>
            <a:ext cx="10515600" cy="646331"/>
          </a:xfrm>
          <a:prstGeom prst="rect">
            <a:avLst/>
          </a:prstGeom>
          <a:noFill/>
        </p:spPr>
        <p:txBody>
          <a:bodyPr wrap="square">
            <a:spAutoFit/>
          </a:bodyPr>
          <a:lstStyle/>
          <a:p>
            <a:r>
              <a:rPr lang="en-US" b="0" i="0" dirty="0">
                <a:solidFill>
                  <a:srgbClr val="242424"/>
                </a:solidFill>
                <a:effectLst/>
                <a:latin typeface="source-serif-pro"/>
              </a:rPr>
              <a:t>1. </a:t>
            </a:r>
            <a:r>
              <a:rPr lang="en-US" b="1" i="0" dirty="0">
                <a:solidFill>
                  <a:srgbClr val="242424"/>
                </a:solidFill>
                <a:effectLst/>
                <a:latin typeface="source-serif-pro"/>
              </a:rPr>
              <a:t>Overfitting:</a:t>
            </a:r>
            <a:r>
              <a:rPr lang="en-US" b="0" i="0" dirty="0">
                <a:solidFill>
                  <a:srgbClr val="242424"/>
                </a:solidFill>
                <a:effectLst/>
                <a:latin typeface="source-serif-pro"/>
              </a:rPr>
              <a:t> MLPs are prone to overfitting, especially when trained on small datasets or with excessive model capacity.</a:t>
            </a:r>
            <a:endParaRPr lang="en-IN" dirty="0"/>
          </a:p>
        </p:txBody>
      </p:sp>
      <p:sp>
        <p:nvSpPr>
          <p:cNvPr id="7" name="TextBox 6">
            <a:extLst>
              <a:ext uri="{FF2B5EF4-FFF2-40B4-BE49-F238E27FC236}">
                <a16:creationId xmlns:a16="http://schemas.microsoft.com/office/drawing/2014/main" id="{9B8BE182-F624-4651-25EA-6B7DD27B24F2}"/>
              </a:ext>
            </a:extLst>
          </p:cNvPr>
          <p:cNvSpPr txBox="1"/>
          <p:nvPr/>
        </p:nvSpPr>
        <p:spPr>
          <a:xfrm>
            <a:off x="802557" y="3071614"/>
            <a:ext cx="10515600" cy="646331"/>
          </a:xfrm>
          <a:prstGeom prst="rect">
            <a:avLst/>
          </a:prstGeom>
          <a:noFill/>
        </p:spPr>
        <p:txBody>
          <a:bodyPr wrap="square">
            <a:spAutoFit/>
          </a:bodyPr>
          <a:lstStyle/>
          <a:p>
            <a:r>
              <a:rPr lang="en-US" b="0" i="0" dirty="0">
                <a:solidFill>
                  <a:srgbClr val="242424"/>
                </a:solidFill>
                <a:effectLst/>
                <a:latin typeface="source-serif-pro"/>
              </a:rPr>
              <a:t>2. </a:t>
            </a:r>
            <a:r>
              <a:rPr lang="en-US" b="1" i="0" dirty="0">
                <a:solidFill>
                  <a:srgbClr val="242424"/>
                </a:solidFill>
                <a:effectLst/>
                <a:latin typeface="source-serif-pro"/>
              </a:rPr>
              <a:t>Gradient Vanishing/Exploding</a:t>
            </a:r>
            <a:r>
              <a:rPr lang="en-US" b="0" i="0" dirty="0">
                <a:solidFill>
                  <a:srgbClr val="242424"/>
                </a:solidFill>
                <a:effectLst/>
                <a:latin typeface="source-serif-pro"/>
              </a:rPr>
              <a:t>: Deep MLPs may suffer from vanishing or exploding gradients during training, hindering convergence.</a:t>
            </a:r>
            <a:endParaRPr lang="en-IN" dirty="0"/>
          </a:p>
        </p:txBody>
      </p:sp>
      <p:sp>
        <p:nvSpPr>
          <p:cNvPr id="9" name="TextBox 8">
            <a:extLst>
              <a:ext uri="{FF2B5EF4-FFF2-40B4-BE49-F238E27FC236}">
                <a16:creationId xmlns:a16="http://schemas.microsoft.com/office/drawing/2014/main" id="{AD07745D-4B4A-56F5-6045-8765564FB20F}"/>
              </a:ext>
            </a:extLst>
          </p:cNvPr>
          <p:cNvSpPr txBox="1"/>
          <p:nvPr/>
        </p:nvSpPr>
        <p:spPr>
          <a:xfrm>
            <a:off x="802557" y="4258677"/>
            <a:ext cx="10515599" cy="646331"/>
          </a:xfrm>
          <a:prstGeom prst="rect">
            <a:avLst/>
          </a:prstGeom>
          <a:noFill/>
        </p:spPr>
        <p:txBody>
          <a:bodyPr wrap="square">
            <a:spAutoFit/>
          </a:bodyPr>
          <a:lstStyle/>
          <a:p>
            <a:r>
              <a:rPr lang="en-US" b="0" i="0" dirty="0">
                <a:solidFill>
                  <a:srgbClr val="242424"/>
                </a:solidFill>
                <a:effectLst/>
                <a:latin typeface="source-serif-pro"/>
              </a:rPr>
              <a:t>3. </a:t>
            </a:r>
            <a:r>
              <a:rPr lang="en-US" b="1" i="0" dirty="0">
                <a:solidFill>
                  <a:srgbClr val="242424"/>
                </a:solidFill>
                <a:effectLst/>
                <a:latin typeface="source-serif-pro"/>
              </a:rPr>
              <a:t>Hyperparameter Sensitivity</a:t>
            </a:r>
            <a:r>
              <a:rPr lang="en-US" b="0" i="0" dirty="0">
                <a:solidFill>
                  <a:srgbClr val="242424"/>
                </a:solidFill>
                <a:effectLst/>
                <a:latin typeface="source-serif-pro"/>
              </a:rPr>
              <a:t>: The performance of MLPs is sensitive to hyperparameters such as learning rate, batch size, and network architecture, requiring careful tuning.</a:t>
            </a:r>
            <a:endParaRPr lang="en-IN" dirty="0"/>
          </a:p>
        </p:txBody>
      </p:sp>
      <p:sp>
        <p:nvSpPr>
          <p:cNvPr id="11" name="TextBox 10">
            <a:extLst>
              <a:ext uri="{FF2B5EF4-FFF2-40B4-BE49-F238E27FC236}">
                <a16:creationId xmlns:a16="http://schemas.microsoft.com/office/drawing/2014/main" id="{CBD35FB9-DDDA-9442-E225-BABBA2746553}"/>
              </a:ext>
            </a:extLst>
          </p:cNvPr>
          <p:cNvSpPr txBox="1"/>
          <p:nvPr/>
        </p:nvSpPr>
        <p:spPr>
          <a:xfrm>
            <a:off x="802557" y="5445741"/>
            <a:ext cx="10586882" cy="646331"/>
          </a:xfrm>
          <a:prstGeom prst="rect">
            <a:avLst/>
          </a:prstGeom>
          <a:noFill/>
        </p:spPr>
        <p:txBody>
          <a:bodyPr wrap="square">
            <a:spAutoFit/>
          </a:bodyPr>
          <a:lstStyle/>
          <a:p>
            <a:r>
              <a:rPr lang="en-US" b="0" i="0" dirty="0">
                <a:solidFill>
                  <a:srgbClr val="242424"/>
                </a:solidFill>
                <a:effectLst/>
                <a:latin typeface="source-serif-pro"/>
              </a:rPr>
              <a:t>4. </a:t>
            </a:r>
            <a:r>
              <a:rPr lang="en-US" b="1" i="0" dirty="0">
                <a:solidFill>
                  <a:srgbClr val="242424"/>
                </a:solidFill>
                <a:effectLst/>
                <a:latin typeface="source-serif-pro"/>
              </a:rPr>
              <a:t>Computationally Intensive:</a:t>
            </a:r>
            <a:r>
              <a:rPr lang="en-US" b="0" i="0" dirty="0">
                <a:solidFill>
                  <a:srgbClr val="242424"/>
                </a:solidFill>
                <a:effectLst/>
                <a:latin typeface="source-serif-pro"/>
              </a:rPr>
              <a:t> Training deep MLPs can be computationally expensive, especially without access to high-performance hardware or parallel processing capabilities.</a:t>
            </a:r>
            <a:endParaRPr lang="en-IN" dirty="0"/>
          </a:p>
        </p:txBody>
      </p:sp>
    </p:spTree>
    <p:extLst>
      <p:ext uri="{BB962C8B-B14F-4D97-AF65-F5344CB8AC3E}">
        <p14:creationId xmlns:p14="http://schemas.microsoft.com/office/powerpoint/2010/main" val="985019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9" grpId="0"/>
      <p:bldP spid="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94C9D2-2990-419F-E914-1C3301DDBBB5}"/>
              </a:ext>
            </a:extLst>
          </p:cNvPr>
          <p:cNvSpPr txBox="1"/>
          <p:nvPr/>
        </p:nvSpPr>
        <p:spPr>
          <a:xfrm>
            <a:off x="2045109" y="1573162"/>
            <a:ext cx="8101781" cy="584775"/>
          </a:xfrm>
          <a:prstGeom prst="rect">
            <a:avLst/>
          </a:prstGeom>
          <a:noFill/>
        </p:spPr>
        <p:txBody>
          <a:bodyPr wrap="square" rtlCol="0">
            <a:spAutoFit/>
          </a:bodyPr>
          <a:lstStyle/>
          <a:p>
            <a:r>
              <a:rPr lang="en-US" sz="3200" dirty="0"/>
              <a:t>What if the input data is an image or a video???</a:t>
            </a:r>
            <a:endParaRPr lang="en-IN" sz="3200" dirty="0"/>
          </a:p>
        </p:txBody>
      </p:sp>
      <p:sp>
        <p:nvSpPr>
          <p:cNvPr id="3" name="TextBox 2">
            <a:extLst>
              <a:ext uri="{FF2B5EF4-FFF2-40B4-BE49-F238E27FC236}">
                <a16:creationId xmlns:a16="http://schemas.microsoft.com/office/drawing/2014/main" id="{EDF7AE74-DA8E-A7D2-2BC0-5465F14CF772}"/>
              </a:ext>
            </a:extLst>
          </p:cNvPr>
          <p:cNvSpPr txBox="1"/>
          <p:nvPr/>
        </p:nvSpPr>
        <p:spPr>
          <a:xfrm>
            <a:off x="3038166" y="3429000"/>
            <a:ext cx="6272982" cy="584775"/>
          </a:xfrm>
          <a:prstGeom prst="rect">
            <a:avLst/>
          </a:prstGeom>
          <a:noFill/>
        </p:spPr>
        <p:txBody>
          <a:bodyPr wrap="square" rtlCol="0">
            <a:spAutoFit/>
          </a:bodyPr>
          <a:lstStyle/>
          <a:p>
            <a:r>
              <a:rPr lang="en-US" sz="3200" dirty="0"/>
              <a:t>Convolutional Neural Network(CNN)</a:t>
            </a:r>
            <a:endParaRPr lang="en-IN" sz="3200" dirty="0"/>
          </a:p>
        </p:txBody>
      </p:sp>
    </p:spTree>
    <p:extLst>
      <p:ext uri="{BB962C8B-B14F-4D97-AF65-F5344CB8AC3E}">
        <p14:creationId xmlns:p14="http://schemas.microsoft.com/office/powerpoint/2010/main" val="2324441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485DE-7132-F853-AB4A-20BF370259BC}"/>
              </a:ext>
            </a:extLst>
          </p:cNvPr>
          <p:cNvSpPr>
            <a:spLocks noGrp="1"/>
          </p:cNvSpPr>
          <p:nvPr>
            <p:ph type="title"/>
          </p:nvPr>
        </p:nvSpPr>
        <p:spPr/>
        <p:txBody>
          <a:bodyPr/>
          <a:lstStyle/>
          <a:p>
            <a:r>
              <a:rPr lang="en-US" dirty="0"/>
              <a:t>Convolutional Neural Network(CNN)</a:t>
            </a:r>
            <a:endParaRPr lang="en-IN" dirty="0"/>
          </a:p>
        </p:txBody>
      </p:sp>
      <p:sp>
        <p:nvSpPr>
          <p:cNvPr id="5" name="TextBox 4">
            <a:extLst>
              <a:ext uri="{FF2B5EF4-FFF2-40B4-BE49-F238E27FC236}">
                <a16:creationId xmlns:a16="http://schemas.microsoft.com/office/drawing/2014/main" id="{A560F0B4-E967-B6B0-658A-B6DC5B8B764B}"/>
              </a:ext>
            </a:extLst>
          </p:cNvPr>
          <p:cNvSpPr txBox="1"/>
          <p:nvPr/>
        </p:nvSpPr>
        <p:spPr>
          <a:xfrm>
            <a:off x="838200" y="1690688"/>
            <a:ext cx="6096000" cy="1200329"/>
          </a:xfrm>
          <a:prstGeom prst="rect">
            <a:avLst/>
          </a:prstGeom>
          <a:noFill/>
        </p:spPr>
        <p:txBody>
          <a:bodyPr wrap="square">
            <a:spAutoFit/>
          </a:bodyPr>
          <a:lstStyle/>
          <a:p>
            <a:r>
              <a:rPr lang="en-US" dirty="0"/>
              <a:t>CNNs primarily focus on the basis that the input will be comprised of grid data like images , videos etc. This focuses the architecture to be set up in way to best suit the need for dealing with the specific type of data.</a:t>
            </a:r>
            <a:endParaRPr lang="en-IN" dirty="0"/>
          </a:p>
        </p:txBody>
      </p:sp>
      <p:pic>
        <p:nvPicPr>
          <p:cNvPr id="6148" name="Picture 4" descr="What's so special about orange cats ...">
            <a:extLst>
              <a:ext uri="{FF2B5EF4-FFF2-40B4-BE49-F238E27FC236}">
                <a16:creationId xmlns:a16="http://schemas.microsoft.com/office/drawing/2014/main" id="{5E989718-7F41-A884-D863-5CCB65B7FF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2787" y="1490752"/>
            <a:ext cx="3736258" cy="193824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4A1A8A62-3B3D-C374-BD99-F06205DB3002}"/>
              </a:ext>
            </a:extLst>
          </p:cNvPr>
          <p:cNvPicPr>
            <a:picLocks noChangeAspect="1"/>
          </p:cNvPicPr>
          <p:nvPr/>
        </p:nvPicPr>
        <p:blipFill>
          <a:blip r:embed="rId3"/>
          <a:stretch>
            <a:fillRect/>
          </a:stretch>
        </p:blipFill>
        <p:spPr>
          <a:xfrm>
            <a:off x="838199" y="2891017"/>
            <a:ext cx="6477001" cy="2742514"/>
          </a:xfrm>
          <a:prstGeom prst="rect">
            <a:avLst/>
          </a:prstGeom>
        </p:spPr>
      </p:pic>
      <p:sp>
        <p:nvSpPr>
          <p:cNvPr id="9" name="TextBox 8">
            <a:extLst>
              <a:ext uri="{FF2B5EF4-FFF2-40B4-BE49-F238E27FC236}">
                <a16:creationId xmlns:a16="http://schemas.microsoft.com/office/drawing/2014/main" id="{7E6C4449-0589-A024-6074-AF4434B275DF}"/>
              </a:ext>
            </a:extLst>
          </p:cNvPr>
          <p:cNvSpPr txBox="1"/>
          <p:nvPr/>
        </p:nvSpPr>
        <p:spPr>
          <a:xfrm>
            <a:off x="838197" y="5633531"/>
            <a:ext cx="10940847" cy="646331"/>
          </a:xfrm>
          <a:prstGeom prst="rect">
            <a:avLst/>
          </a:prstGeom>
          <a:noFill/>
        </p:spPr>
        <p:txBody>
          <a:bodyPr wrap="square">
            <a:spAutoFit/>
          </a:bodyPr>
          <a:lstStyle/>
          <a:p>
            <a:r>
              <a:rPr lang="en-US" dirty="0"/>
              <a:t>CNNs are comprised of three types of layers. These are convolutional layers, pooling layers and fully-connected layers. When these layers are stacked, a CNN architecture has been formed.</a:t>
            </a:r>
            <a:endParaRPr lang="en-IN" dirty="0"/>
          </a:p>
        </p:txBody>
      </p:sp>
    </p:spTree>
    <p:extLst>
      <p:ext uri="{BB962C8B-B14F-4D97-AF65-F5344CB8AC3E}">
        <p14:creationId xmlns:p14="http://schemas.microsoft.com/office/powerpoint/2010/main" val="1601320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12451-2565-DCCC-2A0D-4FD3E71B62F6}"/>
              </a:ext>
            </a:extLst>
          </p:cNvPr>
          <p:cNvSpPr>
            <a:spLocks noGrp="1"/>
          </p:cNvSpPr>
          <p:nvPr>
            <p:ph type="title"/>
          </p:nvPr>
        </p:nvSpPr>
        <p:spPr/>
        <p:txBody>
          <a:bodyPr/>
          <a:lstStyle/>
          <a:p>
            <a:r>
              <a:rPr lang="en-US" dirty="0"/>
              <a:t>Layers</a:t>
            </a:r>
            <a:endParaRPr lang="en-IN" dirty="0"/>
          </a:p>
        </p:txBody>
      </p:sp>
      <p:sp>
        <p:nvSpPr>
          <p:cNvPr id="5" name="TextBox 4">
            <a:extLst>
              <a:ext uri="{FF2B5EF4-FFF2-40B4-BE49-F238E27FC236}">
                <a16:creationId xmlns:a16="http://schemas.microsoft.com/office/drawing/2014/main" id="{F303A4D4-425F-7993-8619-836C4BF45590}"/>
              </a:ext>
            </a:extLst>
          </p:cNvPr>
          <p:cNvSpPr txBox="1"/>
          <p:nvPr/>
        </p:nvSpPr>
        <p:spPr>
          <a:xfrm>
            <a:off x="838199" y="1690688"/>
            <a:ext cx="10842523" cy="369332"/>
          </a:xfrm>
          <a:prstGeom prst="rect">
            <a:avLst/>
          </a:prstGeom>
          <a:noFill/>
        </p:spPr>
        <p:txBody>
          <a:bodyPr wrap="square">
            <a:spAutoFit/>
          </a:bodyPr>
          <a:lstStyle/>
          <a:p>
            <a:r>
              <a:rPr lang="en-US" b="1" dirty="0"/>
              <a:t>1. Input Layer</a:t>
            </a:r>
            <a:r>
              <a:rPr lang="en-US" dirty="0"/>
              <a:t>:  The input layer holds the pixel values of the image.</a:t>
            </a:r>
            <a:endParaRPr lang="en-IN" dirty="0"/>
          </a:p>
        </p:txBody>
      </p:sp>
      <p:sp>
        <p:nvSpPr>
          <p:cNvPr id="7" name="TextBox 6">
            <a:extLst>
              <a:ext uri="{FF2B5EF4-FFF2-40B4-BE49-F238E27FC236}">
                <a16:creationId xmlns:a16="http://schemas.microsoft.com/office/drawing/2014/main" id="{8E37893C-21D7-7A95-EF57-5325422BB7B7}"/>
              </a:ext>
            </a:extLst>
          </p:cNvPr>
          <p:cNvSpPr txBox="1"/>
          <p:nvPr/>
        </p:nvSpPr>
        <p:spPr>
          <a:xfrm>
            <a:off x="838199" y="2387994"/>
            <a:ext cx="10842522" cy="1200329"/>
          </a:xfrm>
          <a:prstGeom prst="rect">
            <a:avLst/>
          </a:prstGeom>
          <a:noFill/>
        </p:spPr>
        <p:txBody>
          <a:bodyPr wrap="square">
            <a:spAutoFit/>
          </a:bodyPr>
          <a:lstStyle/>
          <a:p>
            <a:r>
              <a:rPr lang="en-US" b="1" dirty="0"/>
              <a:t>2. Convolutional layer : </a:t>
            </a:r>
            <a:r>
              <a:rPr lang="en-US" dirty="0"/>
              <a:t>It determines the output of neurons of which are connected to local regions of the input through the calculation of the scalar product between their weights and the region connected to the input volume. The rectified linear unit (</a:t>
            </a:r>
            <a:r>
              <a:rPr lang="en-US" dirty="0" err="1"/>
              <a:t>ReLu</a:t>
            </a:r>
            <a:r>
              <a:rPr lang="en-US" dirty="0"/>
              <a:t>) aims to apply an ‘elementwise’ activation function such as sigmoid to the output of the activation produced by the previous layer. </a:t>
            </a:r>
            <a:endParaRPr lang="en-IN" dirty="0"/>
          </a:p>
        </p:txBody>
      </p:sp>
      <p:sp>
        <p:nvSpPr>
          <p:cNvPr id="9" name="TextBox 8">
            <a:extLst>
              <a:ext uri="{FF2B5EF4-FFF2-40B4-BE49-F238E27FC236}">
                <a16:creationId xmlns:a16="http://schemas.microsoft.com/office/drawing/2014/main" id="{B25BAFFD-A16F-6112-044C-EBBDAD3E87F0}"/>
              </a:ext>
            </a:extLst>
          </p:cNvPr>
          <p:cNvSpPr txBox="1"/>
          <p:nvPr/>
        </p:nvSpPr>
        <p:spPr>
          <a:xfrm>
            <a:off x="838198" y="3916297"/>
            <a:ext cx="10842521" cy="646331"/>
          </a:xfrm>
          <a:prstGeom prst="rect">
            <a:avLst/>
          </a:prstGeom>
          <a:noFill/>
        </p:spPr>
        <p:txBody>
          <a:bodyPr wrap="square">
            <a:spAutoFit/>
          </a:bodyPr>
          <a:lstStyle/>
          <a:p>
            <a:r>
              <a:rPr lang="en-US" b="1" dirty="0"/>
              <a:t>3.Pooling layer :  </a:t>
            </a:r>
            <a:r>
              <a:rPr lang="en-US" dirty="0"/>
              <a:t>It simply performs </a:t>
            </a:r>
            <a:r>
              <a:rPr lang="en-US" dirty="0" err="1"/>
              <a:t>downsampling</a:t>
            </a:r>
            <a:r>
              <a:rPr lang="en-US" dirty="0"/>
              <a:t> along the spatial dimensionality of the given input, further reducing the number of parameters within that activation.</a:t>
            </a:r>
          </a:p>
        </p:txBody>
      </p:sp>
      <p:sp>
        <p:nvSpPr>
          <p:cNvPr id="11" name="TextBox 10">
            <a:extLst>
              <a:ext uri="{FF2B5EF4-FFF2-40B4-BE49-F238E27FC236}">
                <a16:creationId xmlns:a16="http://schemas.microsoft.com/office/drawing/2014/main" id="{FB756D1E-9CB2-0145-D6D8-E621D3E02506}"/>
              </a:ext>
            </a:extLst>
          </p:cNvPr>
          <p:cNvSpPr txBox="1"/>
          <p:nvPr/>
        </p:nvSpPr>
        <p:spPr>
          <a:xfrm>
            <a:off x="838198" y="4890602"/>
            <a:ext cx="10842520" cy="923330"/>
          </a:xfrm>
          <a:prstGeom prst="rect">
            <a:avLst/>
          </a:prstGeom>
          <a:noFill/>
        </p:spPr>
        <p:txBody>
          <a:bodyPr wrap="square">
            <a:spAutoFit/>
          </a:bodyPr>
          <a:lstStyle/>
          <a:p>
            <a:r>
              <a:rPr lang="en-US" b="1" dirty="0"/>
              <a:t>4. Fully-connected layers : </a:t>
            </a:r>
            <a:r>
              <a:rPr lang="en-US" dirty="0"/>
              <a:t>It performs the same duties found in standard ANNs and attempt to produce class scores from the activations, to be used for classification. It is also suggested that </a:t>
            </a:r>
            <a:r>
              <a:rPr lang="en-US" dirty="0" err="1"/>
              <a:t>ReLu</a:t>
            </a:r>
            <a:r>
              <a:rPr lang="en-US" dirty="0"/>
              <a:t> may be used between these layers, as to improve performance.</a:t>
            </a:r>
            <a:endParaRPr lang="en-IN" dirty="0"/>
          </a:p>
        </p:txBody>
      </p:sp>
    </p:spTree>
    <p:extLst>
      <p:ext uri="{BB962C8B-B14F-4D97-AF65-F5344CB8AC3E}">
        <p14:creationId xmlns:p14="http://schemas.microsoft.com/office/powerpoint/2010/main" val="3697286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63089-EAF7-71F4-819D-24315676A7BC}"/>
              </a:ext>
            </a:extLst>
          </p:cNvPr>
          <p:cNvSpPr>
            <a:spLocks noGrp="1"/>
          </p:cNvSpPr>
          <p:nvPr>
            <p:ph type="title"/>
          </p:nvPr>
        </p:nvSpPr>
        <p:spPr/>
        <p:txBody>
          <a:bodyPr/>
          <a:lstStyle/>
          <a:p>
            <a:r>
              <a:rPr lang="en-US" dirty="0"/>
              <a:t>Input Layer</a:t>
            </a:r>
            <a:endParaRPr lang="en-IN" dirty="0"/>
          </a:p>
        </p:txBody>
      </p:sp>
      <p:sp>
        <p:nvSpPr>
          <p:cNvPr id="5" name="TextBox 4">
            <a:extLst>
              <a:ext uri="{FF2B5EF4-FFF2-40B4-BE49-F238E27FC236}">
                <a16:creationId xmlns:a16="http://schemas.microsoft.com/office/drawing/2014/main" id="{39C95801-03E5-9910-1A74-89E122AB8325}"/>
              </a:ext>
            </a:extLst>
          </p:cNvPr>
          <p:cNvSpPr txBox="1"/>
          <p:nvPr/>
        </p:nvSpPr>
        <p:spPr>
          <a:xfrm>
            <a:off x="838199" y="1600154"/>
            <a:ext cx="10872019" cy="1533753"/>
          </a:xfrm>
          <a:prstGeom prst="rect">
            <a:avLst/>
          </a:prstGeom>
          <a:noFill/>
        </p:spPr>
        <p:txBody>
          <a:bodyPr wrap="square">
            <a:spAutoFit/>
          </a:bodyPr>
          <a:lstStyle/>
          <a:p>
            <a:pPr algn="l" rtl="0" fontAlgn="base">
              <a:spcAft>
                <a:spcPts val="750"/>
              </a:spcAft>
              <a:buNone/>
            </a:pPr>
            <a:r>
              <a:rPr lang="en-US" b="0" i="0" dirty="0">
                <a:solidFill>
                  <a:srgbClr val="273239"/>
                </a:solidFill>
                <a:effectLst/>
                <a:latin typeface="Nunito" pitchFamily="2" charset="0"/>
              </a:rPr>
              <a:t>The input layer receives the raw image data and passes it to the network for processing. In CNNs, input is typically a 3D volume (width × height × depth).</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Stores pixel values of the image (e.g., 32 × 32 × 3 for RGB images).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Preserves the spatial structure of the image for further feature extraction.</a:t>
            </a:r>
          </a:p>
        </p:txBody>
      </p:sp>
      <p:pic>
        <p:nvPicPr>
          <p:cNvPr id="7170" name="Picture 2" descr="What is a Convolutional Neural Network?">
            <a:extLst>
              <a:ext uri="{FF2B5EF4-FFF2-40B4-BE49-F238E27FC236}">
                <a16:creationId xmlns:a16="http://schemas.microsoft.com/office/drawing/2014/main" id="{051BF4E7-F6C2-3B39-2580-FC5E2C9A09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7967" y="3157282"/>
            <a:ext cx="5238750" cy="3335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8400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B97F3-E81D-A235-4007-6C0DCAEB1EAD}"/>
              </a:ext>
            </a:extLst>
          </p:cNvPr>
          <p:cNvSpPr>
            <a:spLocks noGrp="1"/>
          </p:cNvSpPr>
          <p:nvPr>
            <p:ph type="title"/>
          </p:nvPr>
        </p:nvSpPr>
        <p:spPr/>
        <p:txBody>
          <a:bodyPr/>
          <a:lstStyle/>
          <a:p>
            <a:r>
              <a:rPr lang="en-US" dirty="0"/>
              <a:t>Convolutional Layer</a:t>
            </a:r>
            <a:endParaRPr lang="en-IN" dirty="0"/>
          </a:p>
        </p:txBody>
      </p:sp>
      <p:sp>
        <p:nvSpPr>
          <p:cNvPr id="5" name="TextBox 4">
            <a:extLst>
              <a:ext uri="{FF2B5EF4-FFF2-40B4-BE49-F238E27FC236}">
                <a16:creationId xmlns:a16="http://schemas.microsoft.com/office/drawing/2014/main" id="{A0A33269-628C-39B8-2FC8-C0DE8A20AC00}"/>
              </a:ext>
            </a:extLst>
          </p:cNvPr>
          <p:cNvSpPr txBox="1"/>
          <p:nvPr/>
        </p:nvSpPr>
        <p:spPr>
          <a:xfrm>
            <a:off x="838200" y="1690688"/>
            <a:ext cx="10515600" cy="1810752"/>
          </a:xfrm>
          <a:prstGeom prst="rect">
            <a:avLst/>
          </a:prstGeom>
          <a:noFill/>
        </p:spPr>
        <p:txBody>
          <a:bodyPr wrap="square">
            <a:spAutoFit/>
          </a:bodyPr>
          <a:lstStyle/>
          <a:p>
            <a:pPr fontAlgn="base">
              <a:spcAft>
                <a:spcPts val="750"/>
              </a:spcAft>
            </a:pPr>
            <a:r>
              <a:rPr lang="en-US" b="0" i="0" dirty="0">
                <a:solidFill>
                  <a:srgbClr val="273239"/>
                </a:solidFill>
                <a:effectLst/>
                <a:latin typeface="Nunito" pitchFamily="2" charset="0"/>
              </a:rPr>
              <a:t>The </a:t>
            </a:r>
            <a:r>
              <a:rPr lang="en-US" dirty="0"/>
              <a:t>Convolutional Layer</a:t>
            </a:r>
            <a:r>
              <a:rPr lang="en-US" dirty="0">
                <a:solidFill>
                  <a:srgbClr val="357960"/>
                </a:solidFill>
                <a:latin typeface="Nunito" pitchFamily="2" charset="0"/>
              </a:rPr>
              <a:t> </a:t>
            </a:r>
            <a:r>
              <a:rPr lang="en-US" b="0" i="0" dirty="0">
                <a:solidFill>
                  <a:srgbClr val="273239"/>
                </a:solidFill>
                <a:effectLst/>
                <a:latin typeface="Nunito" pitchFamily="2" charset="0"/>
              </a:rPr>
              <a:t>is responsible for extracting important features from the input data. It applies a set of learnable filters (kernels) that slide over the image and compute the dot product between the filter weights and corresponding image patches, producing feature maps.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Uses small filters (e.g., 2×2, 3×3, 5×5) to scan the input image.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Generates feature maps that capture patterns such as edges, textures and shapes.</a:t>
            </a:r>
          </a:p>
        </p:txBody>
      </p:sp>
      <p:pic>
        <p:nvPicPr>
          <p:cNvPr id="8194" name="Picture 2" descr="Math Behind Development of CNNs for Image Processing">
            <a:extLst>
              <a:ext uri="{FF2B5EF4-FFF2-40B4-BE49-F238E27FC236}">
                <a16:creationId xmlns:a16="http://schemas.microsoft.com/office/drawing/2014/main" id="{670BD3C8-F3F1-CAE7-DB12-614FE5C14C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429000"/>
            <a:ext cx="105156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6364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01A13-5D0E-CD61-51BE-4E634DD3D0A5}"/>
              </a:ext>
            </a:extLst>
          </p:cNvPr>
          <p:cNvSpPr>
            <a:spLocks noGrp="1"/>
          </p:cNvSpPr>
          <p:nvPr>
            <p:ph type="title"/>
          </p:nvPr>
        </p:nvSpPr>
        <p:spPr/>
        <p:txBody>
          <a:bodyPr/>
          <a:lstStyle/>
          <a:p>
            <a:r>
              <a:rPr lang="en-US" dirty="0"/>
              <a:t>Pooling Layer</a:t>
            </a:r>
            <a:endParaRPr lang="en-IN" dirty="0"/>
          </a:p>
        </p:txBody>
      </p:sp>
      <p:sp>
        <p:nvSpPr>
          <p:cNvPr id="5" name="TextBox 4">
            <a:extLst>
              <a:ext uri="{FF2B5EF4-FFF2-40B4-BE49-F238E27FC236}">
                <a16:creationId xmlns:a16="http://schemas.microsoft.com/office/drawing/2014/main" id="{ACCE52E3-7D4C-009A-F284-E1F9EEBE355F}"/>
              </a:ext>
            </a:extLst>
          </p:cNvPr>
          <p:cNvSpPr txBox="1"/>
          <p:nvPr/>
        </p:nvSpPr>
        <p:spPr>
          <a:xfrm>
            <a:off x="838200" y="1690688"/>
            <a:ext cx="6096000" cy="923330"/>
          </a:xfrm>
          <a:prstGeom prst="rect">
            <a:avLst/>
          </a:prstGeom>
          <a:noFill/>
        </p:spPr>
        <p:txBody>
          <a:bodyPr wrap="square">
            <a:spAutoFit/>
          </a:bodyPr>
          <a:lstStyle/>
          <a:p>
            <a:r>
              <a:rPr lang="en-US" dirty="0"/>
              <a:t>Pooling layers aim to gradually reduce the dimensionality of the representation, and thus further reduce the number of parameters and the computational complexity of the model.</a:t>
            </a:r>
            <a:endParaRPr lang="en-IN" dirty="0"/>
          </a:p>
        </p:txBody>
      </p:sp>
      <p:sp>
        <p:nvSpPr>
          <p:cNvPr id="7" name="TextBox 6">
            <a:extLst>
              <a:ext uri="{FF2B5EF4-FFF2-40B4-BE49-F238E27FC236}">
                <a16:creationId xmlns:a16="http://schemas.microsoft.com/office/drawing/2014/main" id="{61B11986-AEF1-0896-B370-DEC86E1A97F0}"/>
              </a:ext>
            </a:extLst>
          </p:cNvPr>
          <p:cNvSpPr txBox="1"/>
          <p:nvPr/>
        </p:nvSpPr>
        <p:spPr>
          <a:xfrm>
            <a:off x="838200" y="2614018"/>
            <a:ext cx="6096000" cy="1200329"/>
          </a:xfrm>
          <a:prstGeom prst="rect">
            <a:avLst/>
          </a:prstGeom>
          <a:noFill/>
        </p:spPr>
        <p:txBody>
          <a:bodyPr wrap="square">
            <a:spAutoFit/>
          </a:bodyPr>
          <a:lstStyle/>
          <a:p>
            <a:r>
              <a:rPr lang="en-US" b="0" i="0" dirty="0">
                <a:solidFill>
                  <a:srgbClr val="242424"/>
                </a:solidFill>
                <a:effectLst/>
                <a:latin typeface="source-serif-pro"/>
              </a:rPr>
              <a:t>It helps in controlling the model’s complexity, reducing overfitting, and improving computational efficiency by reducing the number of parameters </a:t>
            </a:r>
            <a:r>
              <a:rPr lang="en-IN" dirty="0"/>
              <a:t>while retaining essential information.</a:t>
            </a:r>
          </a:p>
        </p:txBody>
      </p:sp>
      <p:sp>
        <p:nvSpPr>
          <p:cNvPr id="9" name="TextBox 8">
            <a:extLst>
              <a:ext uri="{FF2B5EF4-FFF2-40B4-BE49-F238E27FC236}">
                <a16:creationId xmlns:a16="http://schemas.microsoft.com/office/drawing/2014/main" id="{6CA627EC-7AD8-5531-600F-90CDE126F0F4}"/>
              </a:ext>
            </a:extLst>
          </p:cNvPr>
          <p:cNvSpPr txBox="1"/>
          <p:nvPr/>
        </p:nvSpPr>
        <p:spPr>
          <a:xfrm>
            <a:off x="838200" y="4243983"/>
            <a:ext cx="6096000" cy="326371"/>
          </a:xfrm>
          <a:prstGeom prst="rect">
            <a:avLst/>
          </a:prstGeom>
          <a:noFill/>
        </p:spPr>
        <p:txBody>
          <a:bodyPr wrap="square">
            <a:spAutoFit/>
          </a:bodyPr>
          <a:lstStyle/>
          <a:p>
            <a:pPr algn="l">
              <a:lnSpc>
                <a:spcPts val="1800"/>
              </a:lnSpc>
              <a:buNone/>
            </a:pPr>
            <a:r>
              <a:rPr lang="en-IN" b="1" i="0" dirty="0">
                <a:solidFill>
                  <a:srgbClr val="242424"/>
                </a:solidFill>
                <a:effectLst/>
                <a:latin typeface="sohne"/>
              </a:rPr>
              <a:t>Types of Pooling Layers:</a:t>
            </a:r>
          </a:p>
        </p:txBody>
      </p:sp>
      <p:sp>
        <p:nvSpPr>
          <p:cNvPr id="11" name="TextBox 10">
            <a:extLst>
              <a:ext uri="{FF2B5EF4-FFF2-40B4-BE49-F238E27FC236}">
                <a16:creationId xmlns:a16="http://schemas.microsoft.com/office/drawing/2014/main" id="{8DCD5875-8ABE-06A4-7330-6104FC41D73E}"/>
              </a:ext>
            </a:extLst>
          </p:cNvPr>
          <p:cNvSpPr txBox="1"/>
          <p:nvPr/>
        </p:nvSpPr>
        <p:spPr>
          <a:xfrm>
            <a:off x="838200" y="4737677"/>
            <a:ext cx="6096000" cy="326371"/>
          </a:xfrm>
          <a:prstGeom prst="rect">
            <a:avLst/>
          </a:prstGeom>
          <a:noFill/>
        </p:spPr>
        <p:txBody>
          <a:bodyPr wrap="square">
            <a:spAutoFit/>
          </a:bodyPr>
          <a:lstStyle/>
          <a:p>
            <a:pPr algn="l">
              <a:lnSpc>
                <a:spcPts val="1800"/>
              </a:lnSpc>
              <a:buNone/>
            </a:pPr>
            <a:r>
              <a:rPr lang="en-IN" i="0" dirty="0">
                <a:solidFill>
                  <a:srgbClr val="242424"/>
                </a:solidFill>
                <a:effectLst/>
                <a:latin typeface="sohne"/>
              </a:rPr>
              <a:t>1. Max Pooling</a:t>
            </a:r>
          </a:p>
        </p:txBody>
      </p:sp>
      <p:sp>
        <p:nvSpPr>
          <p:cNvPr id="13" name="TextBox 12">
            <a:extLst>
              <a:ext uri="{FF2B5EF4-FFF2-40B4-BE49-F238E27FC236}">
                <a16:creationId xmlns:a16="http://schemas.microsoft.com/office/drawing/2014/main" id="{2A628CCA-1804-EB03-5C0A-9BB9E5976505}"/>
              </a:ext>
            </a:extLst>
          </p:cNvPr>
          <p:cNvSpPr txBox="1"/>
          <p:nvPr/>
        </p:nvSpPr>
        <p:spPr>
          <a:xfrm>
            <a:off x="838200" y="5064048"/>
            <a:ext cx="6096000" cy="374461"/>
          </a:xfrm>
          <a:prstGeom prst="rect">
            <a:avLst/>
          </a:prstGeom>
          <a:noFill/>
        </p:spPr>
        <p:txBody>
          <a:bodyPr wrap="square">
            <a:spAutoFit/>
          </a:bodyPr>
          <a:lstStyle/>
          <a:p>
            <a:pPr algn="l">
              <a:lnSpc>
                <a:spcPts val="2250"/>
              </a:lnSpc>
              <a:buNone/>
            </a:pPr>
            <a:r>
              <a:rPr lang="en-IN" i="0" dirty="0">
                <a:solidFill>
                  <a:srgbClr val="242424"/>
                </a:solidFill>
                <a:effectLst/>
                <a:latin typeface="sohne"/>
              </a:rPr>
              <a:t>2. Average Pooling</a:t>
            </a:r>
          </a:p>
        </p:txBody>
      </p:sp>
      <p:sp>
        <p:nvSpPr>
          <p:cNvPr id="15" name="TextBox 14">
            <a:extLst>
              <a:ext uri="{FF2B5EF4-FFF2-40B4-BE49-F238E27FC236}">
                <a16:creationId xmlns:a16="http://schemas.microsoft.com/office/drawing/2014/main" id="{DEB32C5A-049A-BD3B-E243-2C1025EE48B0}"/>
              </a:ext>
            </a:extLst>
          </p:cNvPr>
          <p:cNvSpPr txBox="1"/>
          <p:nvPr/>
        </p:nvSpPr>
        <p:spPr>
          <a:xfrm>
            <a:off x="838200" y="5438509"/>
            <a:ext cx="6096000" cy="374461"/>
          </a:xfrm>
          <a:prstGeom prst="rect">
            <a:avLst/>
          </a:prstGeom>
          <a:noFill/>
        </p:spPr>
        <p:txBody>
          <a:bodyPr wrap="square">
            <a:spAutoFit/>
          </a:bodyPr>
          <a:lstStyle/>
          <a:p>
            <a:pPr algn="l">
              <a:lnSpc>
                <a:spcPts val="2250"/>
              </a:lnSpc>
              <a:buNone/>
            </a:pPr>
            <a:r>
              <a:rPr lang="en-IN" i="0" dirty="0">
                <a:solidFill>
                  <a:srgbClr val="242424"/>
                </a:solidFill>
                <a:effectLst/>
                <a:latin typeface="sohne"/>
              </a:rPr>
              <a:t>3. Global Pooling</a:t>
            </a:r>
          </a:p>
        </p:txBody>
      </p:sp>
      <p:pic>
        <p:nvPicPr>
          <p:cNvPr id="9218" name="Picture 2" descr="Convolution Neural Network for image classification — Research Computing  and Data Workshop">
            <a:extLst>
              <a:ext uri="{FF2B5EF4-FFF2-40B4-BE49-F238E27FC236}">
                <a16:creationId xmlns:a16="http://schemas.microsoft.com/office/drawing/2014/main" id="{C1042923-2252-8FE4-8CBB-C9B32349DE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4297" y="365126"/>
            <a:ext cx="3399503" cy="287952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359BF9A5-F543-BA4B-CAFB-5EC3C8888490}"/>
              </a:ext>
            </a:extLst>
          </p:cNvPr>
          <p:cNvPicPr>
            <a:picLocks noChangeAspect="1"/>
          </p:cNvPicPr>
          <p:nvPr/>
        </p:nvPicPr>
        <p:blipFill>
          <a:blip r:embed="rId3"/>
          <a:stretch>
            <a:fillRect/>
          </a:stretch>
        </p:blipFill>
        <p:spPr>
          <a:xfrm>
            <a:off x="3647769" y="4031209"/>
            <a:ext cx="4306528" cy="2310597"/>
          </a:xfrm>
          <a:prstGeom prst="rect">
            <a:avLst/>
          </a:prstGeom>
        </p:spPr>
      </p:pic>
      <p:pic>
        <p:nvPicPr>
          <p:cNvPr id="19" name="Picture 18">
            <a:extLst>
              <a:ext uri="{FF2B5EF4-FFF2-40B4-BE49-F238E27FC236}">
                <a16:creationId xmlns:a16="http://schemas.microsoft.com/office/drawing/2014/main" id="{2D1ADC1A-6C52-F09F-334F-3A344E4B20C5}"/>
              </a:ext>
            </a:extLst>
          </p:cNvPr>
          <p:cNvPicPr>
            <a:picLocks noChangeAspect="1"/>
          </p:cNvPicPr>
          <p:nvPr/>
        </p:nvPicPr>
        <p:blipFill>
          <a:blip r:embed="rId4"/>
          <a:stretch>
            <a:fillRect/>
          </a:stretch>
        </p:blipFill>
        <p:spPr>
          <a:xfrm>
            <a:off x="7954297" y="4031209"/>
            <a:ext cx="3952567" cy="2310597"/>
          </a:xfrm>
          <a:prstGeom prst="rect">
            <a:avLst/>
          </a:prstGeom>
        </p:spPr>
      </p:pic>
    </p:spTree>
    <p:extLst>
      <p:ext uri="{BB962C8B-B14F-4D97-AF65-F5344CB8AC3E}">
        <p14:creationId xmlns:p14="http://schemas.microsoft.com/office/powerpoint/2010/main" val="2478153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2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1" grpId="0"/>
      <p:bldP spid="13" grpId="0"/>
      <p:bldP spid="1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Deep Learning 101: Lesson 21: Pooling Layers in CNNs | by ...">
            <a:extLst>
              <a:ext uri="{FF2B5EF4-FFF2-40B4-BE49-F238E27FC236}">
                <a16:creationId xmlns:a16="http://schemas.microsoft.com/office/drawing/2014/main" id="{3359ED4D-6A87-32D8-A7F3-D6D7E0BF47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199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1707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0FBBA-B925-B720-8715-FD0D35074AD9}"/>
              </a:ext>
            </a:extLst>
          </p:cNvPr>
          <p:cNvSpPr>
            <a:spLocks noGrp="1"/>
          </p:cNvSpPr>
          <p:nvPr>
            <p:ph type="title"/>
          </p:nvPr>
        </p:nvSpPr>
        <p:spPr/>
        <p:txBody>
          <a:bodyPr/>
          <a:lstStyle/>
          <a:p>
            <a:r>
              <a:rPr lang="en-US" dirty="0"/>
              <a:t>Fully-Connected Layer</a:t>
            </a:r>
            <a:endParaRPr lang="en-IN" dirty="0"/>
          </a:p>
        </p:txBody>
      </p:sp>
      <p:sp>
        <p:nvSpPr>
          <p:cNvPr id="5" name="TextBox 4">
            <a:extLst>
              <a:ext uri="{FF2B5EF4-FFF2-40B4-BE49-F238E27FC236}">
                <a16:creationId xmlns:a16="http://schemas.microsoft.com/office/drawing/2014/main" id="{4E86E5EB-0675-1CBE-46F7-78AF2E41461B}"/>
              </a:ext>
            </a:extLst>
          </p:cNvPr>
          <p:cNvSpPr txBox="1"/>
          <p:nvPr/>
        </p:nvSpPr>
        <p:spPr>
          <a:xfrm>
            <a:off x="838200" y="1690688"/>
            <a:ext cx="10515600" cy="923330"/>
          </a:xfrm>
          <a:prstGeom prst="rect">
            <a:avLst/>
          </a:prstGeom>
          <a:noFill/>
        </p:spPr>
        <p:txBody>
          <a:bodyPr wrap="square">
            <a:spAutoFit/>
          </a:bodyPr>
          <a:lstStyle/>
          <a:p>
            <a:r>
              <a:rPr lang="en-US" dirty="0"/>
              <a:t>The fully-connected layer contains neurons of which are directly connected to the neurons in the two adjacent layers, without being connected to any layers within them. This is analogous to way that neurons are arranged in traditional forms of ANN. </a:t>
            </a:r>
            <a:endParaRPr lang="en-IN" dirty="0"/>
          </a:p>
        </p:txBody>
      </p:sp>
      <p:pic>
        <p:nvPicPr>
          <p:cNvPr id="7" name="Picture 6">
            <a:extLst>
              <a:ext uri="{FF2B5EF4-FFF2-40B4-BE49-F238E27FC236}">
                <a16:creationId xmlns:a16="http://schemas.microsoft.com/office/drawing/2014/main" id="{EA53C264-237C-817F-98E2-416C45FE6C56}"/>
              </a:ext>
            </a:extLst>
          </p:cNvPr>
          <p:cNvPicPr>
            <a:picLocks noChangeAspect="1"/>
          </p:cNvPicPr>
          <p:nvPr/>
        </p:nvPicPr>
        <p:blipFill>
          <a:blip r:embed="rId2"/>
          <a:stretch>
            <a:fillRect/>
          </a:stretch>
        </p:blipFill>
        <p:spPr>
          <a:xfrm>
            <a:off x="1656773" y="2815712"/>
            <a:ext cx="8268854" cy="3677163"/>
          </a:xfrm>
          <a:prstGeom prst="rect">
            <a:avLst/>
          </a:prstGeom>
        </p:spPr>
      </p:pic>
    </p:spTree>
    <p:extLst>
      <p:ext uri="{BB962C8B-B14F-4D97-AF65-F5344CB8AC3E}">
        <p14:creationId xmlns:p14="http://schemas.microsoft.com/office/powerpoint/2010/main" val="1188094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D1C8A-7BD9-00A8-5FAA-D52A55716A66}"/>
              </a:ext>
            </a:extLst>
          </p:cNvPr>
          <p:cNvSpPr>
            <a:spLocks noGrp="1"/>
          </p:cNvSpPr>
          <p:nvPr>
            <p:ph type="title"/>
          </p:nvPr>
        </p:nvSpPr>
        <p:spPr/>
        <p:txBody>
          <a:bodyPr/>
          <a:lstStyle/>
          <a:p>
            <a:r>
              <a:rPr lang="en-US" dirty="0"/>
              <a:t>Padding and Strides</a:t>
            </a:r>
            <a:endParaRPr lang="en-IN" dirty="0"/>
          </a:p>
        </p:txBody>
      </p:sp>
      <p:sp>
        <p:nvSpPr>
          <p:cNvPr id="5" name="TextBox 4">
            <a:extLst>
              <a:ext uri="{FF2B5EF4-FFF2-40B4-BE49-F238E27FC236}">
                <a16:creationId xmlns:a16="http://schemas.microsoft.com/office/drawing/2014/main" id="{A7FF3069-9045-900D-612B-6D676F09CFBF}"/>
              </a:ext>
            </a:extLst>
          </p:cNvPr>
          <p:cNvSpPr txBox="1"/>
          <p:nvPr/>
        </p:nvSpPr>
        <p:spPr>
          <a:xfrm>
            <a:off x="838200" y="1690688"/>
            <a:ext cx="6083710" cy="1200329"/>
          </a:xfrm>
          <a:prstGeom prst="rect">
            <a:avLst/>
          </a:prstGeom>
          <a:noFill/>
        </p:spPr>
        <p:txBody>
          <a:bodyPr wrap="square">
            <a:spAutoFit/>
          </a:bodyPr>
          <a:lstStyle/>
          <a:p>
            <a:r>
              <a:rPr lang="en-US" b="0" i="0" dirty="0">
                <a:solidFill>
                  <a:srgbClr val="242424"/>
                </a:solidFill>
                <a:effectLst/>
                <a:latin typeface="source-serif-pro"/>
              </a:rPr>
              <a:t>In Convolutional Neural Networks (CNNs), </a:t>
            </a:r>
            <a:r>
              <a:rPr lang="en-US" b="1" i="0" dirty="0">
                <a:solidFill>
                  <a:srgbClr val="242424"/>
                </a:solidFill>
                <a:effectLst/>
                <a:latin typeface="source-serif-pro"/>
              </a:rPr>
              <a:t>padding</a:t>
            </a:r>
            <a:r>
              <a:rPr lang="en-US" b="0" i="0" dirty="0">
                <a:solidFill>
                  <a:srgbClr val="242424"/>
                </a:solidFill>
                <a:effectLst/>
                <a:latin typeface="source-serif-pro"/>
              </a:rPr>
              <a:t> and </a:t>
            </a:r>
            <a:r>
              <a:rPr lang="en-US" b="1" i="0" dirty="0">
                <a:solidFill>
                  <a:srgbClr val="242424"/>
                </a:solidFill>
                <a:effectLst/>
                <a:latin typeface="source-serif-pro"/>
              </a:rPr>
              <a:t>strides</a:t>
            </a:r>
            <a:r>
              <a:rPr lang="en-US" b="0" i="0" dirty="0">
                <a:solidFill>
                  <a:srgbClr val="242424"/>
                </a:solidFill>
                <a:effectLst/>
                <a:latin typeface="source-serif-pro"/>
              </a:rPr>
              <a:t> are important concepts that determine how the convolution operation is applied to an input, affecting the output size and how features are extracted.</a:t>
            </a:r>
            <a:endParaRPr lang="en-IN" dirty="0"/>
          </a:p>
        </p:txBody>
      </p:sp>
      <p:sp>
        <p:nvSpPr>
          <p:cNvPr id="7" name="TextBox 6">
            <a:extLst>
              <a:ext uri="{FF2B5EF4-FFF2-40B4-BE49-F238E27FC236}">
                <a16:creationId xmlns:a16="http://schemas.microsoft.com/office/drawing/2014/main" id="{6BFA1181-3DB8-F1BB-3B48-32D6029F4B0C}"/>
              </a:ext>
            </a:extLst>
          </p:cNvPr>
          <p:cNvSpPr txBox="1"/>
          <p:nvPr/>
        </p:nvSpPr>
        <p:spPr>
          <a:xfrm>
            <a:off x="825910" y="3320653"/>
            <a:ext cx="6096000" cy="646331"/>
          </a:xfrm>
          <a:prstGeom prst="rect">
            <a:avLst/>
          </a:prstGeom>
          <a:noFill/>
        </p:spPr>
        <p:txBody>
          <a:bodyPr wrap="square">
            <a:spAutoFit/>
          </a:bodyPr>
          <a:lstStyle/>
          <a:p>
            <a:r>
              <a:rPr lang="en-US" b="0" i="0" dirty="0">
                <a:solidFill>
                  <a:srgbClr val="242424"/>
                </a:solidFill>
                <a:effectLst/>
                <a:latin typeface="source-serif-pro"/>
              </a:rPr>
              <a:t>Padding refers to the process of adding extra pixels (usually zeros) around the border of the input image.</a:t>
            </a:r>
            <a:endParaRPr lang="en-IN" dirty="0"/>
          </a:p>
        </p:txBody>
      </p:sp>
      <p:sp>
        <p:nvSpPr>
          <p:cNvPr id="9" name="TextBox 8">
            <a:extLst>
              <a:ext uri="{FF2B5EF4-FFF2-40B4-BE49-F238E27FC236}">
                <a16:creationId xmlns:a16="http://schemas.microsoft.com/office/drawing/2014/main" id="{62F92B78-014B-2A9A-3BB8-BD26CCB962E8}"/>
              </a:ext>
            </a:extLst>
          </p:cNvPr>
          <p:cNvSpPr txBox="1"/>
          <p:nvPr/>
        </p:nvSpPr>
        <p:spPr>
          <a:xfrm>
            <a:off x="825910" y="4396620"/>
            <a:ext cx="6096000" cy="646331"/>
          </a:xfrm>
          <a:prstGeom prst="rect">
            <a:avLst/>
          </a:prstGeom>
          <a:noFill/>
        </p:spPr>
        <p:txBody>
          <a:bodyPr wrap="square">
            <a:spAutoFit/>
          </a:bodyPr>
          <a:lstStyle/>
          <a:p>
            <a:r>
              <a:rPr lang="en-US" dirty="0">
                <a:solidFill>
                  <a:srgbClr val="242424"/>
                </a:solidFill>
                <a:latin typeface="source-serif-pro"/>
              </a:rPr>
              <a:t>S</a:t>
            </a:r>
            <a:r>
              <a:rPr lang="en-US" b="0" i="0" dirty="0">
                <a:solidFill>
                  <a:srgbClr val="242424"/>
                </a:solidFill>
                <a:effectLst/>
                <a:latin typeface="source-serif-pro"/>
              </a:rPr>
              <a:t>trides refer to the number of pixels by which the filter (or kernel) moves or slides across the input image.</a:t>
            </a:r>
            <a:endParaRPr lang="en-IN" dirty="0"/>
          </a:p>
        </p:txBody>
      </p:sp>
      <p:pic>
        <p:nvPicPr>
          <p:cNvPr id="11" name="Picture 10">
            <a:extLst>
              <a:ext uri="{FF2B5EF4-FFF2-40B4-BE49-F238E27FC236}">
                <a16:creationId xmlns:a16="http://schemas.microsoft.com/office/drawing/2014/main" id="{BDA21408-ABFD-41D4-4EB1-5CD06EF62428}"/>
              </a:ext>
            </a:extLst>
          </p:cNvPr>
          <p:cNvPicPr>
            <a:picLocks noChangeAspect="1"/>
          </p:cNvPicPr>
          <p:nvPr/>
        </p:nvPicPr>
        <p:blipFill>
          <a:blip r:embed="rId2"/>
          <a:stretch>
            <a:fillRect/>
          </a:stretch>
        </p:blipFill>
        <p:spPr>
          <a:xfrm>
            <a:off x="6921910" y="0"/>
            <a:ext cx="5270090" cy="2320413"/>
          </a:xfrm>
          <a:prstGeom prst="rect">
            <a:avLst/>
          </a:prstGeom>
        </p:spPr>
      </p:pic>
      <p:pic>
        <p:nvPicPr>
          <p:cNvPr id="13" name="Picture 12">
            <a:extLst>
              <a:ext uri="{FF2B5EF4-FFF2-40B4-BE49-F238E27FC236}">
                <a16:creationId xmlns:a16="http://schemas.microsoft.com/office/drawing/2014/main" id="{0EA583A9-FCBC-4358-F1EA-E2D5EFF14E60}"/>
              </a:ext>
            </a:extLst>
          </p:cNvPr>
          <p:cNvPicPr>
            <a:picLocks noChangeAspect="1"/>
          </p:cNvPicPr>
          <p:nvPr/>
        </p:nvPicPr>
        <p:blipFill>
          <a:blip r:embed="rId3"/>
          <a:stretch>
            <a:fillRect/>
          </a:stretch>
        </p:blipFill>
        <p:spPr>
          <a:xfrm>
            <a:off x="6921910" y="1950046"/>
            <a:ext cx="5270090" cy="2713703"/>
          </a:xfrm>
          <a:prstGeom prst="rect">
            <a:avLst/>
          </a:prstGeom>
        </p:spPr>
      </p:pic>
      <p:pic>
        <p:nvPicPr>
          <p:cNvPr id="15" name="Picture 14">
            <a:extLst>
              <a:ext uri="{FF2B5EF4-FFF2-40B4-BE49-F238E27FC236}">
                <a16:creationId xmlns:a16="http://schemas.microsoft.com/office/drawing/2014/main" id="{3B1E066E-288C-654E-4FFC-9316F5EA58AC}"/>
              </a:ext>
            </a:extLst>
          </p:cNvPr>
          <p:cNvPicPr>
            <a:picLocks noChangeAspect="1"/>
          </p:cNvPicPr>
          <p:nvPr/>
        </p:nvPicPr>
        <p:blipFill>
          <a:blip r:embed="rId4"/>
          <a:stretch>
            <a:fillRect/>
          </a:stretch>
        </p:blipFill>
        <p:spPr>
          <a:xfrm>
            <a:off x="7374194" y="4144297"/>
            <a:ext cx="4817806" cy="2713703"/>
          </a:xfrm>
          <a:prstGeom prst="rect">
            <a:avLst/>
          </a:prstGeom>
        </p:spPr>
      </p:pic>
    </p:spTree>
    <p:extLst>
      <p:ext uri="{BB962C8B-B14F-4D97-AF65-F5344CB8AC3E}">
        <p14:creationId xmlns:p14="http://schemas.microsoft.com/office/powerpoint/2010/main" val="2177021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6E0F3-A7F6-C076-4CDC-2BD911E05C7D}"/>
              </a:ext>
            </a:extLst>
          </p:cNvPr>
          <p:cNvSpPr>
            <a:spLocks noGrp="1"/>
          </p:cNvSpPr>
          <p:nvPr>
            <p:ph type="title"/>
          </p:nvPr>
        </p:nvSpPr>
        <p:spPr/>
        <p:txBody>
          <a:bodyPr/>
          <a:lstStyle/>
          <a:p>
            <a:r>
              <a:rPr lang="en-US" dirty="0"/>
              <a:t>Dropout</a:t>
            </a:r>
            <a:endParaRPr lang="en-IN" dirty="0"/>
          </a:p>
        </p:txBody>
      </p:sp>
      <p:sp>
        <p:nvSpPr>
          <p:cNvPr id="6" name="TextBox 5">
            <a:extLst>
              <a:ext uri="{FF2B5EF4-FFF2-40B4-BE49-F238E27FC236}">
                <a16:creationId xmlns:a16="http://schemas.microsoft.com/office/drawing/2014/main" id="{83942F6C-9D66-B2E7-EE7A-F86BBBE2D7AA}"/>
              </a:ext>
            </a:extLst>
          </p:cNvPr>
          <p:cNvSpPr txBox="1"/>
          <p:nvPr/>
        </p:nvSpPr>
        <p:spPr>
          <a:xfrm>
            <a:off x="838199" y="1690688"/>
            <a:ext cx="10950677" cy="646331"/>
          </a:xfrm>
          <a:prstGeom prst="rect">
            <a:avLst/>
          </a:prstGeom>
          <a:noFill/>
        </p:spPr>
        <p:txBody>
          <a:bodyPr wrap="square">
            <a:spAutoFit/>
          </a:bodyPr>
          <a:lstStyle/>
          <a:p>
            <a:r>
              <a:rPr lang="en-US" b="0" i="0" dirty="0">
                <a:solidFill>
                  <a:srgbClr val="242424"/>
                </a:solidFill>
                <a:effectLst/>
                <a:latin typeface="source-serif-pro"/>
              </a:rPr>
              <a:t>Dropout is a regularization technique used in deep learning models, particularly Convolutional Neural Networks (CNNs), to prevent overfitting.</a:t>
            </a:r>
            <a:endParaRPr lang="en-IN" dirty="0"/>
          </a:p>
        </p:txBody>
      </p:sp>
      <p:sp>
        <p:nvSpPr>
          <p:cNvPr id="8" name="TextBox 7">
            <a:extLst>
              <a:ext uri="{FF2B5EF4-FFF2-40B4-BE49-F238E27FC236}">
                <a16:creationId xmlns:a16="http://schemas.microsoft.com/office/drawing/2014/main" id="{9B54D5BD-94EC-192F-173E-7C8E3979E375}"/>
              </a:ext>
            </a:extLst>
          </p:cNvPr>
          <p:cNvSpPr txBox="1"/>
          <p:nvPr/>
        </p:nvSpPr>
        <p:spPr>
          <a:xfrm>
            <a:off x="838198" y="2456820"/>
            <a:ext cx="10515599" cy="923330"/>
          </a:xfrm>
          <a:prstGeom prst="rect">
            <a:avLst/>
          </a:prstGeom>
          <a:noFill/>
        </p:spPr>
        <p:txBody>
          <a:bodyPr wrap="square">
            <a:spAutoFit/>
          </a:bodyPr>
          <a:lstStyle/>
          <a:p>
            <a:r>
              <a:rPr lang="en-US" b="0" i="0" dirty="0">
                <a:solidFill>
                  <a:srgbClr val="242424"/>
                </a:solidFill>
                <a:effectLst/>
                <a:latin typeface="source-serif-pro"/>
              </a:rPr>
              <a:t>Overfitting occurs when a model performs well on the training data but fails to generalize to new, unseen data. Dropout addresses this issue by randomly “dropping out” (setting to zero) a fraction of neurons during training, forcing the network to learn more robust and generalizable features.</a:t>
            </a:r>
            <a:endParaRPr lang="en-IN" dirty="0"/>
          </a:p>
        </p:txBody>
      </p:sp>
      <p:sp>
        <p:nvSpPr>
          <p:cNvPr id="10" name="TextBox 9">
            <a:extLst>
              <a:ext uri="{FF2B5EF4-FFF2-40B4-BE49-F238E27FC236}">
                <a16:creationId xmlns:a16="http://schemas.microsoft.com/office/drawing/2014/main" id="{F6E14D86-12FF-0FB7-03D8-5EED646F0EA2}"/>
              </a:ext>
            </a:extLst>
          </p:cNvPr>
          <p:cNvSpPr txBox="1"/>
          <p:nvPr/>
        </p:nvSpPr>
        <p:spPr>
          <a:xfrm>
            <a:off x="838197" y="3546117"/>
            <a:ext cx="10515599" cy="646331"/>
          </a:xfrm>
          <a:prstGeom prst="rect">
            <a:avLst/>
          </a:prstGeom>
          <a:noFill/>
        </p:spPr>
        <p:txBody>
          <a:bodyPr wrap="square">
            <a:spAutoFit/>
          </a:bodyPr>
          <a:lstStyle/>
          <a:p>
            <a:r>
              <a:rPr lang="en-US" b="0" i="0" dirty="0">
                <a:solidFill>
                  <a:srgbClr val="242424"/>
                </a:solidFill>
                <a:effectLst/>
                <a:latin typeface="source-serif-pro"/>
              </a:rPr>
              <a:t>In CNNs, dropout is typically applied after fully connected (dense) layers, but it can also be used after convolutional layers. It helps prevent the model from memorizing specific features in the training data.</a:t>
            </a:r>
            <a:endParaRPr lang="en-IN" dirty="0"/>
          </a:p>
        </p:txBody>
      </p:sp>
      <p:pic>
        <p:nvPicPr>
          <p:cNvPr id="12" name="Picture 11">
            <a:extLst>
              <a:ext uri="{FF2B5EF4-FFF2-40B4-BE49-F238E27FC236}">
                <a16:creationId xmlns:a16="http://schemas.microsoft.com/office/drawing/2014/main" id="{03FCCBC0-F93B-56F6-B4AF-3170B107FBAD}"/>
              </a:ext>
            </a:extLst>
          </p:cNvPr>
          <p:cNvPicPr>
            <a:picLocks noChangeAspect="1"/>
          </p:cNvPicPr>
          <p:nvPr/>
        </p:nvPicPr>
        <p:blipFill>
          <a:blip r:embed="rId2"/>
          <a:stretch>
            <a:fillRect/>
          </a:stretch>
        </p:blipFill>
        <p:spPr>
          <a:xfrm>
            <a:off x="1756390" y="4146281"/>
            <a:ext cx="1855624" cy="2711719"/>
          </a:xfrm>
          <a:prstGeom prst="rect">
            <a:avLst/>
          </a:prstGeom>
        </p:spPr>
      </p:pic>
      <p:sp>
        <p:nvSpPr>
          <p:cNvPr id="14" name="TextBox 13">
            <a:extLst>
              <a:ext uri="{FF2B5EF4-FFF2-40B4-BE49-F238E27FC236}">
                <a16:creationId xmlns:a16="http://schemas.microsoft.com/office/drawing/2014/main" id="{78922AF7-99DD-0785-C8D2-1474F5FEE0ED}"/>
              </a:ext>
            </a:extLst>
          </p:cNvPr>
          <p:cNvSpPr txBox="1"/>
          <p:nvPr/>
        </p:nvSpPr>
        <p:spPr>
          <a:xfrm>
            <a:off x="5083278" y="4912413"/>
            <a:ext cx="6096000" cy="646331"/>
          </a:xfrm>
          <a:prstGeom prst="rect">
            <a:avLst/>
          </a:prstGeom>
          <a:noFill/>
        </p:spPr>
        <p:txBody>
          <a:bodyPr wrap="square">
            <a:spAutoFit/>
          </a:bodyPr>
          <a:lstStyle/>
          <a:p>
            <a:r>
              <a:rPr lang="en-US" b="0" i="0" dirty="0">
                <a:solidFill>
                  <a:srgbClr val="242424"/>
                </a:solidFill>
                <a:effectLst/>
                <a:latin typeface="source-serif-pro"/>
              </a:rPr>
              <a:t> Common dropout rates range from 0.2 to 0.5 means </a:t>
            </a:r>
            <a:r>
              <a:rPr lang="en-US" dirty="0"/>
              <a:t>that 20% to 50% of the neurons are deactivated at each training step.</a:t>
            </a:r>
            <a:r>
              <a:rPr lang="en-US" b="0" i="0" dirty="0">
                <a:solidFill>
                  <a:srgbClr val="242424"/>
                </a:solidFill>
                <a:effectLst/>
                <a:latin typeface="source-serif-pro"/>
              </a:rPr>
              <a:t> </a:t>
            </a:r>
            <a:endParaRPr lang="en-IN" dirty="0"/>
          </a:p>
        </p:txBody>
      </p:sp>
    </p:spTree>
    <p:extLst>
      <p:ext uri="{BB962C8B-B14F-4D97-AF65-F5344CB8AC3E}">
        <p14:creationId xmlns:p14="http://schemas.microsoft.com/office/powerpoint/2010/main" val="2314689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8" grpId="0"/>
      <p:bldP spid="10" grpId="0"/>
      <p:bldP spid="1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EE5B8-09D3-0969-601C-4CC6A32F52D5}"/>
              </a:ext>
            </a:extLst>
          </p:cNvPr>
          <p:cNvSpPr>
            <a:spLocks noGrp="1"/>
          </p:cNvSpPr>
          <p:nvPr>
            <p:ph type="title"/>
          </p:nvPr>
        </p:nvSpPr>
        <p:spPr/>
        <p:txBody>
          <a:bodyPr/>
          <a:lstStyle/>
          <a:p>
            <a:r>
              <a:rPr lang="en-US" dirty="0"/>
              <a:t>Overall Architecture</a:t>
            </a:r>
            <a:endParaRPr lang="en-IN" dirty="0"/>
          </a:p>
        </p:txBody>
      </p:sp>
      <p:pic>
        <p:nvPicPr>
          <p:cNvPr id="5" name="Picture 4">
            <a:extLst>
              <a:ext uri="{FF2B5EF4-FFF2-40B4-BE49-F238E27FC236}">
                <a16:creationId xmlns:a16="http://schemas.microsoft.com/office/drawing/2014/main" id="{B97FCEA0-AADF-8DCE-0A20-AA7DAC67D10D}"/>
              </a:ext>
            </a:extLst>
          </p:cNvPr>
          <p:cNvPicPr>
            <a:picLocks noChangeAspect="1"/>
          </p:cNvPicPr>
          <p:nvPr/>
        </p:nvPicPr>
        <p:blipFill>
          <a:blip r:embed="rId2"/>
          <a:stretch>
            <a:fillRect/>
          </a:stretch>
        </p:blipFill>
        <p:spPr>
          <a:xfrm>
            <a:off x="838200" y="2581156"/>
            <a:ext cx="1219370" cy="1695687"/>
          </a:xfrm>
          <a:prstGeom prst="rect">
            <a:avLst/>
          </a:prstGeom>
        </p:spPr>
      </p:pic>
      <p:pic>
        <p:nvPicPr>
          <p:cNvPr id="7" name="Picture 6">
            <a:extLst>
              <a:ext uri="{FF2B5EF4-FFF2-40B4-BE49-F238E27FC236}">
                <a16:creationId xmlns:a16="http://schemas.microsoft.com/office/drawing/2014/main" id="{602BEF3A-3CA0-6B5F-A276-017859F34DE6}"/>
              </a:ext>
            </a:extLst>
          </p:cNvPr>
          <p:cNvPicPr>
            <a:picLocks noChangeAspect="1"/>
          </p:cNvPicPr>
          <p:nvPr/>
        </p:nvPicPr>
        <p:blipFill>
          <a:blip r:embed="rId3"/>
          <a:stretch>
            <a:fillRect/>
          </a:stretch>
        </p:blipFill>
        <p:spPr>
          <a:xfrm>
            <a:off x="2087641" y="2447786"/>
            <a:ext cx="1771897" cy="1962424"/>
          </a:xfrm>
          <a:prstGeom prst="rect">
            <a:avLst/>
          </a:prstGeom>
        </p:spPr>
      </p:pic>
      <p:pic>
        <p:nvPicPr>
          <p:cNvPr id="9" name="Picture 8">
            <a:extLst>
              <a:ext uri="{FF2B5EF4-FFF2-40B4-BE49-F238E27FC236}">
                <a16:creationId xmlns:a16="http://schemas.microsoft.com/office/drawing/2014/main" id="{9594DA25-089A-CA50-54BA-0A011642D56B}"/>
              </a:ext>
            </a:extLst>
          </p:cNvPr>
          <p:cNvPicPr>
            <a:picLocks noChangeAspect="1"/>
          </p:cNvPicPr>
          <p:nvPr/>
        </p:nvPicPr>
        <p:blipFill>
          <a:blip r:embed="rId4"/>
          <a:stretch>
            <a:fillRect/>
          </a:stretch>
        </p:blipFill>
        <p:spPr>
          <a:xfrm>
            <a:off x="3981731" y="2513234"/>
            <a:ext cx="695422" cy="1800476"/>
          </a:xfrm>
          <a:prstGeom prst="rect">
            <a:avLst/>
          </a:prstGeom>
        </p:spPr>
      </p:pic>
      <p:pic>
        <p:nvPicPr>
          <p:cNvPr id="11" name="Picture 10">
            <a:extLst>
              <a:ext uri="{FF2B5EF4-FFF2-40B4-BE49-F238E27FC236}">
                <a16:creationId xmlns:a16="http://schemas.microsoft.com/office/drawing/2014/main" id="{F130A90C-1DF3-555B-E6B1-625A97260462}"/>
              </a:ext>
            </a:extLst>
          </p:cNvPr>
          <p:cNvPicPr>
            <a:picLocks noChangeAspect="1"/>
          </p:cNvPicPr>
          <p:nvPr/>
        </p:nvPicPr>
        <p:blipFill>
          <a:blip r:embed="rId5"/>
          <a:stretch>
            <a:fillRect/>
          </a:stretch>
        </p:blipFill>
        <p:spPr>
          <a:xfrm>
            <a:off x="4519019" y="2379865"/>
            <a:ext cx="1867161" cy="2067213"/>
          </a:xfrm>
          <a:prstGeom prst="rect">
            <a:avLst/>
          </a:prstGeom>
        </p:spPr>
      </p:pic>
      <p:pic>
        <p:nvPicPr>
          <p:cNvPr id="12" name="Picture 11">
            <a:extLst>
              <a:ext uri="{FF2B5EF4-FFF2-40B4-BE49-F238E27FC236}">
                <a16:creationId xmlns:a16="http://schemas.microsoft.com/office/drawing/2014/main" id="{DBD9B5B3-BE3F-8D69-FF42-672553A733CC}"/>
              </a:ext>
            </a:extLst>
          </p:cNvPr>
          <p:cNvPicPr>
            <a:picLocks noChangeAspect="1"/>
          </p:cNvPicPr>
          <p:nvPr/>
        </p:nvPicPr>
        <p:blipFill>
          <a:blip r:embed="rId4"/>
          <a:stretch>
            <a:fillRect/>
          </a:stretch>
        </p:blipFill>
        <p:spPr>
          <a:xfrm>
            <a:off x="6697950" y="2528760"/>
            <a:ext cx="695422" cy="1800476"/>
          </a:xfrm>
          <a:prstGeom prst="rect">
            <a:avLst/>
          </a:prstGeom>
        </p:spPr>
      </p:pic>
      <p:pic>
        <p:nvPicPr>
          <p:cNvPr id="14" name="Picture 13">
            <a:extLst>
              <a:ext uri="{FF2B5EF4-FFF2-40B4-BE49-F238E27FC236}">
                <a16:creationId xmlns:a16="http://schemas.microsoft.com/office/drawing/2014/main" id="{DDB6A586-226D-96CF-CCCF-4326D905A5CD}"/>
              </a:ext>
            </a:extLst>
          </p:cNvPr>
          <p:cNvPicPr>
            <a:picLocks noChangeAspect="1"/>
          </p:cNvPicPr>
          <p:nvPr/>
        </p:nvPicPr>
        <p:blipFill>
          <a:blip r:embed="rId6"/>
          <a:stretch>
            <a:fillRect/>
          </a:stretch>
        </p:blipFill>
        <p:spPr>
          <a:xfrm>
            <a:off x="7373707" y="2165522"/>
            <a:ext cx="1457528" cy="2495898"/>
          </a:xfrm>
          <a:prstGeom prst="rect">
            <a:avLst/>
          </a:prstGeom>
        </p:spPr>
      </p:pic>
      <p:pic>
        <p:nvPicPr>
          <p:cNvPr id="16" name="Picture 15">
            <a:extLst>
              <a:ext uri="{FF2B5EF4-FFF2-40B4-BE49-F238E27FC236}">
                <a16:creationId xmlns:a16="http://schemas.microsoft.com/office/drawing/2014/main" id="{5AFC9225-F182-03DA-138F-F848D9C95B01}"/>
              </a:ext>
            </a:extLst>
          </p:cNvPr>
          <p:cNvPicPr>
            <a:picLocks noChangeAspect="1"/>
          </p:cNvPicPr>
          <p:nvPr/>
        </p:nvPicPr>
        <p:blipFill>
          <a:blip r:embed="rId7"/>
          <a:stretch>
            <a:fillRect/>
          </a:stretch>
        </p:blipFill>
        <p:spPr>
          <a:xfrm>
            <a:off x="8831235" y="2061969"/>
            <a:ext cx="2267266" cy="2734057"/>
          </a:xfrm>
          <a:prstGeom prst="rect">
            <a:avLst/>
          </a:prstGeom>
        </p:spPr>
      </p:pic>
    </p:spTree>
    <p:extLst>
      <p:ext uri="{BB962C8B-B14F-4D97-AF65-F5344CB8AC3E}">
        <p14:creationId xmlns:p14="http://schemas.microsoft.com/office/powerpoint/2010/main" val="1536818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EF06D-607A-55C8-E4E4-45A7D4C4C581}"/>
              </a:ext>
            </a:extLst>
          </p:cNvPr>
          <p:cNvSpPr>
            <a:spLocks noGrp="1"/>
          </p:cNvSpPr>
          <p:nvPr>
            <p:ph type="title"/>
          </p:nvPr>
        </p:nvSpPr>
        <p:spPr/>
        <p:txBody>
          <a:bodyPr/>
          <a:lstStyle/>
          <a:p>
            <a:r>
              <a:rPr lang="en-US" dirty="0"/>
              <a:t>Training</a:t>
            </a:r>
            <a:endParaRPr lang="en-IN" dirty="0"/>
          </a:p>
        </p:txBody>
      </p:sp>
      <p:sp>
        <p:nvSpPr>
          <p:cNvPr id="5" name="TextBox 4">
            <a:extLst>
              <a:ext uri="{FF2B5EF4-FFF2-40B4-BE49-F238E27FC236}">
                <a16:creationId xmlns:a16="http://schemas.microsoft.com/office/drawing/2014/main" id="{4372B825-6EF0-0627-63B7-F1D3CE9BFD22}"/>
              </a:ext>
            </a:extLst>
          </p:cNvPr>
          <p:cNvSpPr txBox="1"/>
          <p:nvPr/>
        </p:nvSpPr>
        <p:spPr>
          <a:xfrm>
            <a:off x="838200" y="1690688"/>
            <a:ext cx="10515600" cy="646331"/>
          </a:xfrm>
          <a:prstGeom prst="rect">
            <a:avLst/>
          </a:prstGeom>
          <a:noFill/>
        </p:spPr>
        <p:txBody>
          <a:bodyPr wrap="square">
            <a:spAutoFit/>
          </a:bodyPr>
          <a:lstStyle/>
          <a:p>
            <a:r>
              <a:rPr lang="en-US" b="0" i="0" dirty="0">
                <a:solidFill>
                  <a:srgbClr val="273239"/>
                </a:solidFill>
                <a:effectLst/>
                <a:latin typeface="Nunito" pitchFamily="2" charset="0"/>
              </a:rPr>
              <a:t>CNNs are trained using a supervised learning approach. This means that the CNN is given a set of labeled training images. The CNN learns to map the input images to their correct labels.</a:t>
            </a:r>
            <a:endParaRPr lang="en-IN" dirty="0"/>
          </a:p>
        </p:txBody>
      </p:sp>
      <p:sp>
        <p:nvSpPr>
          <p:cNvPr id="7" name="TextBox 6">
            <a:extLst>
              <a:ext uri="{FF2B5EF4-FFF2-40B4-BE49-F238E27FC236}">
                <a16:creationId xmlns:a16="http://schemas.microsoft.com/office/drawing/2014/main" id="{2120FBF6-B0CC-B6D4-71AF-40336859ECE7}"/>
              </a:ext>
            </a:extLst>
          </p:cNvPr>
          <p:cNvSpPr txBox="1"/>
          <p:nvPr/>
        </p:nvSpPr>
        <p:spPr>
          <a:xfrm>
            <a:off x="838200" y="2337019"/>
            <a:ext cx="10515600" cy="369332"/>
          </a:xfrm>
          <a:prstGeom prst="rect">
            <a:avLst/>
          </a:prstGeom>
          <a:noFill/>
        </p:spPr>
        <p:txBody>
          <a:bodyPr wrap="square">
            <a:spAutoFit/>
          </a:bodyPr>
          <a:lstStyle/>
          <a:p>
            <a:r>
              <a:rPr lang="en-US" b="0" i="0" dirty="0">
                <a:solidFill>
                  <a:srgbClr val="273239"/>
                </a:solidFill>
                <a:effectLst/>
                <a:latin typeface="Nunito" pitchFamily="2" charset="0"/>
              </a:rPr>
              <a:t>The training process for a CNN involves the following steps:</a:t>
            </a:r>
            <a:endParaRPr lang="en-IN" dirty="0"/>
          </a:p>
        </p:txBody>
      </p:sp>
      <p:sp>
        <p:nvSpPr>
          <p:cNvPr id="9" name="TextBox 8">
            <a:extLst>
              <a:ext uri="{FF2B5EF4-FFF2-40B4-BE49-F238E27FC236}">
                <a16:creationId xmlns:a16="http://schemas.microsoft.com/office/drawing/2014/main" id="{53E92D50-93E9-7D9D-43D5-849478054C76}"/>
              </a:ext>
            </a:extLst>
          </p:cNvPr>
          <p:cNvSpPr txBox="1"/>
          <p:nvPr/>
        </p:nvSpPr>
        <p:spPr>
          <a:xfrm>
            <a:off x="838199" y="2891017"/>
            <a:ext cx="10515599" cy="646331"/>
          </a:xfrm>
          <a:prstGeom prst="rect">
            <a:avLst/>
          </a:prstGeom>
          <a:noFill/>
        </p:spPr>
        <p:txBody>
          <a:bodyPr wrap="square">
            <a:spAutoFit/>
          </a:bodyPr>
          <a:lstStyle/>
          <a:p>
            <a:pPr algn="l" fontAlgn="base">
              <a:spcAft>
                <a:spcPts val="1800"/>
              </a:spcAft>
              <a:buFont typeface="+mj-lt"/>
              <a:buAutoNum type="arabicPeriod"/>
            </a:pPr>
            <a:r>
              <a:rPr lang="en-US" b="1" i="0" dirty="0">
                <a:solidFill>
                  <a:srgbClr val="273239"/>
                </a:solidFill>
                <a:effectLst/>
                <a:latin typeface="Nunito" pitchFamily="2" charset="0"/>
              </a:rPr>
              <a:t>Data Preparation:</a:t>
            </a:r>
            <a:r>
              <a:rPr lang="en-US" b="0" i="0" dirty="0">
                <a:solidFill>
                  <a:srgbClr val="273239"/>
                </a:solidFill>
                <a:effectLst/>
                <a:latin typeface="Nunito" pitchFamily="2" charset="0"/>
              </a:rPr>
              <a:t> The training images are preprocessed to ensure that they are all in the same format and size.</a:t>
            </a:r>
          </a:p>
        </p:txBody>
      </p:sp>
      <p:sp>
        <p:nvSpPr>
          <p:cNvPr id="11" name="TextBox 10">
            <a:extLst>
              <a:ext uri="{FF2B5EF4-FFF2-40B4-BE49-F238E27FC236}">
                <a16:creationId xmlns:a16="http://schemas.microsoft.com/office/drawing/2014/main" id="{7EDFAF0F-566F-8A99-A131-4262908D0755}"/>
              </a:ext>
            </a:extLst>
          </p:cNvPr>
          <p:cNvSpPr txBox="1"/>
          <p:nvPr/>
        </p:nvSpPr>
        <p:spPr>
          <a:xfrm>
            <a:off x="838199" y="3662582"/>
            <a:ext cx="10515598" cy="923330"/>
          </a:xfrm>
          <a:prstGeom prst="rect">
            <a:avLst/>
          </a:prstGeom>
          <a:noFill/>
        </p:spPr>
        <p:txBody>
          <a:bodyPr wrap="square">
            <a:spAutoFit/>
          </a:bodyPr>
          <a:lstStyle/>
          <a:p>
            <a:pPr algn="l" fontAlgn="base">
              <a:spcAft>
                <a:spcPts val="1800"/>
              </a:spcAft>
              <a:buFont typeface="+mj-lt"/>
              <a:buAutoNum type="arabicPeriod" startAt="2"/>
            </a:pPr>
            <a:r>
              <a:rPr lang="en-US" b="1" i="0" dirty="0">
                <a:solidFill>
                  <a:srgbClr val="273239"/>
                </a:solidFill>
                <a:effectLst/>
                <a:latin typeface="Nunito" pitchFamily="2" charset="0"/>
              </a:rPr>
              <a:t>Loss Function:</a:t>
            </a:r>
            <a:r>
              <a:rPr lang="en-US" b="0" i="0" dirty="0">
                <a:solidFill>
                  <a:srgbClr val="273239"/>
                </a:solidFill>
                <a:effectLst/>
                <a:latin typeface="Nunito" pitchFamily="2" charset="0"/>
              </a:rPr>
              <a:t> A loss function is used to measure how well the CNN is performing on the training data. The loss function is typically calculated by taking the difference between the predicted labels and the actual labels of the training images.</a:t>
            </a:r>
          </a:p>
        </p:txBody>
      </p:sp>
      <p:sp>
        <p:nvSpPr>
          <p:cNvPr id="13" name="TextBox 12">
            <a:extLst>
              <a:ext uri="{FF2B5EF4-FFF2-40B4-BE49-F238E27FC236}">
                <a16:creationId xmlns:a16="http://schemas.microsoft.com/office/drawing/2014/main" id="{24F1D83B-B017-A193-9157-F89A2F3258ED}"/>
              </a:ext>
            </a:extLst>
          </p:cNvPr>
          <p:cNvSpPr txBox="1"/>
          <p:nvPr/>
        </p:nvSpPr>
        <p:spPr>
          <a:xfrm>
            <a:off x="838198" y="4737677"/>
            <a:ext cx="10515597" cy="646331"/>
          </a:xfrm>
          <a:prstGeom prst="rect">
            <a:avLst/>
          </a:prstGeom>
          <a:noFill/>
        </p:spPr>
        <p:txBody>
          <a:bodyPr wrap="square">
            <a:spAutoFit/>
          </a:bodyPr>
          <a:lstStyle/>
          <a:p>
            <a:pPr algn="l" fontAlgn="base">
              <a:spcAft>
                <a:spcPts val="1800"/>
              </a:spcAft>
              <a:buFont typeface="+mj-lt"/>
              <a:buAutoNum type="arabicPeriod" startAt="3"/>
            </a:pPr>
            <a:r>
              <a:rPr lang="en-US" b="1" i="0" dirty="0">
                <a:solidFill>
                  <a:srgbClr val="273239"/>
                </a:solidFill>
                <a:effectLst/>
                <a:latin typeface="Nunito" pitchFamily="2" charset="0"/>
              </a:rPr>
              <a:t>Optimizer:</a:t>
            </a:r>
            <a:r>
              <a:rPr lang="en-US" b="0" i="0" dirty="0">
                <a:solidFill>
                  <a:srgbClr val="273239"/>
                </a:solidFill>
                <a:effectLst/>
                <a:latin typeface="Nunito" pitchFamily="2" charset="0"/>
              </a:rPr>
              <a:t> An optimizer is used to update the weights of the CNN in order to minimize the loss function.</a:t>
            </a:r>
          </a:p>
        </p:txBody>
      </p:sp>
      <p:sp>
        <p:nvSpPr>
          <p:cNvPr id="15" name="TextBox 14">
            <a:extLst>
              <a:ext uri="{FF2B5EF4-FFF2-40B4-BE49-F238E27FC236}">
                <a16:creationId xmlns:a16="http://schemas.microsoft.com/office/drawing/2014/main" id="{5C5D03AC-BA8D-6BC6-DA31-94B1481C108F}"/>
              </a:ext>
            </a:extLst>
          </p:cNvPr>
          <p:cNvSpPr txBox="1"/>
          <p:nvPr/>
        </p:nvSpPr>
        <p:spPr>
          <a:xfrm>
            <a:off x="838197" y="5366770"/>
            <a:ext cx="10515597" cy="923330"/>
          </a:xfrm>
          <a:prstGeom prst="rect">
            <a:avLst/>
          </a:prstGeom>
          <a:noFill/>
        </p:spPr>
        <p:txBody>
          <a:bodyPr wrap="square">
            <a:spAutoFit/>
          </a:bodyPr>
          <a:lstStyle/>
          <a:p>
            <a:pPr algn="l" fontAlgn="base">
              <a:spcAft>
                <a:spcPts val="1800"/>
              </a:spcAft>
              <a:buFont typeface="+mj-lt"/>
              <a:buAutoNum type="arabicPeriod" startAt="4"/>
            </a:pPr>
            <a:r>
              <a:rPr lang="en-US" b="1" i="0" dirty="0">
                <a:solidFill>
                  <a:srgbClr val="273239"/>
                </a:solidFill>
                <a:effectLst/>
                <a:latin typeface="Nunito" pitchFamily="2" charset="0"/>
              </a:rPr>
              <a:t>Backpropagation:</a:t>
            </a:r>
            <a:r>
              <a:rPr lang="en-US" b="0" i="0" dirty="0">
                <a:solidFill>
                  <a:srgbClr val="273239"/>
                </a:solidFill>
                <a:effectLst/>
                <a:latin typeface="Nunito" pitchFamily="2" charset="0"/>
              </a:rPr>
              <a:t> Backpropagation is a technique used to calculate the gradients of the loss function with respect to the weights of the CNN. The gradients are then used to update the weights of the CNN using the optimizer.</a:t>
            </a:r>
          </a:p>
        </p:txBody>
      </p:sp>
    </p:spTree>
    <p:extLst>
      <p:ext uri="{BB962C8B-B14F-4D97-AF65-F5344CB8AC3E}">
        <p14:creationId xmlns:p14="http://schemas.microsoft.com/office/powerpoint/2010/main" val="1415347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1" grpId="0"/>
      <p:bldP spid="13" grpId="0"/>
      <p:bldP spid="1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73B79-92A3-9D50-B57D-594A28FFCCAB}"/>
              </a:ext>
            </a:extLst>
          </p:cNvPr>
          <p:cNvSpPr>
            <a:spLocks noGrp="1"/>
          </p:cNvSpPr>
          <p:nvPr>
            <p:ph type="title"/>
          </p:nvPr>
        </p:nvSpPr>
        <p:spPr>
          <a:xfrm>
            <a:off x="824663" y="19555"/>
            <a:ext cx="10515600" cy="1325563"/>
          </a:xfrm>
        </p:spPr>
        <p:txBody>
          <a:bodyPr/>
          <a:lstStyle/>
          <a:p>
            <a:r>
              <a:rPr lang="en-US" dirty="0"/>
              <a:t>Different CNN Models</a:t>
            </a:r>
            <a:endParaRPr lang="en-IN" dirty="0"/>
          </a:p>
        </p:txBody>
      </p:sp>
      <p:sp>
        <p:nvSpPr>
          <p:cNvPr id="5" name="TextBox 4">
            <a:extLst>
              <a:ext uri="{FF2B5EF4-FFF2-40B4-BE49-F238E27FC236}">
                <a16:creationId xmlns:a16="http://schemas.microsoft.com/office/drawing/2014/main" id="{EB08A0BE-2BFD-E0B5-097D-4CD7C3EADE6F}"/>
              </a:ext>
            </a:extLst>
          </p:cNvPr>
          <p:cNvSpPr txBox="1"/>
          <p:nvPr/>
        </p:nvSpPr>
        <p:spPr>
          <a:xfrm>
            <a:off x="838191" y="1058096"/>
            <a:ext cx="11353800" cy="923330"/>
          </a:xfrm>
          <a:prstGeom prst="rect">
            <a:avLst/>
          </a:prstGeom>
          <a:noFill/>
        </p:spPr>
        <p:txBody>
          <a:bodyPr wrap="square">
            <a:spAutoFit/>
          </a:bodyPr>
          <a:lstStyle/>
          <a:p>
            <a:r>
              <a:rPr lang="en-US" b="1" i="0" dirty="0">
                <a:solidFill>
                  <a:srgbClr val="273239"/>
                </a:solidFill>
                <a:effectLst/>
                <a:latin typeface="Nunito" pitchFamily="2" charset="0"/>
              </a:rPr>
              <a:t>1. LeNet:</a:t>
            </a:r>
            <a:r>
              <a:rPr lang="en-US" dirty="0">
                <a:solidFill>
                  <a:srgbClr val="273239"/>
                </a:solidFill>
                <a:latin typeface="Nunito" pitchFamily="2" charset="0"/>
              </a:rPr>
              <a:t> LeNet</a:t>
            </a:r>
            <a:r>
              <a:rPr lang="en-US" b="0" i="0" dirty="0">
                <a:solidFill>
                  <a:srgbClr val="273239"/>
                </a:solidFill>
                <a:effectLst/>
                <a:latin typeface="Nunito" pitchFamily="2" charset="0"/>
              </a:rPr>
              <a:t> developed by Yann LeCun and his colleagues in the late 1990s was one of the first successful CNNs designed for handwritten digit recognition. It laid the foundation for modern CNNs and achieved high accuracy on the MNIST dataset which contains 70,000 images of handwritten digits (0-9).</a:t>
            </a:r>
            <a:endParaRPr lang="en-IN" dirty="0"/>
          </a:p>
        </p:txBody>
      </p:sp>
      <p:sp>
        <p:nvSpPr>
          <p:cNvPr id="7" name="TextBox 6">
            <a:extLst>
              <a:ext uri="{FF2B5EF4-FFF2-40B4-BE49-F238E27FC236}">
                <a16:creationId xmlns:a16="http://schemas.microsoft.com/office/drawing/2014/main" id="{931404F1-5CB1-6399-2184-FB0798A10492}"/>
              </a:ext>
            </a:extLst>
          </p:cNvPr>
          <p:cNvSpPr txBox="1"/>
          <p:nvPr/>
        </p:nvSpPr>
        <p:spPr>
          <a:xfrm>
            <a:off x="824663" y="1901384"/>
            <a:ext cx="10921181" cy="1477328"/>
          </a:xfrm>
          <a:prstGeom prst="rect">
            <a:avLst/>
          </a:prstGeom>
          <a:noFill/>
        </p:spPr>
        <p:txBody>
          <a:bodyPr wrap="square">
            <a:spAutoFit/>
          </a:bodyPr>
          <a:lstStyle/>
          <a:p>
            <a:r>
              <a:rPr lang="en-US" b="1" i="0" dirty="0">
                <a:solidFill>
                  <a:srgbClr val="273239"/>
                </a:solidFill>
                <a:effectLst/>
                <a:latin typeface="Nunito" pitchFamily="2" charset="0"/>
              </a:rPr>
              <a:t>2. </a:t>
            </a:r>
            <a:r>
              <a:rPr lang="en-US" b="1" i="0" dirty="0" err="1">
                <a:solidFill>
                  <a:srgbClr val="273239"/>
                </a:solidFill>
                <a:effectLst/>
                <a:latin typeface="Nunito" pitchFamily="2" charset="0"/>
              </a:rPr>
              <a:t>AlexNet</a:t>
            </a:r>
            <a:r>
              <a:rPr lang="en-US" b="1" i="0" dirty="0">
                <a:solidFill>
                  <a:srgbClr val="273239"/>
                </a:solidFill>
                <a:effectLst/>
                <a:latin typeface="Nunito" pitchFamily="2" charset="0"/>
              </a:rPr>
              <a:t> : </a:t>
            </a:r>
            <a:r>
              <a:rPr lang="en-US" i="0" dirty="0" err="1">
                <a:solidFill>
                  <a:srgbClr val="273239"/>
                </a:solidFill>
                <a:effectLst/>
                <a:latin typeface="Nunito" pitchFamily="2" charset="0"/>
              </a:rPr>
              <a:t>AlexNet</a:t>
            </a:r>
            <a:r>
              <a:rPr lang="en-US" b="0" i="0" dirty="0">
                <a:solidFill>
                  <a:srgbClr val="273239"/>
                </a:solidFill>
                <a:effectLst/>
                <a:latin typeface="Nunito" pitchFamily="2" charset="0"/>
              </a:rPr>
              <a:t> is a CNN architecture that was developed by Alex </a:t>
            </a:r>
            <a:r>
              <a:rPr lang="en-US" b="0" i="0" dirty="0" err="1">
                <a:solidFill>
                  <a:srgbClr val="273239"/>
                </a:solidFill>
                <a:effectLst/>
                <a:latin typeface="Nunito" pitchFamily="2" charset="0"/>
              </a:rPr>
              <a:t>Krizhevsky</a:t>
            </a:r>
            <a:r>
              <a:rPr lang="en-US" b="0" i="0" dirty="0">
                <a:solidFill>
                  <a:srgbClr val="273239"/>
                </a:solidFill>
                <a:effectLst/>
                <a:latin typeface="Nunito" pitchFamily="2" charset="0"/>
              </a:rPr>
              <a:t>, Ilya </a:t>
            </a:r>
            <a:r>
              <a:rPr lang="en-US" b="0" i="0" dirty="0" err="1">
                <a:solidFill>
                  <a:srgbClr val="273239"/>
                </a:solidFill>
                <a:effectLst/>
                <a:latin typeface="Nunito" pitchFamily="2" charset="0"/>
              </a:rPr>
              <a:t>Sutskever</a:t>
            </a:r>
            <a:r>
              <a:rPr lang="en-US" b="0" i="0" dirty="0">
                <a:solidFill>
                  <a:srgbClr val="273239"/>
                </a:solidFill>
                <a:effectLst/>
                <a:latin typeface="Nunito" pitchFamily="2" charset="0"/>
              </a:rPr>
              <a:t> and Geoffrey Hinton in 2012. It was the first CNN to win the ImageNet Large Scale Visual Recognition Challenge (ILSVRC) a major image recognition competition. It consists of several layers of convolutional and pooling layers followed by fully connected layers. The architecture includes five convolutional layers, three pooling layers and three fully connected layers.</a:t>
            </a:r>
            <a:endParaRPr lang="en-IN" dirty="0"/>
          </a:p>
        </p:txBody>
      </p:sp>
      <p:sp>
        <p:nvSpPr>
          <p:cNvPr id="9" name="TextBox 8">
            <a:extLst>
              <a:ext uri="{FF2B5EF4-FFF2-40B4-BE49-F238E27FC236}">
                <a16:creationId xmlns:a16="http://schemas.microsoft.com/office/drawing/2014/main" id="{2F0001D6-9C30-2545-5706-798300234BDE}"/>
              </a:ext>
            </a:extLst>
          </p:cNvPr>
          <p:cNvSpPr txBox="1"/>
          <p:nvPr/>
        </p:nvSpPr>
        <p:spPr>
          <a:xfrm>
            <a:off x="824663" y="3378712"/>
            <a:ext cx="10921181" cy="1200329"/>
          </a:xfrm>
          <a:prstGeom prst="rect">
            <a:avLst/>
          </a:prstGeom>
          <a:noFill/>
        </p:spPr>
        <p:txBody>
          <a:bodyPr wrap="square">
            <a:spAutoFit/>
          </a:bodyPr>
          <a:lstStyle/>
          <a:p>
            <a:r>
              <a:rPr lang="en-US" b="1" i="0" dirty="0">
                <a:solidFill>
                  <a:srgbClr val="273239"/>
                </a:solidFill>
                <a:effectLst/>
                <a:latin typeface="Nunito" pitchFamily="2" charset="0"/>
              </a:rPr>
              <a:t>3. Resnet:</a:t>
            </a:r>
            <a:r>
              <a:rPr lang="en-US" b="0" i="0" dirty="0">
                <a:solidFill>
                  <a:srgbClr val="273239"/>
                </a:solidFill>
                <a:effectLst/>
                <a:latin typeface="Nunito" pitchFamily="2" charset="0"/>
              </a:rPr>
              <a:t> </a:t>
            </a:r>
            <a:r>
              <a:rPr lang="en-US" b="0" i="0" dirty="0" err="1">
                <a:solidFill>
                  <a:srgbClr val="273239"/>
                </a:solidFill>
                <a:effectLst/>
                <a:latin typeface="Nunito" pitchFamily="2" charset="0"/>
              </a:rPr>
              <a:t>ResNet</a:t>
            </a:r>
            <a:r>
              <a:rPr lang="en-US" b="0" i="0" dirty="0">
                <a:solidFill>
                  <a:srgbClr val="273239"/>
                </a:solidFill>
                <a:effectLst/>
                <a:latin typeface="Nunito" pitchFamily="2" charset="0"/>
              </a:rPr>
              <a:t> are designed for image recognition and processing tasks. They are renowned for their ability to train very deep networks without overfitting making them highly effective for complex tasks. It introduces skip connections that allow the network to learn residual functions making it easier to train deep architecture.</a:t>
            </a:r>
            <a:endParaRPr lang="en-IN" dirty="0"/>
          </a:p>
        </p:txBody>
      </p:sp>
      <p:sp>
        <p:nvSpPr>
          <p:cNvPr id="11" name="TextBox 10">
            <a:extLst>
              <a:ext uri="{FF2B5EF4-FFF2-40B4-BE49-F238E27FC236}">
                <a16:creationId xmlns:a16="http://schemas.microsoft.com/office/drawing/2014/main" id="{21BB11C2-D39C-889A-FAE1-358F14981656}"/>
              </a:ext>
            </a:extLst>
          </p:cNvPr>
          <p:cNvSpPr txBox="1"/>
          <p:nvPr/>
        </p:nvSpPr>
        <p:spPr>
          <a:xfrm>
            <a:off x="824663" y="4491243"/>
            <a:ext cx="10921180" cy="1200329"/>
          </a:xfrm>
          <a:prstGeom prst="rect">
            <a:avLst/>
          </a:prstGeom>
          <a:noFill/>
        </p:spPr>
        <p:txBody>
          <a:bodyPr wrap="square">
            <a:spAutoFit/>
          </a:bodyPr>
          <a:lstStyle/>
          <a:p>
            <a:r>
              <a:rPr lang="en-US" b="1" dirty="0">
                <a:solidFill>
                  <a:srgbClr val="273239"/>
                </a:solidFill>
                <a:latin typeface="Nunito" pitchFamily="2" charset="0"/>
              </a:rPr>
              <a:t>4.</a:t>
            </a:r>
            <a:r>
              <a:rPr lang="en-US" b="0" i="0" dirty="0">
                <a:solidFill>
                  <a:srgbClr val="273239"/>
                </a:solidFill>
                <a:effectLst/>
                <a:latin typeface="Nunito" pitchFamily="2" charset="0"/>
              </a:rPr>
              <a:t> </a:t>
            </a:r>
            <a:r>
              <a:rPr lang="en-US" b="1" i="0" dirty="0" err="1">
                <a:solidFill>
                  <a:srgbClr val="273239"/>
                </a:solidFill>
                <a:effectLst/>
                <a:latin typeface="Nunito" pitchFamily="2" charset="0"/>
              </a:rPr>
              <a:t>GoogleNet</a:t>
            </a:r>
            <a:r>
              <a:rPr lang="en-US" b="1" i="0" dirty="0">
                <a:solidFill>
                  <a:srgbClr val="273239"/>
                </a:solidFill>
                <a:effectLst/>
                <a:latin typeface="Nunito" pitchFamily="2" charset="0"/>
              </a:rPr>
              <a:t>: </a:t>
            </a:r>
            <a:r>
              <a:rPr lang="en-US" i="0" dirty="0" err="1">
                <a:solidFill>
                  <a:srgbClr val="273239"/>
                </a:solidFill>
                <a:effectLst/>
                <a:latin typeface="Nunito" pitchFamily="2" charset="0"/>
              </a:rPr>
              <a:t>GoogleNet</a:t>
            </a:r>
            <a:r>
              <a:rPr lang="en-US" b="0" i="0" dirty="0">
                <a:solidFill>
                  <a:srgbClr val="273239"/>
                </a:solidFill>
                <a:effectLst/>
                <a:latin typeface="Nunito" pitchFamily="2" charset="0"/>
              </a:rPr>
              <a:t> also known as </a:t>
            </a:r>
            <a:r>
              <a:rPr lang="en-US" b="0" i="0" dirty="0" err="1">
                <a:solidFill>
                  <a:srgbClr val="273239"/>
                </a:solidFill>
                <a:effectLst/>
                <a:latin typeface="Nunito" pitchFamily="2" charset="0"/>
              </a:rPr>
              <a:t>InceptionNet</a:t>
            </a:r>
            <a:r>
              <a:rPr lang="en-US" b="0" i="0" dirty="0">
                <a:solidFill>
                  <a:srgbClr val="273239"/>
                </a:solidFill>
                <a:effectLst/>
                <a:latin typeface="Nunito" pitchFamily="2" charset="0"/>
              </a:rPr>
              <a:t> is renowned for achieving high accuracy in image classification while using fewer parameters and computational resources compared to other state-of-the-art CNNs. The core component of </a:t>
            </a:r>
            <a:r>
              <a:rPr lang="en-US" b="0" i="0" dirty="0" err="1">
                <a:solidFill>
                  <a:srgbClr val="273239"/>
                </a:solidFill>
                <a:effectLst/>
                <a:latin typeface="Nunito" pitchFamily="2" charset="0"/>
              </a:rPr>
              <a:t>GoogleNet</a:t>
            </a:r>
            <a:r>
              <a:rPr lang="en-US" b="0" i="0" dirty="0">
                <a:solidFill>
                  <a:srgbClr val="273239"/>
                </a:solidFill>
                <a:effectLst/>
                <a:latin typeface="Nunito" pitchFamily="2" charset="0"/>
              </a:rPr>
              <a:t> allows the network to learn features at different scales simultaneously to enhance performance.</a:t>
            </a:r>
            <a:endParaRPr lang="en-IN" dirty="0"/>
          </a:p>
        </p:txBody>
      </p:sp>
      <p:sp>
        <p:nvSpPr>
          <p:cNvPr id="13" name="TextBox 12">
            <a:extLst>
              <a:ext uri="{FF2B5EF4-FFF2-40B4-BE49-F238E27FC236}">
                <a16:creationId xmlns:a16="http://schemas.microsoft.com/office/drawing/2014/main" id="{6A27D39A-C0A5-6C57-5315-12051E86E1DE}"/>
              </a:ext>
            </a:extLst>
          </p:cNvPr>
          <p:cNvSpPr txBox="1"/>
          <p:nvPr/>
        </p:nvSpPr>
        <p:spPr>
          <a:xfrm>
            <a:off x="838191" y="5691572"/>
            <a:ext cx="11157163" cy="1200329"/>
          </a:xfrm>
          <a:prstGeom prst="rect">
            <a:avLst/>
          </a:prstGeom>
          <a:noFill/>
        </p:spPr>
        <p:txBody>
          <a:bodyPr wrap="square">
            <a:spAutoFit/>
          </a:bodyPr>
          <a:lstStyle/>
          <a:p>
            <a:r>
              <a:rPr lang="en-US" b="1" i="0" dirty="0">
                <a:solidFill>
                  <a:srgbClr val="273239"/>
                </a:solidFill>
                <a:effectLst/>
                <a:latin typeface="Nunito" pitchFamily="2" charset="0"/>
              </a:rPr>
              <a:t>5. VGG: </a:t>
            </a:r>
            <a:r>
              <a:rPr lang="en-US" i="0" dirty="0">
                <a:solidFill>
                  <a:srgbClr val="273239"/>
                </a:solidFill>
                <a:effectLst/>
                <a:latin typeface="Nunito" pitchFamily="2" charset="0"/>
              </a:rPr>
              <a:t>VGGs</a:t>
            </a:r>
            <a:r>
              <a:rPr lang="en-US" b="0" i="0" dirty="0">
                <a:solidFill>
                  <a:srgbClr val="273239"/>
                </a:solidFill>
                <a:effectLst/>
                <a:latin typeface="Nunito" pitchFamily="2" charset="0"/>
              </a:rPr>
              <a:t> are developed by the Visual Geometry Group at Oxford, it uses small 3x3 convolutional filters stacked in multiple layers, creating a deep and uniform structure. Popular variants like VGG-16 and VGG-19 achieved state-of-the-art performance on the ImageNet dataset demonstrating the power of depth in CNNs.</a:t>
            </a:r>
            <a:endParaRPr lang="en-IN" dirty="0"/>
          </a:p>
        </p:txBody>
      </p:sp>
    </p:spTree>
    <p:extLst>
      <p:ext uri="{BB962C8B-B14F-4D97-AF65-F5344CB8AC3E}">
        <p14:creationId xmlns:p14="http://schemas.microsoft.com/office/powerpoint/2010/main" val="439304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1" grpId="0"/>
      <p:bldP spid="1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58E08-D09B-A11C-2CF0-8B6029C5E964}"/>
              </a:ext>
            </a:extLst>
          </p:cNvPr>
          <p:cNvSpPr>
            <a:spLocks noGrp="1"/>
          </p:cNvSpPr>
          <p:nvPr>
            <p:ph type="title"/>
          </p:nvPr>
        </p:nvSpPr>
        <p:spPr/>
        <p:txBody>
          <a:bodyPr/>
          <a:lstStyle/>
          <a:p>
            <a:r>
              <a:rPr lang="en-US" dirty="0"/>
              <a:t>Applications</a:t>
            </a:r>
            <a:endParaRPr lang="en-IN" dirty="0"/>
          </a:p>
        </p:txBody>
      </p:sp>
      <p:sp>
        <p:nvSpPr>
          <p:cNvPr id="5" name="TextBox 4">
            <a:extLst>
              <a:ext uri="{FF2B5EF4-FFF2-40B4-BE49-F238E27FC236}">
                <a16:creationId xmlns:a16="http://schemas.microsoft.com/office/drawing/2014/main" id="{98369C84-13E3-2AA3-DE8C-1ED792F13C81}"/>
              </a:ext>
            </a:extLst>
          </p:cNvPr>
          <p:cNvSpPr txBox="1"/>
          <p:nvPr/>
        </p:nvSpPr>
        <p:spPr>
          <a:xfrm>
            <a:off x="838200" y="1690688"/>
            <a:ext cx="10515600" cy="646331"/>
          </a:xfrm>
          <a:prstGeom prst="rect">
            <a:avLst/>
          </a:prstGeom>
          <a:noFill/>
        </p:spPr>
        <p:txBody>
          <a:bodyPr wrap="square">
            <a:spAutoFit/>
          </a:bodyPr>
          <a:lstStyle/>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Image classification:</a:t>
            </a:r>
            <a:r>
              <a:rPr lang="en-US" b="0" i="0" dirty="0">
                <a:solidFill>
                  <a:srgbClr val="273239"/>
                </a:solidFill>
                <a:effectLst/>
                <a:latin typeface="Nunito" pitchFamily="2" charset="0"/>
              </a:rPr>
              <a:t> CNNs are the state-of-the-art models for image classification. They can be used to classify images into different categories such as cats and dogs.</a:t>
            </a:r>
          </a:p>
        </p:txBody>
      </p:sp>
      <p:sp>
        <p:nvSpPr>
          <p:cNvPr id="7" name="TextBox 6">
            <a:extLst>
              <a:ext uri="{FF2B5EF4-FFF2-40B4-BE49-F238E27FC236}">
                <a16:creationId xmlns:a16="http://schemas.microsoft.com/office/drawing/2014/main" id="{285ADAE2-3F89-D26A-8B39-5CFAA6A39DCE}"/>
              </a:ext>
            </a:extLst>
          </p:cNvPr>
          <p:cNvSpPr txBox="1"/>
          <p:nvPr/>
        </p:nvSpPr>
        <p:spPr>
          <a:xfrm>
            <a:off x="838200" y="2828835"/>
            <a:ext cx="10515600" cy="923330"/>
          </a:xfrm>
          <a:prstGeom prst="rect">
            <a:avLst/>
          </a:prstGeom>
          <a:noFill/>
        </p:spPr>
        <p:txBody>
          <a:bodyPr wrap="square">
            <a:spAutoFit/>
          </a:bodyPr>
          <a:lstStyle/>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Object detection:</a:t>
            </a:r>
            <a:r>
              <a:rPr lang="en-US" b="0" i="0" dirty="0">
                <a:solidFill>
                  <a:srgbClr val="273239"/>
                </a:solidFill>
                <a:effectLst/>
                <a:latin typeface="Nunito" pitchFamily="2" charset="0"/>
              </a:rPr>
              <a:t> It can be used to detect objects in images such as people, cars and buildings. They can also be used to localize objects in images which means that they can identify the location of an object in an image.</a:t>
            </a:r>
          </a:p>
        </p:txBody>
      </p:sp>
      <p:sp>
        <p:nvSpPr>
          <p:cNvPr id="9" name="TextBox 8">
            <a:extLst>
              <a:ext uri="{FF2B5EF4-FFF2-40B4-BE49-F238E27FC236}">
                <a16:creationId xmlns:a16="http://schemas.microsoft.com/office/drawing/2014/main" id="{8B033CB6-0E33-17D5-F857-2FAD178CAAD4}"/>
              </a:ext>
            </a:extLst>
          </p:cNvPr>
          <p:cNvSpPr txBox="1"/>
          <p:nvPr/>
        </p:nvSpPr>
        <p:spPr>
          <a:xfrm>
            <a:off x="838200" y="4243982"/>
            <a:ext cx="10515600" cy="923330"/>
          </a:xfrm>
          <a:prstGeom prst="rect">
            <a:avLst/>
          </a:prstGeom>
          <a:noFill/>
        </p:spPr>
        <p:txBody>
          <a:bodyPr wrap="square">
            <a:spAutoFit/>
          </a:bodyPr>
          <a:lstStyle/>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Image segmentation:</a:t>
            </a:r>
            <a:r>
              <a:rPr lang="en-US" b="0" i="0" dirty="0">
                <a:solidFill>
                  <a:srgbClr val="273239"/>
                </a:solidFill>
                <a:effectLst/>
                <a:latin typeface="Nunito" pitchFamily="2" charset="0"/>
              </a:rPr>
              <a:t> It can be used to segment images which means that they can identify and label different objects in an image. This is useful for applications such as medical imaging and robotics.</a:t>
            </a:r>
          </a:p>
        </p:txBody>
      </p:sp>
      <p:sp>
        <p:nvSpPr>
          <p:cNvPr id="11" name="TextBox 10">
            <a:extLst>
              <a:ext uri="{FF2B5EF4-FFF2-40B4-BE49-F238E27FC236}">
                <a16:creationId xmlns:a16="http://schemas.microsoft.com/office/drawing/2014/main" id="{1B071F5F-2875-8829-BC25-1FEDB0E30AE7}"/>
              </a:ext>
            </a:extLst>
          </p:cNvPr>
          <p:cNvSpPr txBox="1"/>
          <p:nvPr/>
        </p:nvSpPr>
        <p:spPr>
          <a:xfrm>
            <a:off x="838200" y="5659129"/>
            <a:ext cx="10515600" cy="646331"/>
          </a:xfrm>
          <a:prstGeom prst="rect">
            <a:avLst/>
          </a:prstGeom>
          <a:noFill/>
        </p:spPr>
        <p:txBody>
          <a:bodyPr wrap="square">
            <a:spAutoFit/>
          </a:bodyPr>
          <a:lstStyle/>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Video analysis:</a:t>
            </a:r>
            <a:r>
              <a:rPr lang="en-US" b="0" i="0" dirty="0">
                <a:solidFill>
                  <a:srgbClr val="273239"/>
                </a:solidFill>
                <a:effectLst/>
                <a:latin typeface="Nunito" pitchFamily="2" charset="0"/>
              </a:rPr>
              <a:t> It can be used to analyze videos such as tracking objects in a video or detecting events in a video. This is useful for applications such as video surveillance and traffic monitoring.</a:t>
            </a:r>
          </a:p>
        </p:txBody>
      </p:sp>
    </p:spTree>
    <p:extLst>
      <p:ext uri="{BB962C8B-B14F-4D97-AF65-F5344CB8AC3E}">
        <p14:creationId xmlns:p14="http://schemas.microsoft.com/office/powerpoint/2010/main" val="2226191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0238F-5BF8-5ADC-97D7-93239D66498F}"/>
              </a:ext>
            </a:extLst>
          </p:cNvPr>
          <p:cNvSpPr>
            <a:spLocks noGrp="1"/>
          </p:cNvSpPr>
          <p:nvPr>
            <p:ph type="title"/>
          </p:nvPr>
        </p:nvSpPr>
        <p:spPr/>
        <p:txBody>
          <a:bodyPr/>
          <a:lstStyle/>
          <a:p>
            <a:r>
              <a:rPr lang="en-US" dirty="0"/>
              <a:t>Advantages</a:t>
            </a:r>
            <a:endParaRPr lang="en-IN" dirty="0"/>
          </a:p>
        </p:txBody>
      </p:sp>
      <p:sp>
        <p:nvSpPr>
          <p:cNvPr id="5" name="TextBox 4">
            <a:extLst>
              <a:ext uri="{FF2B5EF4-FFF2-40B4-BE49-F238E27FC236}">
                <a16:creationId xmlns:a16="http://schemas.microsoft.com/office/drawing/2014/main" id="{1B3F6585-743A-55CB-4AE6-1E16EACCD671}"/>
              </a:ext>
            </a:extLst>
          </p:cNvPr>
          <p:cNvSpPr txBox="1"/>
          <p:nvPr/>
        </p:nvSpPr>
        <p:spPr>
          <a:xfrm>
            <a:off x="838200" y="2635713"/>
            <a:ext cx="10515600" cy="691856"/>
          </a:xfrm>
          <a:prstGeom prst="rect">
            <a:avLst/>
          </a:prstGeom>
          <a:noFill/>
        </p:spPr>
        <p:txBody>
          <a:bodyPr wrap="square">
            <a:spAutoFit/>
          </a:bodyPr>
          <a:lstStyle/>
          <a:p>
            <a:pPr algn="l">
              <a:lnSpc>
                <a:spcPts val="2400"/>
              </a:lnSpc>
              <a:buFont typeface="+mj-lt"/>
              <a:buAutoNum type="arabicPeriod"/>
            </a:pPr>
            <a:r>
              <a:rPr lang="en-US" b="1" i="0" dirty="0">
                <a:solidFill>
                  <a:srgbClr val="242424"/>
                </a:solidFill>
                <a:effectLst/>
                <a:latin typeface="source-serif-pro"/>
              </a:rPr>
              <a:t>Automatic feature learning  : </a:t>
            </a:r>
            <a:r>
              <a:rPr lang="en-US" b="0" i="0" dirty="0">
                <a:solidFill>
                  <a:srgbClr val="242424"/>
                </a:solidFill>
                <a:effectLst/>
                <a:latin typeface="source-serif-pro"/>
              </a:rPr>
              <a:t>CNNs can automatically learn relevant features from raw input data, which eliminates the need for manual feature engineering.</a:t>
            </a:r>
          </a:p>
        </p:txBody>
      </p:sp>
      <p:sp>
        <p:nvSpPr>
          <p:cNvPr id="7" name="TextBox 6">
            <a:extLst>
              <a:ext uri="{FF2B5EF4-FFF2-40B4-BE49-F238E27FC236}">
                <a16:creationId xmlns:a16="http://schemas.microsoft.com/office/drawing/2014/main" id="{6E58E514-3F95-ADB5-0A55-FBBDF7095E12}"/>
              </a:ext>
            </a:extLst>
          </p:cNvPr>
          <p:cNvSpPr txBox="1"/>
          <p:nvPr/>
        </p:nvSpPr>
        <p:spPr>
          <a:xfrm>
            <a:off x="838200" y="3673497"/>
            <a:ext cx="10272252" cy="691856"/>
          </a:xfrm>
          <a:prstGeom prst="rect">
            <a:avLst/>
          </a:prstGeom>
          <a:noFill/>
        </p:spPr>
        <p:txBody>
          <a:bodyPr wrap="square">
            <a:spAutoFit/>
          </a:bodyPr>
          <a:lstStyle/>
          <a:p>
            <a:pPr algn="l">
              <a:lnSpc>
                <a:spcPts val="2400"/>
              </a:lnSpc>
            </a:pPr>
            <a:r>
              <a:rPr lang="en-US" b="1" i="0" dirty="0">
                <a:solidFill>
                  <a:srgbClr val="242424"/>
                </a:solidFill>
                <a:effectLst/>
                <a:latin typeface="source-serif-pro"/>
              </a:rPr>
              <a:t>2. High accuracy : </a:t>
            </a:r>
            <a:r>
              <a:rPr lang="en-US" b="0" i="0" dirty="0">
                <a:solidFill>
                  <a:srgbClr val="242424"/>
                </a:solidFill>
                <a:effectLst/>
                <a:latin typeface="source-serif-pro"/>
              </a:rPr>
              <a:t>CNNs can achieve state-of-the-art performance in various image and video recognition tasks.</a:t>
            </a:r>
          </a:p>
        </p:txBody>
      </p:sp>
      <p:sp>
        <p:nvSpPr>
          <p:cNvPr id="9" name="TextBox 8">
            <a:extLst>
              <a:ext uri="{FF2B5EF4-FFF2-40B4-BE49-F238E27FC236}">
                <a16:creationId xmlns:a16="http://schemas.microsoft.com/office/drawing/2014/main" id="{F7A4E66C-2494-51EB-F2DB-0B875EB3B38F}"/>
              </a:ext>
            </a:extLst>
          </p:cNvPr>
          <p:cNvSpPr txBox="1"/>
          <p:nvPr/>
        </p:nvSpPr>
        <p:spPr>
          <a:xfrm>
            <a:off x="838200" y="4711281"/>
            <a:ext cx="10272251" cy="691856"/>
          </a:xfrm>
          <a:prstGeom prst="rect">
            <a:avLst/>
          </a:prstGeom>
          <a:noFill/>
        </p:spPr>
        <p:txBody>
          <a:bodyPr wrap="square">
            <a:spAutoFit/>
          </a:bodyPr>
          <a:lstStyle/>
          <a:p>
            <a:pPr algn="l">
              <a:lnSpc>
                <a:spcPts val="2400"/>
              </a:lnSpc>
            </a:pPr>
            <a:r>
              <a:rPr lang="en-US" b="1" i="0" dirty="0">
                <a:solidFill>
                  <a:srgbClr val="242424"/>
                </a:solidFill>
                <a:effectLst/>
                <a:latin typeface="source-serif-pro"/>
              </a:rPr>
              <a:t>3. Robustness to noise: </a:t>
            </a:r>
            <a:r>
              <a:rPr lang="en-US" b="0" i="0" dirty="0">
                <a:solidFill>
                  <a:srgbClr val="242424"/>
                </a:solidFill>
                <a:effectLst/>
                <a:latin typeface="source-serif-pro"/>
              </a:rPr>
              <a:t>CNNs are robust to noise and distortion in the input data, which makes them highly effective in real-world applications.</a:t>
            </a:r>
          </a:p>
        </p:txBody>
      </p:sp>
      <p:sp>
        <p:nvSpPr>
          <p:cNvPr id="11" name="TextBox 10">
            <a:extLst>
              <a:ext uri="{FF2B5EF4-FFF2-40B4-BE49-F238E27FC236}">
                <a16:creationId xmlns:a16="http://schemas.microsoft.com/office/drawing/2014/main" id="{3B052E11-D790-B9CA-C58C-629ABD150156}"/>
              </a:ext>
            </a:extLst>
          </p:cNvPr>
          <p:cNvSpPr txBox="1"/>
          <p:nvPr/>
        </p:nvSpPr>
        <p:spPr>
          <a:xfrm>
            <a:off x="757084" y="1643454"/>
            <a:ext cx="10596716" cy="369332"/>
          </a:xfrm>
          <a:prstGeom prst="rect">
            <a:avLst/>
          </a:prstGeom>
          <a:noFill/>
        </p:spPr>
        <p:txBody>
          <a:bodyPr wrap="square">
            <a:spAutoFit/>
          </a:bodyPr>
          <a:lstStyle/>
          <a:p>
            <a:r>
              <a:rPr lang="en-US" b="0" i="0" dirty="0">
                <a:solidFill>
                  <a:srgbClr val="242424"/>
                </a:solidFill>
                <a:effectLst/>
                <a:latin typeface="source-serif-pro"/>
              </a:rPr>
              <a:t>CNNs have several advantages over traditional machine learning algorithms, including:</a:t>
            </a:r>
            <a:endParaRPr lang="en-IN" dirty="0"/>
          </a:p>
        </p:txBody>
      </p:sp>
    </p:spTree>
    <p:extLst>
      <p:ext uri="{BB962C8B-B14F-4D97-AF65-F5344CB8AC3E}">
        <p14:creationId xmlns:p14="http://schemas.microsoft.com/office/powerpoint/2010/main" val="3789677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47E77-CAB9-58CF-1215-A345ED483EA6}"/>
              </a:ext>
            </a:extLst>
          </p:cNvPr>
          <p:cNvSpPr>
            <a:spLocks noGrp="1"/>
          </p:cNvSpPr>
          <p:nvPr>
            <p:ph type="title"/>
          </p:nvPr>
        </p:nvSpPr>
        <p:spPr/>
        <p:txBody>
          <a:bodyPr/>
          <a:lstStyle/>
          <a:p>
            <a:r>
              <a:rPr lang="en-US" dirty="0"/>
              <a:t>Limitations</a:t>
            </a:r>
            <a:endParaRPr lang="en-IN" dirty="0"/>
          </a:p>
        </p:txBody>
      </p:sp>
      <p:sp>
        <p:nvSpPr>
          <p:cNvPr id="5" name="TextBox 4">
            <a:extLst>
              <a:ext uri="{FF2B5EF4-FFF2-40B4-BE49-F238E27FC236}">
                <a16:creationId xmlns:a16="http://schemas.microsoft.com/office/drawing/2014/main" id="{D9856DDE-9A14-AE50-FCCD-4B603216D57B}"/>
              </a:ext>
            </a:extLst>
          </p:cNvPr>
          <p:cNvSpPr txBox="1"/>
          <p:nvPr/>
        </p:nvSpPr>
        <p:spPr>
          <a:xfrm>
            <a:off x="838200" y="1690688"/>
            <a:ext cx="10881852" cy="369332"/>
          </a:xfrm>
          <a:prstGeom prst="rect">
            <a:avLst/>
          </a:prstGeom>
          <a:noFill/>
        </p:spPr>
        <p:txBody>
          <a:bodyPr wrap="square">
            <a:spAutoFit/>
          </a:bodyPr>
          <a:lstStyle/>
          <a:p>
            <a:r>
              <a:rPr lang="en-US" b="0" i="0" dirty="0">
                <a:solidFill>
                  <a:srgbClr val="242424"/>
                </a:solidFill>
                <a:effectLst/>
                <a:latin typeface="source-serif-pro"/>
              </a:rPr>
              <a:t>Despite their many advantages, CNNs also have some disadvantages, including:</a:t>
            </a:r>
            <a:endParaRPr lang="en-IN" dirty="0"/>
          </a:p>
        </p:txBody>
      </p:sp>
      <p:sp>
        <p:nvSpPr>
          <p:cNvPr id="7" name="TextBox 6">
            <a:extLst>
              <a:ext uri="{FF2B5EF4-FFF2-40B4-BE49-F238E27FC236}">
                <a16:creationId xmlns:a16="http://schemas.microsoft.com/office/drawing/2014/main" id="{918172F3-9161-2629-C072-AE277CAAB3E8}"/>
              </a:ext>
            </a:extLst>
          </p:cNvPr>
          <p:cNvSpPr txBox="1"/>
          <p:nvPr/>
        </p:nvSpPr>
        <p:spPr>
          <a:xfrm>
            <a:off x="838200" y="2429367"/>
            <a:ext cx="10881852" cy="691856"/>
          </a:xfrm>
          <a:prstGeom prst="rect">
            <a:avLst/>
          </a:prstGeom>
          <a:noFill/>
        </p:spPr>
        <p:txBody>
          <a:bodyPr wrap="square">
            <a:spAutoFit/>
          </a:bodyPr>
          <a:lstStyle/>
          <a:p>
            <a:pPr algn="l">
              <a:lnSpc>
                <a:spcPts val="2400"/>
              </a:lnSpc>
              <a:buFont typeface="+mj-lt"/>
              <a:buAutoNum type="arabicPeriod"/>
            </a:pPr>
            <a:r>
              <a:rPr lang="en-US" b="1" i="0" dirty="0">
                <a:solidFill>
                  <a:srgbClr val="242424"/>
                </a:solidFill>
                <a:effectLst/>
                <a:latin typeface="source-serif-pro"/>
              </a:rPr>
              <a:t>High computational requirements </a:t>
            </a:r>
            <a:r>
              <a:rPr lang="en-US" b="0" i="0" dirty="0">
                <a:solidFill>
                  <a:srgbClr val="242424"/>
                </a:solidFill>
                <a:effectLst/>
                <a:latin typeface="source-serif-pro"/>
              </a:rPr>
              <a:t>: CNNs require significant computational resources, including high-end GPUs, to train and deploy.</a:t>
            </a:r>
          </a:p>
        </p:txBody>
      </p:sp>
      <p:sp>
        <p:nvSpPr>
          <p:cNvPr id="9" name="TextBox 8">
            <a:extLst>
              <a:ext uri="{FF2B5EF4-FFF2-40B4-BE49-F238E27FC236}">
                <a16:creationId xmlns:a16="http://schemas.microsoft.com/office/drawing/2014/main" id="{F865B207-151C-7591-35D4-21442E95D9D9}"/>
              </a:ext>
            </a:extLst>
          </p:cNvPr>
          <p:cNvSpPr txBox="1"/>
          <p:nvPr/>
        </p:nvSpPr>
        <p:spPr>
          <a:xfrm>
            <a:off x="838200" y="3385583"/>
            <a:ext cx="10881852" cy="691856"/>
          </a:xfrm>
          <a:prstGeom prst="rect">
            <a:avLst/>
          </a:prstGeom>
          <a:noFill/>
        </p:spPr>
        <p:txBody>
          <a:bodyPr wrap="square">
            <a:spAutoFit/>
          </a:bodyPr>
          <a:lstStyle/>
          <a:p>
            <a:pPr algn="l">
              <a:lnSpc>
                <a:spcPts val="2400"/>
              </a:lnSpc>
            </a:pPr>
            <a:r>
              <a:rPr lang="en-US" b="1" i="0" dirty="0">
                <a:solidFill>
                  <a:srgbClr val="242424"/>
                </a:solidFill>
                <a:effectLst/>
                <a:latin typeface="source-serif-pro"/>
              </a:rPr>
              <a:t>2. Large amounts of data : </a:t>
            </a:r>
            <a:r>
              <a:rPr lang="en-US" b="0" i="0" dirty="0">
                <a:solidFill>
                  <a:srgbClr val="242424"/>
                </a:solidFill>
                <a:effectLst/>
                <a:latin typeface="source-serif-pro"/>
              </a:rPr>
              <a:t>CNNs require large amounts of labeled training data to achieve high accuracy, which can be challenging to obtain in some domains.</a:t>
            </a:r>
          </a:p>
        </p:txBody>
      </p:sp>
      <p:sp>
        <p:nvSpPr>
          <p:cNvPr id="11" name="TextBox 10">
            <a:extLst>
              <a:ext uri="{FF2B5EF4-FFF2-40B4-BE49-F238E27FC236}">
                <a16:creationId xmlns:a16="http://schemas.microsoft.com/office/drawing/2014/main" id="{E5D3CBC5-B0F6-8016-F780-B4E0B1F2ACD9}"/>
              </a:ext>
            </a:extLst>
          </p:cNvPr>
          <p:cNvSpPr txBox="1"/>
          <p:nvPr/>
        </p:nvSpPr>
        <p:spPr>
          <a:xfrm>
            <a:off x="838199" y="4341799"/>
            <a:ext cx="10881851" cy="691856"/>
          </a:xfrm>
          <a:prstGeom prst="rect">
            <a:avLst/>
          </a:prstGeom>
          <a:noFill/>
        </p:spPr>
        <p:txBody>
          <a:bodyPr wrap="square">
            <a:spAutoFit/>
          </a:bodyPr>
          <a:lstStyle/>
          <a:p>
            <a:pPr algn="l">
              <a:lnSpc>
                <a:spcPts val="2400"/>
              </a:lnSpc>
            </a:pPr>
            <a:r>
              <a:rPr lang="en-US" b="1" i="0" dirty="0">
                <a:solidFill>
                  <a:srgbClr val="242424"/>
                </a:solidFill>
                <a:effectLst/>
                <a:latin typeface="source-serif-pro"/>
              </a:rPr>
              <a:t>3. Overfitting : </a:t>
            </a:r>
            <a:r>
              <a:rPr lang="en-US" b="0" i="0" dirty="0">
                <a:solidFill>
                  <a:srgbClr val="242424"/>
                </a:solidFill>
                <a:effectLst/>
                <a:latin typeface="source-serif-pro"/>
              </a:rPr>
              <a:t>CNNs are prone to overfitting when the training data is limited or noisy, which can lead to poor generalization performance on new data.</a:t>
            </a:r>
          </a:p>
        </p:txBody>
      </p:sp>
    </p:spTree>
    <p:extLst>
      <p:ext uri="{BB962C8B-B14F-4D97-AF65-F5344CB8AC3E}">
        <p14:creationId xmlns:p14="http://schemas.microsoft.com/office/powerpoint/2010/main" val="3814296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A6BAD3-B033-940F-642C-D3BB0EB090FA}"/>
              </a:ext>
            </a:extLst>
          </p:cNvPr>
          <p:cNvSpPr txBox="1"/>
          <p:nvPr/>
        </p:nvSpPr>
        <p:spPr>
          <a:xfrm>
            <a:off x="3200399" y="275304"/>
            <a:ext cx="5791201" cy="584775"/>
          </a:xfrm>
          <a:prstGeom prst="rect">
            <a:avLst/>
          </a:prstGeom>
          <a:noFill/>
        </p:spPr>
        <p:txBody>
          <a:bodyPr wrap="square" rtlCol="0">
            <a:spAutoFit/>
          </a:bodyPr>
          <a:lstStyle/>
          <a:p>
            <a:r>
              <a:rPr lang="en-US" sz="3200" dirty="0"/>
              <a:t>Till now , everything looks fine</a:t>
            </a:r>
            <a:endParaRPr lang="en-IN" sz="3200" dirty="0"/>
          </a:p>
        </p:txBody>
      </p:sp>
      <p:sp>
        <p:nvSpPr>
          <p:cNvPr id="3" name="TextBox 2">
            <a:extLst>
              <a:ext uri="{FF2B5EF4-FFF2-40B4-BE49-F238E27FC236}">
                <a16:creationId xmlns:a16="http://schemas.microsoft.com/office/drawing/2014/main" id="{E97BF8D0-1DAF-3056-E1FC-26EF09415DC1}"/>
              </a:ext>
            </a:extLst>
          </p:cNvPr>
          <p:cNvSpPr txBox="1"/>
          <p:nvPr/>
        </p:nvSpPr>
        <p:spPr>
          <a:xfrm>
            <a:off x="363794" y="1209368"/>
            <a:ext cx="11828206" cy="523220"/>
          </a:xfrm>
          <a:prstGeom prst="rect">
            <a:avLst/>
          </a:prstGeom>
          <a:noFill/>
        </p:spPr>
        <p:txBody>
          <a:bodyPr wrap="square" rtlCol="0">
            <a:spAutoFit/>
          </a:bodyPr>
          <a:lstStyle/>
          <a:p>
            <a:r>
              <a:rPr lang="en-US" sz="2800" dirty="0"/>
              <a:t>We have models for analyzing tabular data as well as image and video data</a:t>
            </a:r>
            <a:endParaRPr lang="en-IN" sz="2800" dirty="0"/>
          </a:p>
        </p:txBody>
      </p:sp>
      <p:sp>
        <p:nvSpPr>
          <p:cNvPr id="4" name="TextBox 3">
            <a:extLst>
              <a:ext uri="{FF2B5EF4-FFF2-40B4-BE49-F238E27FC236}">
                <a16:creationId xmlns:a16="http://schemas.microsoft.com/office/drawing/2014/main" id="{AAD39A0A-8C45-7AED-1841-8E2E3DE55525}"/>
              </a:ext>
            </a:extLst>
          </p:cNvPr>
          <p:cNvSpPr txBox="1"/>
          <p:nvPr/>
        </p:nvSpPr>
        <p:spPr>
          <a:xfrm>
            <a:off x="3667432" y="2081877"/>
            <a:ext cx="3913239" cy="523220"/>
          </a:xfrm>
          <a:prstGeom prst="rect">
            <a:avLst/>
          </a:prstGeom>
          <a:noFill/>
        </p:spPr>
        <p:txBody>
          <a:bodyPr wrap="square" rtlCol="0">
            <a:spAutoFit/>
          </a:bodyPr>
          <a:lstStyle/>
          <a:p>
            <a:r>
              <a:rPr lang="en-US" sz="2800" dirty="0"/>
              <a:t>But there is a problem !!!</a:t>
            </a:r>
            <a:endParaRPr lang="en-IN" sz="2800" dirty="0"/>
          </a:p>
        </p:txBody>
      </p:sp>
      <p:sp>
        <p:nvSpPr>
          <p:cNvPr id="5" name="TextBox 4">
            <a:extLst>
              <a:ext uri="{FF2B5EF4-FFF2-40B4-BE49-F238E27FC236}">
                <a16:creationId xmlns:a16="http://schemas.microsoft.com/office/drawing/2014/main" id="{AC76D91F-1D33-E5FD-D77D-519D18668EB1}"/>
              </a:ext>
            </a:extLst>
          </p:cNvPr>
          <p:cNvSpPr txBox="1"/>
          <p:nvPr/>
        </p:nvSpPr>
        <p:spPr>
          <a:xfrm>
            <a:off x="993057" y="2954386"/>
            <a:ext cx="10205884" cy="523220"/>
          </a:xfrm>
          <a:prstGeom prst="rect">
            <a:avLst/>
          </a:prstGeom>
          <a:noFill/>
        </p:spPr>
        <p:txBody>
          <a:bodyPr wrap="square" rtlCol="0">
            <a:spAutoFit/>
          </a:bodyPr>
          <a:lstStyle/>
          <a:p>
            <a:r>
              <a:rPr lang="en-US" sz="2800" dirty="0"/>
              <a:t>Here , in these models we are giving all the input data in a single time</a:t>
            </a:r>
            <a:endParaRPr lang="en-IN" sz="2800" dirty="0"/>
          </a:p>
        </p:txBody>
      </p:sp>
      <p:sp>
        <p:nvSpPr>
          <p:cNvPr id="6" name="TextBox 5">
            <a:extLst>
              <a:ext uri="{FF2B5EF4-FFF2-40B4-BE49-F238E27FC236}">
                <a16:creationId xmlns:a16="http://schemas.microsoft.com/office/drawing/2014/main" id="{D2E63DE7-FF51-7E3E-EC48-1071061BA78D}"/>
              </a:ext>
            </a:extLst>
          </p:cNvPr>
          <p:cNvSpPr txBox="1"/>
          <p:nvPr/>
        </p:nvSpPr>
        <p:spPr>
          <a:xfrm>
            <a:off x="0" y="4041058"/>
            <a:ext cx="12192000" cy="523220"/>
          </a:xfrm>
          <a:prstGeom prst="rect">
            <a:avLst/>
          </a:prstGeom>
          <a:noFill/>
        </p:spPr>
        <p:txBody>
          <a:bodyPr wrap="square" rtlCol="0">
            <a:spAutoFit/>
          </a:bodyPr>
          <a:lstStyle/>
          <a:p>
            <a:r>
              <a:rPr lang="en-US" sz="2800" dirty="0"/>
              <a:t>But in many real life problems, it is not possible to give all the data in a single time</a:t>
            </a:r>
            <a:endParaRPr lang="en-IN" sz="2800" dirty="0"/>
          </a:p>
        </p:txBody>
      </p:sp>
      <p:sp>
        <p:nvSpPr>
          <p:cNvPr id="7" name="TextBox 6">
            <a:extLst>
              <a:ext uri="{FF2B5EF4-FFF2-40B4-BE49-F238E27FC236}">
                <a16:creationId xmlns:a16="http://schemas.microsoft.com/office/drawing/2014/main" id="{D725418F-7313-798F-5E78-F7C9F32DF151}"/>
              </a:ext>
            </a:extLst>
          </p:cNvPr>
          <p:cNvSpPr txBox="1"/>
          <p:nvPr/>
        </p:nvSpPr>
        <p:spPr>
          <a:xfrm>
            <a:off x="1683773" y="4866120"/>
            <a:ext cx="8824452" cy="523220"/>
          </a:xfrm>
          <a:prstGeom prst="rect">
            <a:avLst/>
          </a:prstGeom>
          <a:noFill/>
        </p:spPr>
        <p:txBody>
          <a:bodyPr wrap="square" rtlCol="0">
            <a:spAutoFit/>
          </a:bodyPr>
          <a:lstStyle/>
          <a:p>
            <a:r>
              <a:rPr lang="en-US" sz="2800" dirty="0"/>
              <a:t>What if data is coming sequentially(Text or time series)???</a:t>
            </a:r>
            <a:endParaRPr lang="en-IN" sz="2800" dirty="0"/>
          </a:p>
        </p:txBody>
      </p:sp>
      <p:sp>
        <p:nvSpPr>
          <p:cNvPr id="8" name="TextBox 7">
            <a:extLst>
              <a:ext uri="{FF2B5EF4-FFF2-40B4-BE49-F238E27FC236}">
                <a16:creationId xmlns:a16="http://schemas.microsoft.com/office/drawing/2014/main" id="{6FE4305D-DF68-B4E6-9F55-026E7FEFF7FB}"/>
              </a:ext>
            </a:extLst>
          </p:cNvPr>
          <p:cNvSpPr txBox="1"/>
          <p:nvPr/>
        </p:nvSpPr>
        <p:spPr>
          <a:xfrm>
            <a:off x="3728883" y="5691182"/>
            <a:ext cx="5098026" cy="523220"/>
          </a:xfrm>
          <a:prstGeom prst="rect">
            <a:avLst/>
          </a:prstGeom>
          <a:noFill/>
        </p:spPr>
        <p:txBody>
          <a:bodyPr wrap="square" rtlCol="0">
            <a:spAutoFit/>
          </a:bodyPr>
          <a:lstStyle/>
          <a:p>
            <a:r>
              <a:rPr lang="en-US" sz="2800" dirty="0"/>
              <a:t>Recurrent Neural Network(RNN)</a:t>
            </a:r>
            <a:endParaRPr lang="en-IN" sz="2800" dirty="0"/>
          </a:p>
        </p:txBody>
      </p:sp>
      <p:pic>
        <p:nvPicPr>
          <p:cNvPr id="9" name="Picture 8" descr="RNN A recurrent neural network (RNN) is a class of ...">
            <a:extLst>
              <a:ext uri="{FF2B5EF4-FFF2-40B4-BE49-F238E27FC236}">
                <a16:creationId xmlns:a16="http://schemas.microsoft.com/office/drawing/2014/main" id="{07837947-28E9-5748-2A74-2D885A4F9E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26909" y="5300849"/>
            <a:ext cx="2863646" cy="1483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1120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560CF-9F04-A4E0-F1C3-9A77F2DCCC77}"/>
              </a:ext>
            </a:extLst>
          </p:cNvPr>
          <p:cNvSpPr>
            <a:spLocks noGrp="1"/>
          </p:cNvSpPr>
          <p:nvPr>
            <p:ph type="title"/>
          </p:nvPr>
        </p:nvSpPr>
        <p:spPr/>
        <p:txBody>
          <a:bodyPr/>
          <a:lstStyle/>
          <a:p>
            <a:r>
              <a:rPr lang="en-US" dirty="0"/>
              <a:t>Recurrent Neural Network(RNN)</a:t>
            </a:r>
            <a:endParaRPr lang="en-IN" dirty="0"/>
          </a:p>
        </p:txBody>
      </p:sp>
      <p:sp>
        <p:nvSpPr>
          <p:cNvPr id="5" name="TextBox 4">
            <a:extLst>
              <a:ext uri="{FF2B5EF4-FFF2-40B4-BE49-F238E27FC236}">
                <a16:creationId xmlns:a16="http://schemas.microsoft.com/office/drawing/2014/main" id="{16EBFDAF-77FF-BC5C-799D-A1F6D340291E}"/>
              </a:ext>
            </a:extLst>
          </p:cNvPr>
          <p:cNvSpPr txBox="1"/>
          <p:nvPr/>
        </p:nvSpPr>
        <p:spPr>
          <a:xfrm>
            <a:off x="838200" y="1544964"/>
            <a:ext cx="6034548" cy="646331"/>
          </a:xfrm>
          <a:prstGeom prst="rect">
            <a:avLst/>
          </a:prstGeom>
          <a:noFill/>
        </p:spPr>
        <p:txBody>
          <a:bodyPr wrap="square">
            <a:spAutoFit/>
          </a:bodyPr>
          <a:lstStyle/>
          <a:p>
            <a:r>
              <a:rPr lang="en-US" b="0" i="0" dirty="0">
                <a:solidFill>
                  <a:srgbClr val="242424"/>
                </a:solidFill>
                <a:effectLst/>
                <a:latin typeface="source-serif-pro"/>
              </a:rPr>
              <a:t>Recurrent neural networks (RNNs) are a type of artificial neural network </a:t>
            </a:r>
            <a:r>
              <a:rPr lang="en-US" b="1" i="0" dirty="0">
                <a:solidFill>
                  <a:srgbClr val="242424"/>
                </a:solidFill>
                <a:effectLst/>
                <a:latin typeface="source-serif-pro"/>
              </a:rPr>
              <a:t>specifically designed to handle sequential data.</a:t>
            </a:r>
            <a:endParaRPr lang="en-IN" dirty="0"/>
          </a:p>
        </p:txBody>
      </p:sp>
      <p:sp>
        <p:nvSpPr>
          <p:cNvPr id="7" name="TextBox 6">
            <a:extLst>
              <a:ext uri="{FF2B5EF4-FFF2-40B4-BE49-F238E27FC236}">
                <a16:creationId xmlns:a16="http://schemas.microsoft.com/office/drawing/2014/main" id="{D035FBB3-C24E-36CE-C51C-545E07FDCD38}"/>
              </a:ext>
            </a:extLst>
          </p:cNvPr>
          <p:cNvSpPr txBox="1"/>
          <p:nvPr/>
        </p:nvSpPr>
        <p:spPr>
          <a:xfrm>
            <a:off x="838200" y="2228671"/>
            <a:ext cx="6096000" cy="1200329"/>
          </a:xfrm>
          <a:prstGeom prst="rect">
            <a:avLst/>
          </a:prstGeom>
          <a:noFill/>
        </p:spPr>
        <p:txBody>
          <a:bodyPr wrap="square">
            <a:spAutoFit/>
          </a:bodyPr>
          <a:lstStyle/>
          <a:p>
            <a:r>
              <a:rPr lang="en-US" b="0" i="0" dirty="0">
                <a:solidFill>
                  <a:srgbClr val="242424"/>
                </a:solidFill>
                <a:effectLst/>
                <a:latin typeface="source-serif-pro"/>
              </a:rPr>
              <a:t>Unlike traditional neural networks where each input is independent, RNNs can access and process information from previous inputs. This makes them particularly useful for tasks that involve sequences, like text, speech, or time series data.</a:t>
            </a:r>
            <a:endParaRPr lang="en-IN" dirty="0"/>
          </a:p>
        </p:txBody>
      </p:sp>
      <p:pic>
        <p:nvPicPr>
          <p:cNvPr id="11272" name="Picture 8" descr="RNN A recurrent neural network (RNN) is a class of ...">
            <a:extLst>
              <a:ext uri="{FF2B5EF4-FFF2-40B4-BE49-F238E27FC236}">
                <a16:creationId xmlns:a16="http://schemas.microsoft.com/office/drawing/2014/main" id="{B294898C-AE94-6F4C-5FA2-B5C6A08344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7045" y="1544964"/>
            <a:ext cx="4747752" cy="213406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86D66C9-E8BC-B9A7-F691-AF6E40BF3C02}"/>
              </a:ext>
            </a:extLst>
          </p:cNvPr>
          <p:cNvSpPr txBox="1"/>
          <p:nvPr/>
        </p:nvSpPr>
        <p:spPr>
          <a:xfrm>
            <a:off x="838200" y="3966983"/>
            <a:ext cx="4510548" cy="369332"/>
          </a:xfrm>
          <a:prstGeom prst="rect">
            <a:avLst/>
          </a:prstGeom>
          <a:noFill/>
        </p:spPr>
        <p:txBody>
          <a:bodyPr wrap="square">
            <a:spAutoFit/>
          </a:bodyPr>
          <a:lstStyle/>
          <a:p>
            <a:r>
              <a:rPr lang="en-US" b="0" i="0" dirty="0">
                <a:solidFill>
                  <a:srgbClr val="242424"/>
                </a:solidFill>
                <a:effectLst/>
                <a:latin typeface="source-serif-pro"/>
              </a:rPr>
              <a:t>The quick brown fox jumps over the lazy dog.</a:t>
            </a:r>
            <a:endParaRPr lang="en-IN" dirty="0"/>
          </a:p>
        </p:txBody>
      </p:sp>
      <p:sp>
        <p:nvSpPr>
          <p:cNvPr id="13" name="TextBox 12">
            <a:extLst>
              <a:ext uri="{FF2B5EF4-FFF2-40B4-BE49-F238E27FC236}">
                <a16:creationId xmlns:a16="http://schemas.microsoft.com/office/drawing/2014/main" id="{5DBC9A9C-BE53-409C-04F2-6154D9158E91}"/>
              </a:ext>
            </a:extLst>
          </p:cNvPr>
          <p:cNvSpPr txBox="1"/>
          <p:nvPr/>
        </p:nvSpPr>
        <p:spPr>
          <a:xfrm>
            <a:off x="838200" y="4504966"/>
            <a:ext cx="4304071" cy="369332"/>
          </a:xfrm>
          <a:prstGeom prst="rect">
            <a:avLst/>
          </a:prstGeom>
          <a:noFill/>
        </p:spPr>
        <p:txBody>
          <a:bodyPr wrap="square">
            <a:spAutoFit/>
          </a:bodyPr>
          <a:lstStyle/>
          <a:p>
            <a:r>
              <a:rPr lang="en-US" b="0" i="0" dirty="0">
                <a:solidFill>
                  <a:srgbClr val="242424"/>
                </a:solidFill>
                <a:effectLst/>
                <a:latin typeface="source-serif-pro"/>
              </a:rPr>
              <a:t>Fox brown quick the jumps over lazy dog</a:t>
            </a:r>
            <a:endParaRPr lang="en-IN" dirty="0"/>
          </a:p>
        </p:txBody>
      </p:sp>
      <p:sp>
        <p:nvSpPr>
          <p:cNvPr id="15" name="TextBox 14">
            <a:extLst>
              <a:ext uri="{FF2B5EF4-FFF2-40B4-BE49-F238E27FC236}">
                <a16:creationId xmlns:a16="http://schemas.microsoft.com/office/drawing/2014/main" id="{19C56216-ECDA-8F97-E6C4-042F9EF10803}"/>
              </a:ext>
            </a:extLst>
          </p:cNvPr>
          <p:cNvSpPr txBox="1"/>
          <p:nvPr/>
        </p:nvSpPr>
        <p:spPr>
          <a:xfrm>
            <a:off x="6174658" y="4217007"/>
            <a:ext cx="6096000" cy="369332"/>
          </a:xfrm>
          <a:prstGeom prst="rect">
            <a:avLst/>
          </a:prstGeom>
          <a:noFill/>
        </p:spPr>
        <p:txBody>
          <a:bodyPr wrap="square">
            <a:spAutoFit/>
          </a:bodyPr>
          <a:lstStyle/>
          <a:p>
            <a:r>
              <a:rPr lang="en-US" dirty="0">
                <a:solidFill>
                  <a:srgbClr val="242424"/>
                </a:solidFill>
                <a:latin typeface="source-serif-pro"/>
              </a:rPr>
              <a:t>C</a:t>
            </a:r>
            <a:r>
              <a:rPr lang="en-US" b="0" i="0" dirty="0">
                <a:solidFill>
                  <a:srgbClr val="242424"/>
                </a:solidFill>
                <a:effectLst/>
                <a:latin typeface="source-serif-pro"/>
              </a:rPr>
              <a:t>ommon types of sequential data:</a:t>
            </a:r>
            <a:endParaRPr lang="en-IN" dirty="0"/>
          </a:p>
        </p:txBody>
      </p:sp>
      <p:sp>
        <p:nvSpPr>
          <p:cNvPr id="17" name="TextBox 16">
            <a:extLst>
              <a:ext uri="{FF2B5EF4-FFF2-40B4-BE49-F238E27FC236}">
                <a16:creationId xmlns:a16="http://schemas.microsoft.com/office/drawing/2014/main" id="{BE55C7E9-D737-4875-2B9F-DF9C0DF337BD}"/>
              </a:ext>
            </a:extLst>
          </p:cNvPr>
          <p:cNvSpPr txBox="1"/>
          <p:nvPr/>
        </p:nvSpPr>
        <p:spPr>
          <a:xfrm>
            <a:off x="6174658" y="4586339"/>
            <a:ext cx="6135328" cy="369332"/>
          </a:xfrm>
          <a:prstGeom prst="rect">
            <a:avLst/>
          </a:prstGeom>
          <a:noFill/>
        </p:spPr>
        <p:txBody>
          <a:bodyPr wrap="square">
            <a:spAutoFit/>
          </a:bodyPr>
          <a:lstStyle/>
          <a:p>
            <a:r>
              <a:rPr lang="en-IN" b="1" i="0" dirty="0">
                <a:solidFill>
                  <a:srgbClr val="242424"/>
                </a:solidFill>
                <a:effectLst/>
                <a:latin typeface="source-serif-pro"/>
              </a:rPr>
              <a:t>1. Time series data</a:t>
            </a:r>
            <a:endParaRPr lang="en-IN" dirty="0"/>
          </a:p>
        </p:txBody>
      </p:sp>
      <p:sp>
        <p:nvSpPr>
          <p:cNvPr id="19" name="TextBox 18">
            <a:extLst>
              <a:ext uri="{FF2B5EF4-FFF2-40B4-BE49-F238E27FC236}">
                <a16:creationId xmlns:a16="http://schemas.microsoft.com/office/drawing/2014/main" id="{9346AF62-4849-EBBF-DB1E-D3D0328EE6ED}"/>
              </a:ext>
            </a:extLst>
          </p:cNvPr>
          <p:cNvSpPr txBox="1"/>
          <p:nvPr/>
        </p:nvSpPr>
        <p:spPr>
          <a:xfrm>
            <a:off x="6174658" y="4955671"/>
            <a:ext cx="6154992" cy="369332"/>
          </a:xfrm>
          <a:prstGeom prst="rect">
            <a:avLst/>
          </a:prstGeom>
          <a:noFill/>
        </p:spPr>
        <p:txBody>
          <a:bodyPr wrap="square">
            <a:spAutoFit/>
          </a:bodyPr>
          <a:lstStyle/>
          <a:p>
            <a:r>
              <a:rPr lang="en-IN" b="1" i="0" dirty="0">
                <a:solidFill>
                  <a:srgbClr val="242424"/>
                </a:solidFill>
                <a:effectLst/>
                <a:latin typeface="source-serif-pro"/>
              </a:rPr>
              <a:t>2. Natural language text</a:t>
            </a:r>
            <a:endParaRPr lang="en-IN" dirty="0"/>
          </a:p>
        </p:txBody>
      </p:sp>
      <p:sp>
        <p:nvSpPr>
          <p:cNvPr id="21" name="TextBox 20">
            <a:extLst>
              <a:ext uri="{FF2B5EF4-FFF2-40B4-BE49-F238E27FC236}">
                <a16:creationId xmlns:a16="http://schemas.microsoft.com/office/drawing/2014/main" id="{6304F4DA-9C9F-AFA1-B9D0-E24908C8077D}"/>
              </a:ext>
            </a:extLst>
          </p:cNvPr>
          <p:cNvSpPr txBox="1"/>
          <p:nvPr/>
        </p:nvSpPr>
        <p:spPr>
          <a:xfrm>
            <a:off x="6174658" y="5325003"/>
            <a:ext cx="6164826" cy="369332"/>
          </a:xfrm>
          <a:prstGeom prst="rect">
            <a:avLst/>
          </a:prstGeom>
          <a:noFill/>
        </p:spPr>
        <p:txBody>
          <a:bodyPr wrap="square">
            <a:spAutoFit/>
          </a:bodyPr>
          <a:lstStyle/>
          <a:p>
            <a:r>
              <a:rPr lang="en-IN" b="1" i="0" dirty="0">
                <a:solidFill>
                  <a:srgbClr val="242424"/>
                </a:solidFill>
                <a:effectLst/>
                <a:latin typeface="source-serif-pro"/>
              </a:rPr>
              <a:t>3. Speech signals</a:t>
            </a:r>
            <a:endParaRPr lang="en-IN" dirty="0"/>
          </a:p>
        </p:txBody>
      </p:sp>
    </p:spTree>
    <p:extLst>
      <p:ext uri="{BB962C8B-B14F-4D97-AF65-F5344CB8AC3E}">
        <p14:creationId xmlns:p14="http://schemas.microsoft.com/office/powerpoint/2010/main" val="1521325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27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11" grpId="0"/>
      <p:bldP spid="13" grpId="0"/>
      <p:bldP spid="15" grpId="0"/>
      <p:bldP spid="17" grpId="0"/>
      <p:bldP spid="19" grpId="0"/>
      <p:bldP spid="2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96236E77-C479-6C0C-4188-65D3CC9C66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4443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a:extLst>
              <a:ext uri="{FF2B5EF4-FFF2-40B4-BE49-F238E27FC236}">
                <a16:creationId xmlns:a16="http://schemas.microsoft.com/office/drawing/2014/main" id="{781CB102-EDFF-73E6-5A61-888DDE665F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1999"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5522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A4FF9-3FA6-2E7F-C572-1B48B6F7A7EA}"/>
              </a:ext>
            </a:extLst>
          </p:cNvPr>
          <p:cNvSpPr>
            <a:spLocks noGrp="1"/>
          </p:cNvSpPr>
          <p:nvPr>
            <p:ph type="title"/>
          </p:nvPr>
        </p:nvSpPr>
        <p:spPr/>
        <p:txBody>
          <a:bodyPr/>
          <a:lstStyle/>
          <a:p>
            <a:r>
              <a:rPr lang="en-US" dirty="0"/>
              <a:t>Types of RNN</a:t>
            </a:r>
            <a:endParaRPr lang="en-IN" dirty="0"/>
          </a:p>
        </p:txBody>
      </p:sp>
      <p:sp>
        <p:nvSpPr>
          <p:cNvPr id="7" name="TextBox 6">
            <a:extLst>
              <a:ext uri="{FF2B5EF4-FFF2-40B4-BE49-F238E27FC236}">
                <a16:creationId xmlns:a16="http://schemas.microsoft.com/office/drawing/2014/main" id="{D96E58DC-1C58-AF21-022F-5668C29C0993}"/>
              </a:ext>
            </a:extLst>
          </p:cNvPr>
          <p:cNvSpPr txBox="1"/>
          <p:nvPr/>
        </p:nvSpPr>
        <p:spPr>
          <a:xfrm>
            <a:off x="838200" y="1607715"/>
            <a:ext cx="6096000" cy="1307409"/>
          </a:xfrm>
          <a:prstGeom prst="rect">
            <a:avLst/>
          </a:prstGeom>
          <a:noFill/>
        </p:spPr>
        <p:txBody>
          <a:bodyPr wrap="square">
            <a:spAutoFit/>
          </a:bodyPr>
          <a:lstStyle/>
          <a:p>
            <a:pPr algn="l">
              <a:lnSpc>
                <a:spcPts val="2400"/>
              </a:lnSpc>
              <a:buNone/>
            </a:pPr>
            <a:r>
              <a:rPr lang="en-US" b="0" i="0" dirty="0">
                <a:solidFill>
                  <a:srgbClr val="242424"/>
                </a:solidFill>
                <a:effectLst/>
                <a:latin typeface="source-serif-pro"/>
              </a:rPr>
              <a:t>There are 3 types of RNN architecture which are :</a:t>
            </a:r>
          </a:p>
          <a:p>
            <a:pPr algn="l">
              <a:lnSpc>
                <a:spcPts val="2400"/>
              </a:lnSpc>
              <a:buFont typeface="+mj-lt"/>
              <a:buAutoNum type="arabicPeriod"/>
            </a:pPr>
            <a:r>
              <a:rPr lang="en-US" b="0" i="0" dirty="0">
                <a:solidFill>
                  <a:srgbClr val="242424"/>
                </a:solidFill>
                <a:effectLst/>
                <a:latin typeface="source-serif-pro"/>
              </a:rPr>
              <a:t>One to Many</a:t>
            </a:r>
          </a:p>
          <a:p>
            <a:pPr algn="l">
              <a:lnSpc>
                <a:spcPts val="2400"/>
              </a:lnSpc>
              <a:buFont typeface="+mj-lt"/>
              <a:buAutoNum type="arabicPeriod"/>
            </a:pPr>
            <a:r>
              <a:rPr lang="en-US" b="0" i="0" dirty="0">
                <a:solidFill>
                  <a:srgbClr val="242424"/>
                </a:solidFill>
                <a:effectLst/>
                <a:latin typeface="source-serif-pro"/>
              </a:rPr>
              <a:t>Many to One</a:t>
            </a:r>
          </a:p>
          <a:p>
            <a:pPr algn="l">
              <a:lnSpc>
                <a:spcPts val="2400"/>
              </a:lnSpc>
              <a:buFont typeface="+mj-lt"/>
              <a:buAutoNum type="arabicPeriod"/>
            </a:pPr>
            <a:r>
              <a:rPr lang="en-US" b="0" i="0" dirty="0">
                <a:solidFill>
                  <a:srgbClr val="242424"/>
                </a:solidFill>
                <a:effectLst/>
                <a:latin typeface="source-serif-pro"/>
              </a:rPr>
              <a:t>Many to Many</a:t>
            </a:r>
          </a:p>
        </p:txBody>
      </p:sp>
      <p:pic>
        <p:nvPicPr>
          <p:cNvPr id="14338" name="Picture 2" descr="Part 2: Recurrent Neural Networks :: Hironobu SUZUKI @ InterDB">
            <a:extLst>
              <a:ext uri="{FF2B5EF4-FFF2-40B4-BE49-F238E27FC236}">
                <a16:creationId xmlns:a16="http://schemas.microsoft.com/office/drawing/2014/main" id="{0FB222DD-88B5-B647-B26F-30AC739730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2605548"/>
            <a:ext cx="7322574" cy="3887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981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3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42356-7ED6-1915-C0C2-952CBBFA117F}"/>
              </a:ext>
            </a:extLst>
          </p:cNvPr>
          <p:cNvSpPr>
            <a:spLocks noGrp="1"/>
          </p:cNvSpPr>
          <p:nvPr>
            <p:ph type="title"/>
          </p:nvPr>
        </p:nvSpPr>
        <p:spPr>
          <a:xfrm>
            <a:off x="916859" y="18255"/>
            <a:ext cx="10515600" cy="1325563"/>
          </a:xfrm>
        </p:spPr>
        <p:txBody>
          <a:bodyPr/>
          <a:lstStyle/>
          <a:p>
            <a:r>
              <a:rPr lang="en-US" dirty="0"/>
              <a:t>One to Many</a:t>
            </a:r>
            <a:endParaRPr lang="en-IN" dirty="0"/>
          </a:p>
        </p:txBody>
      </p:sp>
      <p:pic>
        <p:nvPicPr>
          <p:cNvPr id="15362" name="Picture 2" descr="Types of Recurrent Neural Networks (RNN) in Tensorflow - GeeksforGeeks">
            <a:extLst>
              <a:ext uri="{FF2B5EF4-FFF2-40B4-BE49-F238E27FC236}">
                <a16:creationId xmlns:a16="http://schemas.microsoft.com/office/drawing/2014/main" id="{AAF356EB-4990-817B-2A0E-19812295C2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0568" y="0"/>
            <a:ext cx="5191432" cy="205399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0319880-EFE1-13EA-48F2-93D5CE683C92}"/>
              </a:ext>
            </a:extLst>
          </p:cNvPr>
          <p:cNvSpPr txBox="1"/>
          <p:nvPr/>
        </p:nvSpPr>
        <p:spPr>
          <a:xfrm>
            <a:off x="759541" y="1343818"/>
            <a:ext cx="6096000" cy="923330"/>
          </a:xfrm>
          <a:prstGeom prst="rect">
            <a:avLst/>
          </a:prstGeom>
          <a:noFill/>
        </p:spPr>
        <p:txBody>
          <a:bodyPr wrap="square">
            <a:spAutoFit/>
          </a:bodyPr>
          <a:lstStyle/>
          <a:p>
            <a:r>
              <a:rPr lang="en-US" dirty="0">
                <a:solidFill>
                  <a:srgbClr val="242424"/>
                </a:solidFill>
                <a:latin typeface="source-serif-pro"/>
              </a:rPr>
              <a:t>A</a:t>
            </a:r>
            <a:r>
              <a:rPr lang="en-US" b="0" i="0" dirty="0">
                <a:solidFill>
                  <a:srgbClr val="242424"/>
                </a:solidFill>
                <a:effectLst/>
                <a:latin typeface="source-serif-pro"/>
              </a:rPr>
              <a:t> “one-to-many” architecture represents a scenario where the network receives a </a:t>
            </a:r>
            <a:r>
              <a:rPr lang="en-US" b="1" i="0" dirty="0">
                <a:solidFill>
                  <a:srgbClr val="242424"/>
                </a:solidFill>
                <a:effectLst/>
                <a:latin typeface="source-serif-pro"/>
              </a:rPr>
              <a:t>single input</a:t>
            </a:r>
            <a:r>
              <a:rPr lang="en-US" b="0" i="0" dirty="0">
                <a:solidFill>
                  <a:srgbClr val="242424"/>
                </a:solidFill>
                <a:effectLst/>
                <a:latin typeface="source-serif-pro"/>
              </a:rPr>
              <a:t> but generates a </a:t>
            </a:r>
            <a:r>
              <a:rPr lang="en-US" b="1" i="0" dirty="0">
                <a:solidFill>
                  <a:srgbClr val="242424"/>
                </a:solidFill>
                <a:effectLst/>
                <a:latin typeface="source-serif-pro"/>
              </a:rPr>
              <a:t>sequence of outputs</a:t>
            </a:r>
            <a:r>
              <a:rPr lang="en-US" b="0" i="0" dirty="0">
                <a:solidFill>
                  <a:srgbClr val="242424"/>
                </a:solidFill>
                <a:effectLst/>
                <a:latin typeface="source-serif-pro"/>
              </a:rPr>
              <a:t>. </a:t>
            </a:r>
            <a:endParaRPr lang="en-IN" dirty="0"/>
          </a:p>
        </p:txBody>
      </p:sp>
      <p:sp>
        <p:nvSpPr>
          <p:cNvPr id="7" name="TextBox 6">
            <a:extLst>
              <a:ext uri="{FF2B5EF4-FFF2-40B4-BE49-F238E27FC236}">
                <a16:creationId xmlns:a16="http://schemas.microsoft.com/office/drawing/2014/main" id="{B893201F-9C8F-551B-19F8-386DE713A128}"/>
              </a:ext>
            </a:extLst>
          </p:cNvPr>
          <p:cNvSpPr txBox="1"/>
          <p:nvPr/>
        </p:nvSpPr>
        <p:spPr>
          <a:xfrm>
            <a:off x="759541" y="2573266"/>
            <a:ext cx="6096000" cy="1307409"/>
          </a:xfrm>
          <a:prstGeom prst="rect">
            <a:avLst/>
          </a:prstGeom>
          <a:noFill/>
        </p:spPr>
        <p:txBody>
          <a:bodyPr wrap="square">
            <a:spAutoFit/>
          </a:bodyPr>
          <a:lstStyle/>
          <a:p>
            <a:pPr algn="l">
              <a:lnSpc>
                <a:spcPts val="2400"/>
              </a:lnSpc>
              <a:buFont typeface="Arial" panose="020B0604020202020204" pitchFamily="34" charset="0"/>
              <a:buChar char="•"/>
            </a:pPr>
            <a:r>
              <a:rPr lang="en-US" b="1" i="0" dirty="0">
                <a:solidFill>
                  <a:srgbClr val="242424"/>
                </a:solidFill>
                <a:effectLst/>
                <a:latin typeface="source-serif-pro"/>
              </a:rPr>
              <a:t>Single Input:</a:t>
            </a:r>
            <a:r>
              <a:rPr lang="en-US" b="0" i="0" dirty="0">
                <a:solidFill>
                  <a:srgbClr val="242424"/>
                </a:solidFill>
                <a:effectLst/>
                <a:latin typeface="source-serif-pro"/>
              </a:rPr>
              <a:t> The RNN takes in a single piece of information as input. This could be an image, a musical note, a short sentence, or any data point that serves as a starting point for the network.</a:t>
            </a:r>
          </a:p>
        </p:txBody>
      </p:sp>
      <p:sp>
        <p:nvSpPr>
          <p:cNvPr id="9" name="TextBox 8">
            <a:extLst>
              <a:ext uri="{FF2B5EF4-FFF2-40B4-BE49-F238E27FC236}">
                <a16:creationId xmlns:a16="http://schemas.microsoft.com/office/drawing/2014/main" id="{C38E2854-5790-D970-9184-9DF2C18025C9}"/>
              </a:ext>
            </a:extLst>
          </p:cNvPr>
          <p:cNvSpPr txBox="1"/>
          <p:nvPr/>
        </p:nvSpPr>
        <p:spPr>
          <a:xfrm>
            <a:off x="759541" y="4186793"/>
            <a:ext cx="6096000" cy="999633"/>
          </a:xfrm>
          <a:prstGeom prst="rect">
            <a:avLst/>
          </a:prstGeom>
          <a:noFill/>
        </p:spPr>
        <p:txBody>
          <a:bodyPr wrap="square">
            <a:spAutoFit/>
          </a:bodyPr>
          <a:lstStyle/>
          <a:p>
            <a:pPr algn="l">
              <a:lnSpc>
                <a:spcPts val="2400"/>
              </a:lnSpc>
              <a:buFont typeface="Arial" panose="020B0604020202020204" pitchFamily="34" charset="0"/>
              <a:buChar char="•"/>
            </a:pPr>
            <a:r>
              <a:rPr lang="en-US" b="1" i="0" dirty="0">
                <a:solidFill>
                  <a:srgbClr val="242424"/>
                </a:solidFill>
                <a:effectLst/>
                <a:latin typeface="source-serif-pro"/>
              </a:rPr>
              <a:t>Multiple Outputs:</a:t>
            </a:r>
            <a:r>
              <a:rPr lang="en-US" b="0" i="0" dirty="0">
                <a:solidFill>
                  <a:srgbClr val="242424"/>
                </a:solidFill>
                <a:effectLst/>
                <a:latin typeface="source-serif-pro"/>
              </a:rPr>
              <a:t> The RNN processes the input and generates a sequence of outputs over time. This sequence can vary in length depending on the specific task.</a:t>
            </a:r>
          </a:p>
        </p:txBody>
      </p:sp>
      <p:sp>
        <p:nvSpPr>
          <p:cNvPr id="11" name="TextBox 10">
            <a:extLst>
              <a:ext uri="{FF2B5EF4-FFF2-40B4-BE49-F238E27FC236}">
                <a16:creationId xmlns:a16="http://schemas.microsoft.com/office/drawing/2014/main" id="{8B5D220E-E8DD-CEA5-4630-C51E414972F7}"/>
              </a:ext>
            </a:extLst>
          </p:cNvPr>
          <p:cNvSpPr txBox="1"/>
          <p:nvPr/>
        </p:nvSpPr>
        <p:spPr>
          <a:xfrm>
            <a:off x="7364361" y="2388600"/>
            <a:ext cx="1592826" cy="369332"/>
          </a:xfrm>
          <a:prstGeom prst="rect">
            <a:avLst/>
          </a:prstGeom>
          <a:noFill/>
        </p:spPr>
        <p:txBody>
          <a:bodyPr wrap="square">
            <a:spAutoFit/>
          </a:bodyPr>
          <a:lstStyle/>
          <a:p>
            <a:r>
              <a:rPr lang="en-IN" dirty="0">
                <a:solidFill>
                  <a:srgbClr val="242424"/>
                </a:solidFill>
                <a:latin typeface="source-serif-pro"/>
              </a:rPr>
              <a:t>A</a:t>
            </a:r>
            <a:r>
              <a:rPr lang="en-IN" b="0" i="0" dirty="0">
                <a:solidFill>
                  <a:srgbClr val="242424"/>
                </a:solidFill>
                <a:effectLst/>
                <a:latin typeface="source-serif-pro"/>
              </a:rPr>
              <a:t>pplications:</a:t>
            </a:r>
            <a:endParaRPr lang="en-IN" dirty="0"/>
          </a:p>
        </p:txBody>
      </p:sp>
      <p:sp>
        <p:nvSpPr>
          <p:cNvPr id="13" name="TextBox 12">
            <a:extLst>
              <a:ext uri="{FF2B5EF4-FFF2-40B4-BE49-F238E27FC236}">
                <a16:creationId xmlns:a16="http://schemas.microsoft.com/office/drawing/2014/main" id="{26B133D0-CAD2-C96C-040D-0ADCC6AE5BEA}"/>
              </a:ext>
            </a:extLst>
          </p:cNvPr>
          <p:cNvSpPr txBox="1"/>
          <p:nvPr/>
        </p:nvSpPr>
        <p:spPr>
          <a:xfrm>
            <a:off x="7197213" y="2881042"/>
            <a:ext cx="4994787" cy="999633"/>
          </a:xfrm>
          <a:prstGeom prst="rect">
            <a:avLst/>
          </a:prstGeom>
          <a:noFill/>
        </p:spPr>
        <p:txBody>
          <a:bodyPr wrap="square">
            <a:spAutoFit/>
          </a:bodyPr>
          <a:lstStyle/>
          <a:p>
            <a:pPr algn="l">
              <a:lnSpc>
                <a:spcPts val="2400"/>
              </a:lnSpc>
              <a:buFont typeface="Arial" panose="020B0604020202020204" pitchFamily="34" charset="0"/>
              <a:buChar char="•"/>
            </a:pPr>
            <a:r>
              <a:rPr lang="en-US" b="1" i="0" dirty="0">
                <a:solidFill>
                  <a:srgbClr val="242424"/>
                </a:solidFill>
                <a:effectLst/>
                <a:latin typeface="source-serif-pro"/>
              </a:rPr>
              <a:t>Image Captioning:</a:t>
            </a:r>
            <a:r>
              <a:rPr lang="en-US" b="0" i="0" dirty="0">
                <a:solidFill>
                  <a:srgbClr val="242424"/>
                </a:solidFill>
                <a:effectLst/>
                <a:latin typeface="source-serif-pro"/>
              </a:rPr>
              <a:t> Based on a single image input, the RNN generates a sentence or paragraph describing the image content (multiple outputs).</a:t>
            </a:r>
          </a:p>
        </p:txBody>
      </p:sp>
      <p:sp>
        <p:nvSpPr>
          <p:cNvPr id="15" name="TextBox 14">
            <a:extLst>
              <a:ext uri="{FF2B5EF4-FFF2-40B4-BE49-F238E27FC236}">
                <a16:creationId xmlns:a16="http://schemas.microsoft.com/office/drawing/2014/main" id="{BE734989-3A92-09A7-A318-4F493189DCD3}"/>
              </a:ext>
            </a:extLst>
          </p:cNvPr>
          <p:cNvSpPr txBox="1"/>
          <p:nvPr/>
        </p:nvSpPr>
        <p:spPr>
          <a:xfrm>
            <a:off x="7197213" y="4455642"/>
            <a:ext cx="4994787" cy="1307409"/>
          </a:xfrm>
          <a:prstGeom prst="rect">
            <a:avLst/>
          </a:prstGeom>
          <a:noFill/>
        </p:spPr>
        <p:txBody>
          <a:bodyPr wrap="square">
            <a:spAutoFit/>
          </a:bodyPr>
          <a:lstStyle/>
          <a:p>
            <a:pPr algn="l">
              <a:lnSpc>
                <a:spcPts val="2400"/>
              </a:lnSpc>
              <a:buFont typeface="Arial" panose="020B0604020202020204" pitchFamily="34" charset="0"/>
              <a:buChar char="•"/>
            </a:pPr>
            <a:r>
              <a:rPr lang="en-US" b="1" i="0" dirty="0">
                <a:solidFill>
                  <a:srgbClr val="242424"/>
                </a:solidFill>
                <a:effectLst/>
                <a:latin typeface="source-serif-pro"/>
              </a:rPr>
              <a:t>Music Generation:</a:t>
            </a:r>
            <a:r>
              <a:rPr lang="en-US" b="0" i="0" dirty="0">
                <a:solidFill>
                  <a:srgbClr val="242424"/>
                </a:solidFill>
                <a:effectLst/>
                <a:latin typeface="source-serif-pro"/>
              </a:rPr>
              <a:t> The RNN receives a single starting note or short melody as input and produces a sequence of musical notes forming a complete piece (multiple outputs).</a:t>
            </a:r>
          </a:p>
        </p:txBody>
      </p:sp>
    </p:spTree>
    <p:extLst>
      <p:ext uri="{BB962C8B-B14F-4D97-AF65-F5344CB8AC3E}">
        <p14:creationId xmlns:p14="http://schemas.microsoft.com/office/powerpoint/2010/main" val="3551998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1" grpId="0"/>
      <p:bldP spid="13" grpId="0"/>
      <p:bldP spid="1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82E29-CC2B-A8C7-714F-EAA9993744F2}"/>
              </a:ext>
            </a:extLst>
          </p:cNvPr>
          <p:cNvSpPr>
            <a:spLocks noGrp="1"/>
          </p:cNvSpPr>
          <p:nvPr>
            <p:ph type="title"/>
          </p:nvPr>
        </p:nvSpPr>
        <p:spPr>
          <a:xfrm>
            <a:off x="838200" y="18255"/>
            <a:ext cx="10515600" cy="1325563"/>
          </a:xfrm>
        </p:spPr>
        <p:txBody>
          <a:bodyPr/>
          <a:lstStyle/>
          <a:p>
            <a:r>
              <a:rPr lang="en-US" dirty="0"/>
              <a:t>Many to One</a:t>
            </a:r>
            <a:endParaRPr lang="en-IN" dirty="0"/>
          </a:p>
        </p:txBody>
      </p:sp>
      <p:sp>
        <p:nvSpPr>
          <p:cNvPr id="5" name="TextBox 4">
            <a:extLst>
              <a:ext uri="{FF2B5EF4-FFF2-40B4-BE49-F238E27FC236}">
                <a16:creationId xmlns:a16="http://schemas.microsoft.com/office/drawing/2014/main" id="{B9677E83-6D5F-218C-2E1F-000DD903BB90}"/>
              </a:ext>
            </a:extLst>
          </p:cNvPr>
          <p:cNvSpPr txBox="1"/>
          <p:nvPr/>
        </p:nvSpPr>
        <p:spPr>
          <a:xfrm>
            <a:off x="838200" y="1101664"/>
            <a:ext cx="6096000" cy="923330"/>
          </a:xfrm>
          <a:prstGeom prst="rect">
            <a:avLst/>
          </a:prstGeom>
          <a:noFill/>
        </p:spPr>
        <p:txBody>
          <a:bodyPr wrap="square">
            <a:spAutoFit/>
          </a:bodyPr>
          <a:lstStyle/>
          <a:p>
            <a:r>
              <a:rPr lang="en-US" dirty="0">
                <a:solidFill>
                  <a:srgbClr val="242424"/>
                </a:solidFill>
                <a:latin typeface="source-serif-pro"/>
              </a:rPr>
              <a:t>A</a:t>
            </a:r>
            <a:r>
              <a:rPr lang="en-US" b="0" i="0" dirty="0">
                <a:solidFill>
                  <a:srgbClr val="242424"/>
                </a:solidFill>
                <a:effectLst/>
                <a:latin typeface="source-serif-pro"/>
              </a:rPr>
              <a:t> “many-to-one” architecture refers to a specific type of RNN where the network processes a </a:t>
            </a:r>
            <a:r>
              <a:rPr lang="en-US" b="1" i="0" dirty="0">
                <a:solidFill>
                  <a:srgbClr val="242424"/>
                </a:solidFill>
                <a:effectLst/>
                <a:latin typeface="source-serif-pro"/>
              </a:rPr>
              <a:t>sequence of inputs</a:t>
            </a:r>
            <a:r>
              <a:rPr lang="en-US" b="0" i="0" dirty="0">
                <a:solidFill>
                  <a:srgbClr val="242424"/>
                </a:solidFill>
                <a:effectLst/>
                <a:latin typeface="source-serif-pro"/>
              </a:rPr>
              <a:t> but produces a </a:t>
            </a:r>
            <a:r>
              <a:rPr lang="en-US" b="1" i="0" dirty="0">
                <a:solidFill>
                  <a:srgbClr val="242424"/>
                </a:solidFill>
                <a:effectLst/>
                <a:latin typeface="source-serif-pro"/>
              </a:rPr>
              <a:t>single output</a:t>
            </a:r>
            <a:r>
              <a:rPr lang="en-US" b="0" i="0" dirty="0">
                <a:solidFill>
                  <a:srgbClr val="242424"/>
                </a:solidFill>
                <a:effectLst/>
                <a:latin typeface="source-serif-pro"/>
              </a:rPr>
              <a:t>.</a:t>
            </a:r>
            <a:endParaRPr lang="en-IN" dirty="0"/>
          </a:p>
        </p:txBody>
      </p:sp>
      <p:pic>
        <p:nvPicPr>
          <p:cNvPr id="16386" name="Picture 2" descr="Many-to-one RNN structure used in the method of DNN with RNN(on sequence).  | Download Scientific Diagram">
            <a:extLst>
              <a:ext uri="{FF2B5EF4-FFF2-40B4-BE49-F238E27FC236}">
                <a16:creationId xmlns:a16="http://schemas.microsoft.com/office/drawing/2014/main" id="{8AB37C4A-D05B-0AFC-2E52-7674E95AC4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4801" y="0"/>
            <a:ext cx="4267199" cy="206200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DDA17F1-39C1-587A-392E-E4D8FC53B11B}"/>
              </a:ext>
            </a:extLst>
          </p:cNvPr>
          <p:cNvSpPr txBox="1"/>
          <p:nvPr/>
        </p:nvSpPr>
        <p:spPr>
          <a:xfrm>
            <a:off x="838200" y="2454698"/>
            <a:ext cx="6096000" cy="1307409"/>
          </a:xfrm>
          <a:prstGeom prst="rect">
            <a:avLst/>
          </a:prstGeom>
          <a:noFill/>
        </p:spPr>
        <p:txBody>
          <a:bodyPr wrap="square">
            <a:spAutoFit/>
          </a:bodyPr>
          <a:lstStyle/>
          <a:p>
            <a:pPr algn="l">
              <a:lnSpc>
                <a:spcPts val="2400"/>
              </a:lnSpc>
              <a:buFont typeface="Arial" panose="020B0604020202020204" pitchFamily="34" charset="0"/>
              <a:buChar char="•"/>
            </a:pPr>
            <a:r>
              <a:rPr lang="en-US" b="1" i="0" dirty="0">
                <a:solidFill>
                  <a:srgbClr val="242424"/>
                </a:solidFill>
                <a:effectLst/>
                <a:latin typeface="source-serif-pro"/>
              </a:rPr>
              <a:t>Many Inputs:</a:t>
            </a:r>
            <a:r>
              <a:rPr lang="en-US" b="0" i="0" dirty="0">
                <a:solidFill>
                  <a:srgbClr val="242424"/>
                </a:solidFill>
                <a:effectLst/>
                <a:latin typeface="source-serif-pro"/>
              </a:rPr>
              <a:t> The RNN takes in a sequence of data points over time. This sequence could be words in a sentence, sensor readings over a period, or financial data points for multiple days.</a:t>
            </a:r>
          </a:p>
        </p:txBody>
      </p:sp>
      <p:sp>
        <p:nvSpPr>
          <p:cNvPr id="9" name="TextBox 8">
            <a:extLst>
              <a:ext uri="{FF2B5EF4-FFF2-40B4-BE49-F238E27FC236}">
                <a16:creationId xmlns:a16="http://schemas.microsoft.com/office/drawing/2014/main" id="{2DB77459-FF17-B554-53ED-C089EE16A547}"/>
              </a:ext>
            </a:extLst>
          </p:cNvPr>
          <p:cNvSpPr txBox="1"/>
          <p:nvPr/>
        </p:nvSpPr>
        <p:spPr>
          <a:xfrm>
            <a:off x="914400" y="4141150"/>
            <a:ext cx="6096000" cy="1615186"/>
          </a:xfrm>
          <a:prstGeom prst="rect">
            <a:avLst/>
          </a:prstGeom>
          <a:noFill/>
        </p:spPr>
        <p:txBody>
          <a:bodyPr wrap="square">
            <a:spAutoFit/>
          </a:bodyPr>
          <a:lstStyle/>
          <a:p>
            <a:pPr algn="l">
              <a:lnSpc>
                <a:spcPts val="2400"/>
              </a:lnSpc>
              <a:buFont typeface="Arial" panose="020B0604020202020204" pitchFamily="34" charset="0"/>
              <a:buChar char="•"/>
            </a:pPr>
            <a:r>
              <a:rPr lang="en-US" b="1" i="0" dirty="0">
                <a:solidFill>
                  <a:srgbClr val="242424"/>
                </a:solidFill>
                <a:effectLst/>
                <a:latin typeface="source-serif-pro"/>
              </a:rPr>
              <a:t>Single Output:</a:t>
            </a:r>
            <a:r>
              <a:rPr lang="en-US" b="0" i="0" dirty="0">
                <a:solidFill>
                  <a:srgbClr val="242424"/>
                </a:solidFill>
                <a:effectLst/>
                <a:latin typeface="source-serif-pro"/>
              </a:rPr>
              <a:t> After processing the entire sequence, the RNN generates a single output value. This output could be a classification (positive/negative sentiment), a prediction (next value in the time series), or a summary of the information in the sequence.</a:t>
            </a:r>
          </a:p>
        </p:txBody>
      </p:sp>
      <p:sp>
        <p:nvSpPr>
          <p:cNvPr id="11" name="TextBox 10">
            <a:extLst>
              <a:ext uri="{FF2B5EF4-FFF2-40B4-BE49-F238E27FC236}">
                <a16:creationId xmlns:a16="http://schemas.microsoft.com/office/drawing/2014/main" id="{32FC714A-78B6-45E4-ACF4-3BDA415C26C6}"/>
              </a:ext>
            </a:extLst>
          </p:cNvPr>
          <p:cNvSpPr txBox="1"/>
          <p:nvPr/>
        </p:nvSpPr>
        <p:spPr>
          <a:xfrm>
            <a:off x="7354529" y="2454698"/>
            <a:ext cx="1632155" cy="369332"/>
          </a:xfrm>
          <a:prstGeom prst="rect">
            <a:avLst/>
          </a:prstGeom>
          <a:noFill/>
        </p:spPr>
        <p:txBody>
          <a:bodyPr wrap="square">
            <a:spAutoFit/>
          </a:bodyPr>
          <a:lstStyle/>
          <a:p>
            <a:r>
              <a:rPr lang="en-IN" dirty="0">
                <a:solidFill>
                  <a:srgbClr val="242424"/>
                </a:solidFill>
                <a:latin typeface="source-serif-pro"/>
              </a:rPr>
              <a:t>A</a:t>
            </a:r>
            <a:r>
              <a:rPr lang="en-IN" b="0" i="0" dirty="0">
                <a:solidFill>
                  <a:srgbClr val="242424"/>
                </a:solidFill>
                <a:effectLst/>
                <a:latin typeface="source-serif-pro"/>
              </a:rPr>
              <a:t>pplications:</a:t>
            </a:r>
            <a:endParaRPr lang="en-IN" dirty="0"/>
          </a:p>
        </p:txBody>
      </p:sp>
      <p:sp>
        <p:nvSpPr>
          <p:cNvPr id="13" name="TextBox 12">
            <a:extLst>
              <a:ext uri="{FF2B5EF4-FFF2-40B4-BE49-F238E27FC236}">
                <a16:creationId xmlns:a16="http://schemas.microsoft.com/office/drawing/2014/main" id="{C39D6512-91D8-559C-5DA9-553EA6B2EEC4}"/>
              </a:ext>
            </a:extLst>
          </p:cNvPr>
          <p:cNvSpPr txBox="1"/>
          <p:nvPr/>
        </p:nvSpPr>
        <p:spPr>
          <a:xfrm>
            <a:off x="7354529" y="2929183"/>
            <a:ext cx="4837471" cy="1307409"/>
          </a:xfrm>
          <a:prstGeom prst="rect">
            <a:avLst/>
          </a:prstGeom>
          <a:noFill/>
        </p:spPr>
        <p:txBody>
          <a:bodyPr wrap="square">
            <a:spAutoFit/>
          </a:bodyPr>
          <a:lstStyle/>
          <a:p>
            <a:pPr algn="l">
              <a:lnSpc>
                <a:spcPts val="2400"/>
              </a:lnSpc>
              <a:buFont typeface="Arial" panose="020B0604020202020204" pitchFamily="34" charset="0"/>
              <a:buChar char="•"/>
            </a:pPr>
            <a:r>
              <a:rPr lang="en-US" b="1" i="0" dirty="0">
                <a:solidFill>
                  <a:srgbClr val="242424"/>
                </a:solidFill>
                <a:effectLst/>
                <a:latin typeface="source-serif-pro"/>
              </a:rPr>
              <a:t>Sentiment Analysis:</a:t>
            </a:r>
            <a:r>
              <a:rPr lang="en-US" b="0" i="0" dirty="0">
                <a:solidFill>
                  <a:srgbClr val="242424"/>
                </a:solidFill>
                <a:effectLst/>
                <a:latin typeface="source-serif-pro"/>
              </a:rPr>
              <a:t> Given a sentence or review text (sequence of words), classify its overall sentiment (positive, negative, or neutral) as the single output.</a:t>
            </a:r>
          </a:p>
        </p:txBody>
      </p:sp>
      <p:sp>
        <p:nvSpPr>
          <p:cNvPr id="15" name="TextBox 14">
            <a:extLst>
              <a:ext uri="{FF2B5EF4-FFF2-40B4-BE49-F238E27FC236}">
                <a16:creationId xmlns:a16="http://schemas.microsoft.com/office/drawing/2014/main" id="{E6A72308-C8BF-86F6-4868-631A84328674}"/>
              </a:ext>
            </a:extLst>
          </p:cNvPr>
          <p:cNvSpPr txBox="1"/>
          <p:nvPr/>
        </p:nvSpPr>
        <p:spPr>
          <a:xfrm>
            <a:off x="7354529" y="4602815"/>
            <a:ext cx="4837471" cy="999633"/>
          </a:xfrm>
          <a:prstGeom prst="rect">
            <a:avLst/>
          </a:prstGeom>
          <a:noFill/>
        </p:spPr>
        <p:txBody>
          <a:bodyPr wrap="square">
            <a:spAutoFit/>
          </a:bodyPr>
          <a:lstStyle/>
          <a:p>
            <a:pPr algn="l">
              <a:lnSpc>
                <a:spcPts val="2400"/>
              </a:lnSpc>
              <a:buFont typeface="Arial" panose="020B0604020202020204" pitchFamily="34" charset="0"/>
              <a:buChar char="•"/>
            </a:pPr>
            <a:r>
              <a:rPr lang="en-US" b="1" i="0" dirty="0">
                <a:solidFill>
                  <a:srgbClr val="242424"/>
                </a:solidFill>
                <a:effectLst/>
                <a:latin typeface="source-serif-pro"/>
              </a:rPr>
              <a:t>Spam Detection:</a:t>
            </a:r>
            <a:r>
              <a:rPr lang="en-US" b="0" i="0" dirty="0">
                <a:solidFill>
                  <a:srgbClr val="242424"/>
                </a:solidFill>
                <a:effectLst/>
                <a:latin typeface="source-serif-pro"/>
              </a:rPr>
              <a:t> Analyze an email’s content (sequence of words) to determine if it’s spam (single output).</a:t>
            </a:r>
          </a:p>
        </p:txBody>
      </p:sp>
    </p:spTree>
    <p:extLst>
      <p:ext uri="{BB962C8B-B14F-4D97-AF65-F5344CB8AC3E}">
        <p14:creationId xmlns:p14="http://schemas.microsoft.com/office/powerpoint/2010/main" val="1793188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1" grpId="0"/>
      <p:bldP spid="13" grpId="0"/>
      <p:bldP spid="1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5B87B-322E-93F6-720D-5F7D6EAEF33D}"/>
              </a:ext>
            </a:extLst>
          </p:cNvPr>
          <p:cNvSpPr>
            <a:spLocks noGrp="1"/>
          </p:cNvSpPr>
          <p:nvPr>
            <p:ph type="title"/>
          </p:nvPr>
        </p:nvSpPr>
        <p:spPr>
          <a:xfrm>
            <a:off x="838200" y="18255"/>
            <a:ext cx="10515600" cy="1325563"/>
          </a:xfrm>
        </p:spPr>
        <p:txBody>
          <a:bodyPr/>
          <a:lstStyle/>
          <a:p>
            <a:r>
              <a:rPr lang="en-US" dirty="0"/>
              <a:t>Many to Many</a:t>
            </a:r>
            <a:endParaRPr lang="en-IN" dirty="0"/>
          </a:p>
        </p:txBody>
      </p:sp>
      <p:pic>
        <p:nvPicPr>
          <p:cNvPr id="17410" name="Picture 2" descr="CS 230 - Recurrent Neural Networks Cheatsheet">
            <a:extLst>
              <a:ext uri="{FF2B5EF4-FFF2-40B4-BE49-F238E27FC236}">
                <a16:creationId xmlns:a16="http://schemas.microsoft.com/office/drawing/2014/main" id="{7AC58AD5-C471-12AD-0729-B14DBD21AD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39432" y="18255"/>
            <a:ext cx="5043949" cy="218104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6FBEA69-D1DA-AF92-EC23-4A8E3EDEBAED}"/>
              </a:ext>
            </a:extLst>
          </p:cNvPr>
          <p:cNvSpPr txBox="1"/>
          <p:nvPr/>
        </p:nvSpPr>
        <p:spPr>
          <a:xfrm>
            <a:off x="838200" y="1108778"/>
            <a:ext cx="6602360" cy="1200329"/>
          </a:xfrm>
          <a:prstGeom prst="rect">
            <a:avLst/>
          </a:prstGeom>
          <a:noFill/>
        </p:spPr>
        <p:txBody>
          <a:bodyPr wrap="square">
            <a:spAutoFit/>
          </a:bodyPr>
          <a:lstStyle/>
          <a:p>
            <a:r>
              <a:rPr lang="en-US" dirty="0">
                <a:solidFill>
                  <a:srgbClr val="242424"/>
                </a:solidFill>
                <a:latin typeface="source-serif-pro"/>
              </a:rPr>
              <a:t>A</a:t>
            </a:r>
            <a:r>
              <a:rPr lang="en-US" b="0" i="0" dirty="0">
                <a:solidFill>
                  <a:srgbClr val="242424"/>
                </a:solidFill>
                <a:effectLst/>
                <a:latin typeface="source-serif-pro"/>
              </a:rPr>
              <a:t> “many-to-many” architecture describes a scenario where the network processes a </a:t>
            </a:r>
            <a:r>
              <a:rPr lang="en-US" b="1" i="0" dirty="0">
                <a:solidFill>
                  <a:srgbClr val="242424"/>
                </a:solidFill>
                <a:effectLst/>
                <a:latin typeface="source-serif-pro"/>
              </a:rPr>
              <a:t>sequence of inputs</a:t>
            </a:r>
            <a:r>
              <a:rPr lang="en-US" b="0" i="0" dirty="0">
                <a:solidFill>
                  <a:srgbClr val="242424"/>
                </a:solidFill>
                <a:effectLst/>
                <a:latin typeface="source-serif-pro"/>
              </a:rPr>
              <a:t> and generates a corresponding </a:t>
            </a:r>
            <a:r>
              <a:rPr lang="en-US" b="1" i="0" dirty="0">
                <a:solidFill>
                  <a:srgbClr val="242424"/>
                </a:solidFill>
                <a:effectLst/>
                <a:latin typeface="source-serif-pro"/>
              </a:rPr>
              <a:t>sequence of outputs</a:t>
            </a:r>
            <a:r>
              <a:rPr lang="en-US" b="0" i="0" dirty="0">
                <a:solidFill>
                  <a:srgbClr val="242424"/>
                </a:solidFill>
                <a:effectLst/>
                <a:latin typeface="source-serif-pro"/>
              </a:rPr>
              <a:t>. This means both the input and output have multiple elements processed over time steps.</a:t>
            </a:r>
            <a:endParaRPr lang="en-IN" dirty="0"/>
          </a:p>
        </p:txBody>
      </p:sp>
      <p:sp>
        <p:nvSpPr>
          <p:cNvPr id="7" name="TextBox 6">
            <a:extLst>
              <a:ext uri="{FF2B5EF4-FFF2-40B4-BE49-F238E27FC236}">
                <a16:creationId xmlns:a16="http://schemas.microsoft.com/office/drawing/2014/main" id="{4F4C3D01-4306-C4FD-D1A5-669F13E63A8B}"/>
              </a:ext>
            </a:extLst>
          </p:cNvPr>
          <p:cNvSpPr txBox="1"/>
          <p:nvPr/>
        </p:nvSpPr>
        <p:spPr>
          <a:xfrm>
            <a:off x="838200" y="2899813"/>
            <a:ext cx="6602360" cy="999633"/>
          </a:xfrm>
          <a:prstGeom prst="rect">
            <a:avLst/>
          </a:prstGeom>
          <a:noFill/>
        </p:spPr>
        <p:txBody>
          <a:bodyPr wrap="square">
            <a:spAutoFit/>
          </a:bodyPr>
          <a:lstStyle/>
          <a:p>
            <a:pPr algn="l">
              <a:lnSpc>
                <a:spcPts val="2400"/>
              </a:lnSpc>
              <a:buFont typeface="Arial" panose="020B0604020202020204" pitchFamily="34" charset="0"/>
              <a:buChar char="•"/>
            </a:pPr>
            <a:r>
              <a:rPr lang="en-US" b="1" i="0" dirty="0">
                <a:solidFill>
                  <a:srgbClr val="242424"/>
                </a:solidFill>
                <a:effectLst/>
                <a:latin typeface="source-serif-pro"/>
              </a:rPr>
              <a:t>Multiple Inputs:</a:t>
            </a:r>
            <a:r>
              <a:rPr lang="en-US" b="0" i="0" dirty="0">
                <a:solidFill>
                  <a:srgbClr val="242424"/>
                </a:solidFill>
                <a:effectLst/>
                <a:latin typeface="source-serif-pro"/>
              </a:rPr>
              <a:t> The RNN takes in a sequence of data points, similar to many-to-one RNNs. This sequence could be words in a sentence, sensor readings, or financial data points.</a:t>
            </a:r>
          </a:p>
        </p:txBody>
      </p:sp>
      <p:sp>
        <p:nvSpPr>
          <p:cNvPr id="9" name="TextBox 8">
            <a:extLst>
              <a:ext uri="{FF2B5EF4-FFF2-40B4-BE49-F238E27FC236}">
                <a16:creationId xmlns:a16="http://schemas.microsoft.com/office/drawing/2014/main" id="{2108A267-952C-CB19-DA00-AF7B27FF2BBF}"/>
              </a:ext>
            </a:extLst>
          </p:cNvPr>
          <p:cNvSpPr txBox="1"/>
          <p:nvPr/>
        </p:nvSpPr>
        <p:spPr>
          <a:xfrm>
            <a:off x="838200" y="4538359"/>
            <a:ext cx="6602360" cy="999633"/>
          </a:xfrm>
          <a:prstGeom prst="rect">
            <a:avLst/>
          </a:prstGeom>
          <a:noFill/>
        </p:spPr>
        <p:txBody>
          <a:bodyPr wrap="square">
            <a:spAutoFit/>
          </a:bodyPr>
          <a:lstStyle/>
          <a:p>
            <a:pPr algn="l">
              <a:lnSpc>
                <a:spcPts val="2400"/>
              </a:lnSpc>
              <a:buFont typeface="Arial" panose="020B0604020202020204" pitchFamily="34" charset="0"/>
              <a:buChar char="•"/>
            </a:pPr>
            <a:r>
              <a:rPr lang="en-US" b="1" i="0" dirty="0">
                <a:solidFill>
                  <a:srgbClr val="242424"/>
                </a:solidFill>
                <a:effectLst/>
                <a:latin typeface="source-serif-pro"/>
              </a:rPr>
              <a:t>Multiple Outputs:</a:t>
            </a:r>
            <a:r>
              <a:rPr lang="en-US" b="0" i="0" dirty="0">
                <a:solidFill>
                  <a:srgbClr val="242424"/>
                </a:solidFill>
                <a:effectLst/>
                <a:latin typeface="source-serif-pro"/>
              </a:rPr>
              <a:t> The RNN generates a new sequence of data points, with a length that may or may not be the same as the input sequence.</a:t>
            </a:r>
          </a:p>
        </p:txBody>
      </p:sp>
    </p:spTree>
    <p:extLst>
      <p:ext uri="{BB962C8B-B14F-4D97-AF65-F5344CB8AC3E}">
        <p14:creationId xmlns:p14="http://schemas.microsoft.com/office/powerpoint/2010/main" val="2110764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D9E57-9995-A98F-64F7-68B0B9343EB5}"/>
              </a:ext>
            </a:extLst>
          </p:cNvPr>
          <p:cNvSpPr>
            <a:spLocks noGrp="1"/>
          </p:cNvSpPr>
          <p:nvPr>
            <p:ph type="title"/>
          </p:nvPr>
        </p:nvSpPr>
        <p:spPr>
          <a:xfrm>
            <a:off x="838200" y="18255"/>
            <a:ext cx="10515600" cy="1325563"/>
          </a:xfrm>
        </p:spPr>
        <p:txBody>
          <a:bodyPr/>
          <a:lstStyle/>
          <a:p>
            <a:r>
              <a:rPr lang="en-US" dirty="0"/>
              <a:t>Many to Many</a:t>
            </a:r>
            <a:endParaRPr lang="en-IN" dirty="0"/>
          </a:p>
        </p:txBody>
      </p:sp>
      <p:sp>
        <p:nvSpPr>
          <p:cNvPr id="5" name="TextBox 4">
            <a:extLst>
              <a:ext uri="{FF2B5EF4-FFF2-40B4-BE49-F238E27FC236}">
                <a16:creationId xmlns:a16="http://schemas.microsoft.com/office/drawing/2014/main" id="{4BF40E18-014A-752F-4646-494C2E59C734}"/>
              </a:ext>
            </a:extLst>
          </p:cNvPr>
          <p:cNvSpPr txBox="1"/>
          <p:nvPr/>
        </p:nvSpPr>
        <p:spPr>
          <a:xfrm>
            <a:off x="838200" y="1159152"/>
            <a:ext cx="6096000" cy="369332"/>
          </a:xfrm>
          <a:prstGeom prst="rect">
            <a:avLst/>
          </a:prstGeom>
          <a:noFill/>
        </p:spPr>
        <p:txBody>
          <a:bodyPr wrap="square">
            <a:spAutoFit/>
          </a:bodyPr>
          <a:lstStyle/>
          <a:p>
            <a:r>
              <a:rPr lang="en-US" b="0" i="0" dirty="0">
                <a:solidFill>
                  <a:srgbClr val="242424"/>
                </a:solidFill>
                <a:effectLst/>
                <a:latin typeface="source-serif-pro"/>
              </a:rPr>
              <a:t>There are two main categories of many-to-many RNNs:</a:t>
            </a:r>
            <a:endParaRPr lang="en-IN" dirty="0"/>
          </a:p>
        </p:txBody>
      </p:sp>
      <p:sp>
        <p:nvSpPr>
          <p:cNvPr id="7" name="TextBox 6">
            <a:extLst>
              <a:ext uri="{FF2B5EF4-FFF2-40B4-BE49-F238E27FC236}">
                <a16:creationId xmlns:a16="http://schemas.microsoft.com/office/drawing/2014/main" id="{8DED458F-49AC-9CCC-D963-EE000E7F9F08}"/>
              </a:ext>
            </a:extLst>
          </p:cNvPr>
          <p:cNvSpPr txBox="1"/>
          <p:nvPr/>
        </p:nvSpPr>
        <p:spPr>
          <a:xfrm>
            <a:off x="838200" y="1776726"/>
            <a:ext cx="10515600" cy="1307409"/>
          </a:xfrm>
          <a:prstGeom prst="rect">
            <a:avLst/>
          </a:prstGeom>
          <a:noFill/>
        </p:spPr>
        <p:txBody>
          <a:bodyPr wrap="square">
            <a:spAutoFit/>
          </a:bodyPr>
          <a:lstStyle/>
          <a:p>
            <a:pPr algn="l">
              <a:lnSpc>
                <a:spcPts val="2400"/>
              </a:lnSpc>
              <a:buFont typeface="+mj-lt"/>
              <a:buAutoNum type="arabicPeriod"/>
            </a:pPr>
            <a:r>
              <a:rPr lang="en-US" b="1" i="0" dirty="0">
                <a:solidFill>
                  <a:srgbClr val="242424"/>
                </a:solidFill>
                <a:effectLst/>
                <a:latin typeface="source-serif-pro"/>
              </a:rPr>
              <a:t>Fixed Length:</a:t>
            </a:r>
            <a:r>
              <a:rPr lang="en-US" b="0" i="0" dirty="0">
                <a:solidFill>
                  <a:srgbClr val="242424"/>
                </a:solidFill>
                <a:effectLst/>
                <a:latin typeface="source-serif-pro"/>
              </a:rPr>
              <a:t> In this case, the number of elements in the output sequence is the same as the number of elements in the input sequence. A common application is </a:t>
            </a:r>
            <a:r>
              <a:rPr lang="en-US" b="1" i="0" dirty="0">
                <a:solidFill>
                  <a:srgbClr val="242424"/>
                </a:solidFill>
                <a:effectLst/>
                <a:latin typeface="source-serif-pro"/>
              </a:rPr>
              <a:t>named entity recognition (NER)</a:t>
            </a:r>
            <a:r>
              <a:rPr lang="en-US" b="0" i="0" dirty="0">
                <a:solidFill>
                  <a:srgbClr val="242424"/>
                </a:solidFill>
                <a:effectLst/>
                <a:latin typeface="source-serif-pro"/>
              </a:rPr>
              <a:t>, where the network identifies and classifies each word in a sentence (input sequence) as a specific entity type (i.e. parts of speech) (output sequence).</a:t>
            </a:r>
          </a:p>
        </p:txBody>
      </p:sp>
      <p:pic>
        <p:nvPicPr>
          <p:cNvPr id="18434" name="Picture 2" descr="When Recurrent Models Don't Need to be Recurrent – The Berkeley Artificial  Intelligence Research Blog">
            <a:extLst>
              <a:ext uri="{FF2B5EF4-FFF2-40B4-BE49-F238E27FC236}">
                <a16:creationId xmlns:a16="http://schemas.microsoft.com/office/drawing/2014/main" id="{73861056-4559-2901-1667-0ABE7A4C02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2193" y="3205316"/>
            <a:ext cx="7469086" cy="32495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2590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11229-C805-62F6-20AA-DA2FB49C0D53}"/>
              </a:ext>
            </a:extLst>
          </p:cNvPr>
          <p:cNvSpPr>
            <a:spLocks noGrp="1"/>
          </p:cNvSpPr>
          <p:nvPr>
            <p:ph type="title"/>
          </p:nvPr>
        </p:nvSpPr>
        <p:spPr>
          <a:xfrm>
            <a:off x="838200" y="18255"/>
            <a:ext cx="10515600" cy="1325563"/>
          </a:xfrm>
        </p:spPr>
        <p:txBody>
          <a:bodyPr/>
          <a:lstStyle/>
          <a:p>
            <a:r>
              <a:rPr lang="en-US" dirty="0"/>
              <a:t>Many to Many</a:t>
            </a:r>
            <a:endParaRPr lang="en-IN" dirty="0"/>
          </a:p>
        </p:txBody>
      </p:sp>
      <p:sp>
        <p:nvSpPr>
          <p:cNvPr id="7" name="TextBox 6">
            <a:extLst>
              <a:ext uri="{FF2B5EF4-FFF2-40B4-BE49-F238E27FC236}">
                <a16:creationId xmlns:a16="http://schemas.microsoft.com/office/drawing/2014/main" id="{EEBB176A-2473-8E46-8AD8-969502DEB937}"/>
              </a:ext>
            </a:extLst>
          </p:cNvPr>
          <p:cNvSpPr txBox="1"/>
          <p:nvPr/>
        </p:nvSpPr>
        <p:spPr>
          <a:xfrm>
            <a:off x="838199" y="1343818"/>
            <a:ext cx="10515599" cy="999633"/>
          </a:xfrm>
          <a:prstGeom prst="rect">
            <a:avLst/>
          </a:prstGeom>
          <a:noFill/>
        </p:spPr>
        <p:txBody>
          <a:bodyPr wrap="square">
            <a:spAutoFit/>
          </a:bodyPr>
          <a:lstStyle/>
          <a:p>
            <a:pPr algn="l">
              <a:lnSpc>
                <a:spcPts val="2400"/>
              </a:lnSpc>
            </a:pPr>
            <a:r>
              <a:rPr lang="en-US" b="1" i="0" dirty="0">
                <a:solidFill>
                  <a:srgbClr val="242424"/>
                </a:solidFill>
                <a:effectLst/>
                <a:latin typeface="source-serif-pro"/>
              </a:rPr>
              <a:t>2. Variable Length:</a:t>
            </a:r>
            <a:r>
              <a:rPr lang="en-US" b="0" i="0" dirty="0">
                <a:solidFill>
                  <a:srgbClr val="242424"/>
                </a:solidFill>
                <a:effectLst/>
                <a:latin typeface="source-serif-pro"/>
              </a:rPr>
              <a:t> Here, the output sequence can have a different length than the input sequence. This is particularly useful for tasks like </a:t>
            </a:r>
            <a:r>
              <a:rPr lang="en-US" b="1" i="0" dirty="0">
                <a:solidFill>
                  <a:srgbClr val="242424"/>
                </a:solidFill>
                <a:effectLst/>
                <a:latin typeface="source-serif-pro"/>
              </a:rPr>
              <a:t>machine translation</a:t>
            </a:r>
            <a:r>
              <a:rPr lang="en-US" b="0" i="0" dirty="0">
                <a:solidFill>
                  <a:srgbClr val="242424"/>
                </a:solidFill>
                <a:effectLst/>
                <a:latin typeface="source-serif-pro"/>
              </a:rPr>
              <a:t>, where the source sentence (input sequence) in one language might be translated into a longer or shorter sentence (output sequence) in another language.</a:t>
            </a:r>
          </a:p>
        </p:txBody>
      </p:sp>
      <p:pic>
        <p:nvPicPr>
          <p:cNvPr id="20482" name="Picture 2" descr="Exploring the Power of Encoder-Decoder Models: Pros, Cons, and Applications  | by Anishnama | Medium">
            <a:extLst>
              <a:ext uri="{FF2B5EF4-FFF2-40B4-BE49-F238E27FC236}">
                <a16:creationId xmlns:a16="http://schemas.microsoft.com/office/drawing/2014/main" id="{8BED94CC-F820-0444-08A4-381819F283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 y="3429000"/>
            <a:ext cx="12192000" cy="2238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8576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3B95D-77A5-D6F5-F59D-93C80D0571B4}"/>
              </a:ext>
            </a:extLst>
          </p:cNvPr>
          <p:cNvSpPr>
            <a:spLocks noGrp="1"/>
          </p:cNvSpPr>
          <p:nvPr>
            <p:ph type="title"/>
          </p:nvPr>
        </p:nvSpPr>
        <p:spPr>
          <a:xfrm>
            <a:off x="838200" y="18255"/>
            <a:ext cx="10515600" cy="1325563"/>
          </a:xfrm>
        </p:spPr>
        <p:txBody>
          <a:bodyPr/>
          <a:lstStyle/>
          <a:p>
            <a:r>
              <a:rPr lang="en-US" dirty="0"/>
              <a:t>Many to Many</a:t>
            </a:r>
            <a:endParaRPr lang="en-IN" dirty="0"/>
          </a:p>
        </p:txBody>
      </p:sp>
      <p:sp>
        <p:nvSpPr>
          <p:cNvPr id="5" name="TextBox 4">
            <a:extLst>
              <a:ext uri="{FF2B5EF4-FFF2-40B4-BE49-F238E27FC236}">
                <a16:creationId xmlns:a16="http://schemas.microsoft.com/office/drawing/2014/main" id="{758D5517-94DB-24A4-0133-25820AFA1CE5}"/>
              </a:ext>
            </a:extLst>
          </p:cNvPr>
          <p:cNvSpPr txBox="1"/>
          <p:nvPr/>
        </p:nvSpPr>
        <p:spPr>
          <a:xfrm>
            <a:off x="838200" y="1159152"/>
            <a:ext cx="6096000" cy="369332"/>
          </a:xfrm>
          <a:prstGeom prst="rect">
            <a:avLst/>
          </a:prstGeom>
          <a:noFill/>
        </p:spPr>
        <p:txBody>
          <a:bodyPr wrap="square">
            <a:spAutoFit/>
          </a:bodyPr>
          <a:lstStyle/>
          <a:p>
            <a:r>
              <a:rPr lang="en-IN" b="1" i="0" dirty="0">
                <a:solidFill>
                  <a:srgbClr val="242424"/>
                </a:solidFill>
                <a:effectLst/>
                <a:latin typeface="source-serif-pro"/>
              </a:rPr>
              <a:t>Applications: </a:t>
            </a:r>
            <a:endParaRPr lang="en-IN" dirty="0"/>
          </a:p>
        </p:txBody>
      </p:sp>
      <p:sp>
        <p:nvSpPr>
          <p:cNvPr id="7" name="TextBox 6">
            <a:extLst>
              <a:ext uri="{FF2B5EF4-FFF2-40B4-BE49-F238E27FC236}">
                <a16:creationId xmlns:a16="http://schemas.microsoft.com/office/drawing/2014/main" id="{E5214B44-49F4-2928-2BCB-116A733654CA}"/>
              </a:ext>
            </a:extLst>
          </p:cNvPr>
          <p:cNvSpPr txBox="1"/>
          <p:nvPr/>
        </p:nvSpPr>
        <p:spPr>
          <a:xfrm>
            <a:off x="838199" y="1792859"/>
            <a:ext cx="9338187" cy="384080"/>
          </a:xfrm>
          <a:prstGeom prst="rect">
            <a:avLst/>
          </a:prstGeom>
          <a:noFill/>
        </p:spPr>
        <p:txBody>
          <a:bodyPr wrap="square">
            <a:spAutoFit/>
          </a:bodyPr>
          <a:lstStyle/>
          <a:p>
            <a:pPr algn="l">
              <a:lnSpc>
                <a:spcPts val="2400"/>
              </a:lnSpc>
              <a:buFont typeface="Arial" panose="020B0604020202020204" pitchFamily="34" charset="0"/>
              <a:buChar char="•"/>
            </a:pPr>
            <a:r>
              <a:rPr lang="en-US" b="1" i="0" dirty="0">
                <a:solidFill>
                  <a:srgbClr val="242424"/>
                </a:solidFill>
                <a:effectLst/>
                <a:latin typeface="source-serif-pro"/>
              </a:rPr>
              <a:t>Machine Translation:</a:t>
            </a:r>
            <a:r>
              <a:rPr lang="en-US" b="0" i="0" dirty="0">
                <a:solidFill>
                  <a:srgbClr val="242424"/>
                </a:solidFill>
                <a:effectLst/>
                <a:latin typeface="source-serif-pro"/>
              </a:rPr>
              <a:t> Translate text from one language to another (e.g., English to French).</a:t>
            </a:r>
          </a:p>
        </p:txBody>
      </p:sp>
      <p:sp>
        <p:nvSpPr>
          <p:cNvPr id="9" name="TextBox 8">
            <a:extLst>
              <a:ext uri="{FF2B5EF4-FFF2-40B4-BE49-F238E27FC236}">
                <a16:creationId xmlns:a16="http://schemas.microsoft.com/office/drawing/2014/main" id="{0CB4BC12-63B0-E1A3-6D5E-8F5C52FBC3B9}"/>
              </a:ext>
            </a:extLst>
          </p:cNvPr>
          <p:cNvSpPr txBox="1"/>
          <p:nvPr/>
        </p:nvSpPr>
        <p:spPr>
          <a:xfrm>
            <a:off x="838198" y="2625980"/>
            <a:ext cx="10515599" cy="691856"/>
          </a:xfrm>
          <a:prstGeom prst="rect">
            <a:avLst/>
          </a:prstGeom>
          <a:noFill/>
        </p:spPr>
        <p:txBody>
          <a:bodyPr wrap="square">
            <a:spAutoFit/>
          </a:bodyPr>
          <a:lstStyle/>
          <a:p>
            <a:pPr algn="l">
              <a:lnSpc>
                <a:spcPts val="2400"/>
              </a:lnSpc>
              <a:buFont typeface="Arial" panose="020B0604020202020204" pitchFamily="34" charset="0"/>
              <a:buChar char="•"/>
            </a:pPr>
            <a:r>
              <a:rPr lang="en-US" b="1" i="0" dirty="0">
                <a:solidFill>
                  <a:srgbClr val="242424"/>
                </a:solidFill>
                <a:effectLst/>
                <a:latin typeface="source-serif-pro"/>
              </a:rPr>
              <a:t>Video Captioning:</a:t>
            </a:r>
            <a:r>
              <a:rPr lang="en-US" b="0" i="0" dirty="0">
                <a:solidFill>
                  <a:srgbClr val="242424"/>
                </a:solidFill>
                <a:effectLst/>
                <a:latin typeface="source-serif-pro"/>
              </a:rPr>
              <a:t> Generate captions describing the content of a video (sequence of video frames as input, sequence of words as output).</a:t>
            </a:r>
          </a:p>
        </p:txBody>
      </p:sp>
      <p:sp>
        <p:nvSpPr>
          <p:cNvPr id="11" name="TextBox 10">
            <a:extLst>
              <a:ext uri="{FF2B5EF4-FFF2-40B4-BE49-F238E27FC236}">
                <a16:creationId xmlns:a16="http://schemas.microsoft.com/office/drawing/2014/main" id="{2B7E28BA-0580-57A6-0B06-A3FF7C0C541D}"/>
              </a:ext>
            </a:extLst>
          </p:cNvPr>
          <p:cNvSpPr txBox="1"/>
          <p:nvPr/>
        </p:nvSpPr>
        <p:spPr>
          <a:xfrm>
            <a:off x="838199" y="3766877"/>
            <a:ext cx="10515597" cy="691856"/>
          </a:xfrm>
          <a:prstGeom prst="rect">
            <a:avLst/>
          </a:prstGeom>
          <a:noFill/>
        </p:spPr>
        <p:txBody>
          <a:bodyPr wrap="square">
            <a:spAutoFit/>
          </a:bodyPr>
          <a:lstStyle/>
          <a:p>
            <a:pPr algn="l">
              <a:lnSpc>
                <a:spcPts val="2400"/>
              </a:lnSpc>
              <a:buFont typeface="Arial" panose="020B0604020202020204" pitchFamily="34" charset="0"/>
              <a:buChar char="•"/>
            </a:pPr>
            <a:r>
              <a:rPr lang="en-US" b="1" i="0" dirty="0">
                <a:solidFill>
                  <a:srgbClr val="242424"/>
                </a:solidFill>
                <a:effectLst/>
                <a:latin typeface="source-serif-pro"/>
              </a:rPr>
              <a:t>Text Summarization:</a:t>
            </a:r>
            <a:r>
              <a:rPr lang="en-US" b="0" i="0" dirty="0">
                <a:solidFill>
                  <a:srgbClr val="242424"/>
                </a:solidFill>
                <a:effectLst/>
                <a:latin typeface="source-serif-pro"/>
              </a:rPr>
              <a:t> Summarize a long document into a shorter version with key points (sequence of sentences as input, shorter sequence of sentences as output).</a:t>
            </a:r>
          </a:p>
        </p:txBody>
      </p:sp>
    </p:spTree>
    <p:extLst>
      <p:ext uri="{BB962C8B-B14F-4D97-AF65-F5344CB8AC3E}">
        <p14:creationId xmlns:p14="http://schemas.microsoft.com/office/powerpoint/2010/main" val="202192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70D63-9DB1-C12F-3362-8DD8E0B86AD4}"/>
              </a:ext>
            </a:extLst>
          </p:cNvPr>
          <p:cNvSpPr>
            <a:spLocks noGrp="1"/>
          </p:cNvSpPr>
          <p:nvPr>
            <p:ph type="title"/>
          </p:nvPr>
        </p:nvSpPr>
        <p:spPr/>
        <p:txBody>
          <a:bodyPr/>
          <a:lstStyle/>
          <a:p>
            <a:r>
              <a:rPr lang="en-US" dirty="0"/>
              <a:t>Training</a:t>
            </a:r>
            <a:endParaRPr lang="en-IN" dirty="0"/>
          </a:p>
        </p:txBody>
      </p:sp>
      <p:sp>
        <p:nvSpPr>
          <p:cNvPr id="5" name="TextBox 4">
            <a:extLst>
              <a:ext uri="{FF2B5EF4-FFF2-40B4-BE49-F238E27FC236}">
                <a16:creationId xmlns:a16="http://schemas.microsoft.com/office/drawing/2014/main" id="{115B7F2E-97BE-1A06-51C1-5241E1010C51}"/>
              </a:ext>
            </a:extLst>
          </p:cNvPr>
          <p:cNvSpPr txBox="1"/>
          <p:nvPr/>
        </p:nvSpPr>
        <p:spPr>
          <a:xfrm>
            <a:off x="838199" y="1474442"/>
            <a:ext cx="10921181" cy="646331"/>
          </a:xfrm>
          <a:prstGeom prst="rect">
            <a:avLst/>
          </a:prstGeom>
          <a:noFill/>
        </p:spPr>
        <p:txBody>
          <a:bodyPr wrap="square">
            <a:spAutoFit/>
          </a:bodyPr>
          <a:lstStyle/>
          <a:p>
            <a:r>
              <a:rPr lang="en-US" b="0" i="0" dirty="0">
                <a:solidFill>
                  <a:srgbClr val="242424"/>
                </a:solidFill>
                <a:effectLst/>
                <a:latin typeface="source-serif-pro"/>
              </a:rPr>
              <a:t>Backpropagation in RNNs, also known as Backpropagation Through Time (BPTT), is a crucial technique for training these networks. It allows them to learn and improve their performance on tasks involving sequential data.</a:t>
            </a:r>
            <a:endParaRPr lang="en-IN" dirty="0"/>
          </a:p>
        </p:txBody>
      </p:sp>
      <p:sp>
        <p:nvSpPr>
          <p:cNvPr id="6" name="TextBox 5">
            <a:extLst>
              <a:ext uri="{FF2B5EF4-FFF2-40B4-BE49-F238E27FC236}">
                <a16:creationId xmlns:a16="http://schemas.microsoft.com/office/drawing/2014/main" id="{817AF43F-B583-ABAD-CA21-7584189AC072}"/>
              </a:ext>
            </a:extLst>
          </p:cNvPr>
          <p:cNvSpPr txBox="1"/>
          <p:nvPr/>
        </p:nvSpPr>
        <p:spPr>
          <a:xfrm>
            <a:off x="838199" y="2615339"/>
            <a:ext cx="2703871" cy="369332"/>
          </a:xfrm>
          <a:prstGeom prst="rect">
            <a:avLst/>
          </a:prstGeom>
          <a:noFill/>
        </p:spPr>
        <p:txBody>
          <a:bodyPr wrap="square" rtlCol="0">
            <a:spAutoFit/>
          </a:bodyPr>
          <a:lstStyle/>
          <a:p>
            <a:r>
              <a:rPr lang="en-US" dirty="0"/>
              <a:t>Steps for Training: </a:t>
            </a:r>
            <a:endParaRPr lang="en-IN" dirty="0"/>
          </a:p>
        </p:txBody>
      </p:sp>
      <p:sp>
        <p:nvSpPr>
          <p:cNvPr id="8" name="TextBox 7">
            <a:extLst>
              <a:ext uri="{FF2B5EF4-FFF2-40B4-BE49-F238E27FC236}">
                <a16:creationId xmlns:a16="http://schemas.microsoft.com/office/drawing/2014/main" id="{16A35032-D22D-8C2C-5390-823F01203E4C}"/>
              </a:ext>
            </a:extLst>
          </p:cNvPr>
          <p:cNvSpPr txBox="1"/>
          <p:nvPr/>
        </p:nvSpPr>
        <p:spPr>
          <a:xfrm>
            <a:off x="838199" y="3102629"/>
            <a:ext cx="6096000" cy="326371"/>
          </a:xfrm>
          <a:prstGeom prst="rect">
            <a:avLst/>
          </a:prstGeom>
          <a:noFill/>
        </p:spPr>
        <p:txBody>
          <a:bodyPr wrap="square">
            <a:spAutoFit/>
          </a:bodyPr>
          <a:lstStyle/>
          <a:p>
            <a:pPr algn="l">
              <a:lnSpc>
                <a:spcPts val="1800"/>
              </a:lnSpc>
              <a:buNone/>
            </a:pPr>
            <a:r>
              <a:rPr lang="en-IN" b="1" i="0" dirty="0">
                <a:solidFill>
                  <a:srgbClr val="242424"/>
                </a:solidFill>
                <a:effectLst/>
                <a:latin typeface="sohne"/>
              </a:rPr>
              <a:t>1. Forward Pass</a:t>
            </a:r>
          </a:p>
        </p:txBody>
      </p:sp>
      <p:sp>
        <p:nvSpPr>
          <p:cNvPr id="10" name="TextBox 9">
            <a:extLst>
              <a:ext uri="{FF2B5EF4-FFF2-40B4-BE49-F238E27FC236}">
                <a16:creationId xmlns:a16="http://schemas.microsoft.com/office/drawing/2014/main" id="{470F23FD-557D-6F4D-579F-5A38385E37D9}"/>
              </a:ext>
            </a:extLst>
          </p:cNvPr>
          <p:cNvSpPr txBox="1"/>
          <p:nvPr/>
        </p:nvSpPr>
        <p:spPr>
          <a:xfrm>
            <a:off x="838199" y="3546958"/>
            <a:ext cx="6096000" cy="326371"/>
          </a:xfrm>
          <a:prstGeom prst="rect">
            <a:avLst/>
          </a:prstGeom>
          <a:noFill/>
        </p:spPr>
        <p:txBody>
          <a:bodyPr wrap="square">
            <a:spAutoFit/>
          </a:bodyPr>
          <a:lstStyle/>
          <a:p>
            <a:pPr algn="l">
              <a:lnSpc>
                <a:spcPts val="1800"/>
              </a:lnSpc>
              <a:buNone/>
            </a:pPr>
            <a:r>
              <a:rPr lang="en-IN" b="1" i="0" dirty="0">
                <a:solidFill>
                  <a:srgbClr val="242424"/>
                </a:solidFill>
                <a:effectLst/>
                <a:latin typeface="sohne"/>
              </a:rPr>
              <a:t>2. Error Calculation</a:t>
            </a:r>
          </a:p>
        </p:txBody>
      </p:sp>
      <p:sp>
        <p:nvSpPr>
          <p:cNvPr id="12" name="TextBox 11">
            <a:extLst>
              <a:ext uri="{FF2B5EF4-FFF2-40B4-BE49-F238E27FC236}">
                <a16:creationId xmlns:a16="http://schemas.microsoft.com/office/drawing/2014/main" id="{C548E249-7ECC-2C6D-C670-5D7726B8D9F5}"/>
              </a:ext>
            </a:extLst>
          </p:cNvPr>
          <p:cNvSpPr txBox="1"/>
          <p:nvPr/>
        </p:nvSpPr>
        <p:spPr>
          <a:xfrm>
            <a:off x="838199" y="4012456"/>
            <a:ext cx="6096000" cy="326371"/>
          </a:xfrm>
          <a:prstGeom prst="rect">
            <a:avLst/>
          </a:prstGeom>
          <a:noFill/>
        </p:spPr>
        <p:txBody>
          <a:bodyPr wrap="square">
            <a:spAutoFit/>
          </a:bodyPr>
          <a:lstStyle/>
          <a:p>
            <a:pPr algn="l">
              <a:lnSpc>
                <a:spcPts val="1800"/>
              </a:lnSpc>
              <a:buNone/>
            </a:pPr>
            <a:r>
              <a:rPr lang="en-IN" b="1" i="0" dirty="0">
                <a:solidFill>
                  <a:srgbClr val="242424"/>
                </a:solidFill>
                <a:effectLst/>
                <a:latin typeface="sohne"/>
              </a:rPr>
              <a:t>3. Weight Update</a:t>
            </a:r>
          </a:p>
        </p:txBody>
      </p:sp>
    </p:spTree>
    <p:extLst>
      <p:ext uri="{BB962C8B-B14F-4D97-AF65-F5344CB8AC3E}">
        <p14:creationId xmlns:p14="http://schemas.microsoft.com/office/powerpoint/2010/main" val="3285925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8" grpId="0"/>
      <p:bldP spid="10" grpId="0"/>
      <p:bldP spid="1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a:extLst>
              <a:ext uri="{FF2B5EF4-FFF2-40B4-BE49-F238E27FC236}">
                <a16:creationId xmlns:a16="http://schemas.microsoft.com/office/drawing/2014/main" id="{2506BF23-DA5D-A961-2E72-A20A1CB604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2491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a:extLst>
              <a:ext uri="{FF2B5EF4-FFF2-40B4-BE49-F238E27FC236}">
                <a16:creationId xmlns:a16="http://schemas.microsoft.com/office/drawing/2014/main" id="{9C893F80-EF18-9AD0-566F-DE7E5735F1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5979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a:extLst>
              <a:ext uri="{FF2B5EF4-FFF2-40B4-BE49-F238E27FC236}">
                <a16:creationId xmlns:a16="http://schemas.microsoft.com/office/drawing/2014/main" id="{04D5BDBD-20D3-AD3C-9CFB-D0B4DAA5CA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8812" y="3096087"/>
            <a:ext cx="8334375" cy="22193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81FDD1F-9A9F-E6C4-3547-254679665EE4}"/>
              </a:ext>
            </a:extLst>
          </p:cNvPr>
          <p:cNvSpPr txBox="1"/>
          <p:nvPr/>
        </p:nvSpPr>
        <p:spPr>
          <a:xfrm>
            <a:off x="1042218" y="719384"/>
            <a:ext cx="10402529" cy="691856"/>
          </a:xfrm>
          <a:prstGeom prst="rect">
            <a:avLst/>
          </a:prstGeom>
          <a:noFill/>
        </p:spPr>
        <p:txBody>
          <a:bodyPr wrap="square">
            <a:spAutoFit/>
          </a:bodyPr>
          <a:lstStyle/>
          <a:p>
            <a:pPr algn="l">
              <a:lnSpc>
                <a:spcPts val="2400"/>
              </a:lnSpc>
            </a:pPr>
            <a:r>
              <a:rPr lang="en-US" b="0" i="0" dirty="0">
                <a:solidFill>
                  <a:srgbClr val="242424"/>
                </a:solidFill>
                <a:effectLst/>
                <a:latin typeface="source-serif-pro"/>
              </a:rPr>
              <a:t>After processing the entire sequence, the difference (error) between the network’s final output and the desired output for the sequence is calculated.</a:t>
            </a:r>
          </a:p>
        </p:txBody>
      </p:sp>
    </p:spTree>
    <p:extLst>
      <p:ext uri="{BB962C8B-B14F-4D97-AF65-F5344CB8AC3E}">
        <p14:creationId xmlns:p14="http://schemas.microsoft.com/office/powerpoint/2010/main" val="4028627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a:extLst>
              <a:ext uri="{FF2B5EF4-FFF2-40B4-BE49-F238E27FC236}">
                <a16:creationId xmlns:a16="http://schemas.microsoft.com/office/drawing/2014/main" id="{399C037D-7166-B843-8710-37EE191ABA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990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65638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a:extLst>
              <a:ext uri="{FF2B5EF4-FFF2-40B4-BE49-F238E27FC236}">
                <a16:creationId xmlns:a16="http://schemas.microsoft.com/office/drawing/2014/main" id="{924F1608-CA4D-1054-5575-0FAA1BF13D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7374194" cy="4168877"/>
          </a:xfrm>
          <a:prstGeom prst="rect">
            <a:avLst/>
          </a:prstGeom>
          <a:noFill/>
          <a:extLst>
            <a:ext uri="{909E8E84-426E-40DD-AFC4-6F175D3DCCD1}">
              <a14:hiddenFill xmlns:a14="http://schemas.microsoft.com/office/drawing/2010/main">
                <a:solidFill>
                  <a:srgbClr val="FFFFFF"/>
                </a:solidFill>
              </a14:hiddenFill>
            </a:ext>
          </a:extLst>
        </p:spPr>
      </p:pic>
      <p:pic>
        <p:nvPicPr>
          <p:cNvPr id="25606" name="Picture 6">
            <a:extLst>
              <a:ext uri="{FF2B5EF4-FFF2-40B4-BE49-F238E27FC236}">
                <a16:creationId xmlns:a16="http://schemas.microsoft.com/office/drawing/2014/main" id="{26195645-76A3-B3BF-FC67-1863800FDF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4195" y="-1"/>
            <a:ext cx="4817804" cy="4168877"/>
          </a:xfrm>
          <a:prstGeom prst="rect">
            <a:avLst/>
          </a:prstGeom>
          <a:noFill/>
          <a:extLst>
            <a:ext uri="{909E8E84-426E-40DD-AFC4-6F175D3DCCD1}">
              <a14:hiddenFill xmlns:a14="http://schemas.microsoft.com/office/drawing/2010/main">
                <a:solidFill>
                  <a:srgbClr val="FFFFFF"/>
                </a:solidFill>
              </a14:hiddenFill>
            </a:ext>
          </a:extLst>
        </p:spPr>
      </p:pic>
      <p:pic>
        <p:nvPicPr>
          <p:cNvPr id="25610" name="Picture 10">
            <a:extLst>
              <a:ext uri="{FF2B5EF4-FFF2-40B4-BE49-F238E27FC236}">
                <a16:creationId xmlns:a16="http://schemas.microsoft.com/office/drawing/2014/main" id="{E3C0E35A-5E94-9929-5CC1-A1681324F7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168876"/>
            <a:ext cx="12192000" cy="2689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9474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77DE7-5BA6-F803-5EFF-D70A7B07E5DC}"/>
              </a:ext>
            </a:extLst>
          </p:cNvPr>
          <p:cNvSpPr>
            <a:spLocks noGrp="1"/>
          </p:cNvSpPr>
          <p:nvPr>
            <p:ph type="title"/>
          </p:nvPr>
        </p:nvSpPr>
        <p:spPr/>
        <p:txBody>
          <a:bodyPr/>
          <a:lstStyle/>
          <a:p>
            <a:r>
              <a:rPr lang="en-US" dirty="0"/>
              <a:t>Applications</a:t>
            </a:r>
            <a:endParaRPr lang="en-IN" dirty="0"/>
          </a:p>
        </p:txBody>
      </p:sp>
      <p:sp>
        <p:nvSpPr>
          <p:cNvPr id="5" name="TextBox 4">
            <a:extLst>
              <a:ext uri="{FF2B5EF4-FFF2-40B4-BE49-F238E27FC236}">
                <a16:creationId xmlns:a16="http://schemas.microsoft.com/office/drawing/2014/main" id="{C1D315F4-6CE5-9C08-35C7-62DBE48DF066}"/>
              </a:ext>
            </a:extLst>
          </p:cNvPr>
          <p:cNvSpPr txBox="1"/>
          <p:nvPr/>
        </p:nvSpPr>
        <p:spPr>
          <a:xfrm>
            <a:off x="717755" y="1690688"/>
            <a:ext cx="6096000" cy="384080"/>
          </a:xfrm>
          <a:prstGeom prst="rect">
            <a:avLst/>
          </a:prstGeom>
          <a:noFill/>
        </p:spPr>
        <p:txBody>
          <a:bodyPr wrap="square">
            <a:spAutoFit/>
          </a:bodyPr>
          <a:lstStyle/>
          <a:p>
            <a:pPr algn="l">
              <a:lnSpc>
                <a:spcPts val="2400"/>
              </a:lnSpc>
              <a:buFont typeface="+mj-lt"/>
              <a:buAutoNum type="arabicPeriod"/>
            </a:pPr>
            <a:r>
              <a:rPr lang="en-IN" b="1" i="0" dirty="0">
                <a:solidFill>
                  <a:srgbClr val="242424"/>
                </a:solidFill>
                <a:effectLst/>
                <a:latin typeface="source-serif-pro"/>
              </a:rPr>
              <a:t>Natural Language Processing (NLP):</a:t>
            </a:r>
            <a:endParaRPr lang="en-IN" b="0" i="0" dirty="0">
              <a:solidFill>
                <a:srgbClr val="242424"/>
              </a:solidFill>
              <a:effectLst/>
              <a:latin typeface="source-serif-pro"/>
            </a:endParaRPr>
          </a:p>
        </p:txBody>
      </p:sp>
      <p:sp>
        <p:nvSpPr>
          <p:cNvPr id="7" name="TextBox 6">
            <a:extLst>
              <a:ext uri="{FF2B5EF4-FFF2-40B4-BE49-F238E27FC236}">
                <a16:creationId xmlns:a16="http://schemas.microsoft.com/office/drawing/2014/main" id="{88985594-BA91-038A-B246-8CB67A95958C}"/>
              </a:ext>
            </a:extLst>
          </p:cNvPr>
          <p:cNvSpPr txBox="1"/>
          <p:nvPr/>
        </p:nvSpPr>
        <p:spPr>
          <a:xfrm>
            <a:off x="717755" y="2074768"/>
            <a:ext cx="11198942" cy="1615186"/>
          </a:xfrm>
          <a:prstGeom prst="rect">
            <a:avLst/>
          </a:prstGeom>
          <a:noFill/>
        </p:spPr>
        <p:txBody>
          <a:bodyPr wrap="square">
            <a:spAutoFit/>
          </a:bodyPr>
          <a:lstStyle/>
          <a:p>
            <a:pPr algn="l">
              <a:lnSpc>
                <a:spcPts val="2400"/>
              </a:lnSpc>
              <a:buFont typeface="Arial" panose="020B0604020202020204" pitchFamily="34" charset="0"/>
              <a:buChar char="•"/>
            </a:pPr>
            <a:r>
              <a:rPr lang="en-US" b="1" i="0" dirty="0">
                <a:solidFill>
                  <a:srgbClr val="242424"/>
                </a:solidFill>
                <a:effectLst/>
                <a:latin typeface="source-serif-pro"/>
              </a:rPr>
              <a:t>Language Modeling:</a:t>
            </a:r>
            <a:r>
              <a:rPr lang="en-US" b="0" i="0" dirty="0">
                <a:solidFill>
                  <a:srgbClr val="242424"/>
                </a:solidFill>
                <a:effectLst/>
                <a:latin typeface="source-serif-pro"/>
              </a:rPr>
              <a:t> RNNs can predict the next word in a sentence, useful for tasks like text generation and autocomplete.</a:t>
            </a:r>
          </a:p>
          <a:p>
            <a:pPr algn="l">
              <a:lnSpc>
                <a:spcPts val="2400"/>
              </a:lnSpc>
              <a:buFont typeface="Arial" panose="020B0604020202020204" pitchFamily="34" charset="0"/>
              <a:buChar char="•"/>
            </a:pPr>
            <a:r>
              <a:rPr lang="en-US" b="1" i="0" dirty="0">
                <a:solidFill>
                  <a:srgbClr val="242424"/>
                </a:solidFill>
                <a:effectLst/>
                <a:latin typeface="source-serif-pro"/>
              </a:rPr>
              <a:t>Machine Translation</a:t>
            </a:r>
            <a:r>
              <a:rPr lang="en-US" b="0" i="0" dirty="0">
                <a:solidFill>
                  <a:srgbClr val="242424"/>
                </a:solidFill>
                <a:effectLst/>
                <a:latin typeface="source-serif-pro"/>
              </a:rPr>
              <a:t>: RNNs can be used for translation tasks, with one RNN encoding the input sentence and another decoding it in the target language.</a:t>
            </a:r>
          </a:p>
          <a:p>
            <a:pPr algn="l">
              <a:lnSpc>
                <a:spcPts val="2400"/>
              </a:lnSpc>
              <a:buFont typeface="Arial" panose="020B0604020202020204" pitchFamily="34" charset="0"/>
              <a:buChar char="•"/>
            </a:pPr>
            <a:r>
              <a:rPr lang="en-US" b="1" i="0" dirty="0">
                <a:solidFill>
                  <a:srgbClr val="242424"/>
                </a:solidFill>
                <a:effectLst/>
                <a:latin typeface="source-serif-pro"/>
              </a:rPr>
              <a:t>Sentiment Analysis</a:t>
            </a:r>
            <a:r>
              <a:rPr lang="en-US" b="0" i="0" dirty="0">
                <a:solidFill>
                  <a:srgbClr val="242424"/>
                </a:solidFill>
                <a:effectLst/>
                <a:latin typeface="source-serif-pro"/>
              </a:rPr>
              <a:t>: RNNs can analyze text sentiment by capturing contextual information from words in a sequence.</a:t>
            </a:r>
          </a:p>
        </p:txBody>
      </p:sp>
      <p:sp>
        <p:nvSpPr>
          <p:cNvPr id="9" name="TextBox 8">
            <a:extLst>
              <a:ext uri="{FF2B5EF4-FFF2-40B4-BE49-F238E27FC236}">
                <a16:creationId xmlns:a16="http://schemas.microsoft.com/office/drawing/2014/main" id="{1BECC068-444E-D4AC-BC6B-3DB322ACB13A}"/>
              </a:ext>
            </a:extLst>
          </p:cNvPr>
          <p:cNvSpPr txBox="1"/>
          <p:nvPr/>
        </p:nvSpPr>
        <p:spPr>
          <a:xfrm>
            <a:off x="717755" y="3889368"/>
            <a:ext cx="6096000" cy="369332"/>
          </a:xfrm>
          <a:prstGeom prst="rect">
            <a:avLst/>
          </a:prstGeom>
          <a:noFill/>
        </p:spPr>
        <p:txBody>
          <a:bodyPr wrap="square">
            <a:spAutoFit/>
          </a:bodyPr>
          <a:lstStyle/>
          <a:p>
            <a:r>
              <a:rPr lang="en-US" b="0" i="0" dirty="0">
                <a:solidFill>
                  <a:srgbClr val="242424"/>
                </a:solidFill>
                <a:effectLst/>
                <a:latin typeface="source-serif-pro"/>
              </a:rPr>
              <a:t>2. </a:t>
            </a:r>
            <a:r>
              <a:rPr lang="en-US" b="1" i="0" dirty="0">
                <a:solidFill>
                  <a:srgbClr val="242424"/>
                </a:solidFill>
                <a:effectLst/>
                <a:latin typeface="source-serif-pro"/>
              </a:rPr>
              <a:t>Speech Recognition and Synthesis:</a:t>
            </a:r>
            <a:endParaRPr lang="en-IN" dirty="0"/>
          </a:p>
        </p:txBody>
      </p:sp>
      <p:sp>
        <p:nvSpPr>
          <p:cNvPr id="11" name="TextBox 10">
            <a:extLst>
              <a:ext uri="{FF2B5EF4-FFF2-40B4-BE49-F238E27FC236}">
                <a16:creationId xmlns:a16="http://schemas.microsoft.com/office/drawing/2014/main" id="{4E7CB40E-91A1-031A-CBD2-AC5E0CBD1321}"/>
              </a:ext>
            </a:extLst>
          </p:cNvPr>
          <p:cNvSpPr txBox="1"/>
          <p:nvPr/>
        </p:nvSpPr>
        <p:spPr>
          <a:xfrm>
            <a:off x="717755" y="4458114"/>
            <a:ext cx="11198942" cy="1307409"/>
          </a:xfrm>
          <a:prstGeom prst="rect">
            <a:avLst/>
          </a:prstGeom>
          <a:noFill/>
        </p:spPr>
        <p:txBody>
          <a:bodyPr wrap="square">
            <a:spAutoFit/>
          </a:bodyPr>
          <a:lstStyle/>
          <a:p>
            <a:pPr algn="l">
              <a:lnSpc>
                <a:spcPts val="2400"/>
              </a:lnSpc>
              <a:buFont typeface="Arial" panose="020B0604020202020204" pitchFamily="34" charset="0"/>
              <a:buChar char="•"/>
            </a:pPr>
            <a:r>
              <a:rPr lang="en-US" b="1" i="0" dirty="0">
                <a:solidFill>
                  <a:srgbClr val="242424"/>
                </a:solidFill>
                <a:effectLst/>
                <a:latin typeface="source-serif-pro"/>
              </a:rPr>
              <a:t>Speech-to-Text:</a:t>
            </a:r>
            <a:r>
              <a:rPr lang="en-US" b="0" i="0" dirty="0">
                <a:solidFill>
                  <a:srgbClr val="242424"/>
                </a:solidFill>
                <a:effectLst/>
                <a:latin typeface="source-serif-pro"/>
              </a:rPr>
              <a:t> RNNs are employed to convert spoken language into written text, making them the backbone of speech recognition systems.</a:t>
            </a:r>
          </a:p>
          <a:p>
            <a:pPr algn="l">
              <a:lnSpc>
                <a:spcPts val="2400"/>
              </a:lnSpc>
              <a:buFont typeface="Arial" panose="020B0604020202020204" pitchFamily="34" charset="0"/>
              <a:buChar char="•"/>
            </a:pPr>
            <a:r>
              <a:rPr lang="en-US" b="1" i="0" dirty="0">
                <a:solidFill>
                  <a:srgbClr val="242424"/>
                </a:solidFill>
                <a:effectLst/>
                <a:latin typeface="source-serif-pro"/>
              </a:rPr>
              <a:t>Text-to-Speech</a:t>
            </a:r>
            <a:r>
              <a:rPr lang="en-US" b="0" i="0" dirty="0">
                <a:solidFill>
                  <a:srgbClr val="242424"/>
                </a:solidFill>
                <a:effectLst/>
                <a:latin typeface="source-serif-pro"/>
              </a:rPr>
              <a:t>: RNNs can generate human-like speech from text input, improving voice assistants and accessibility tools.</a:t>
            </a:r>
          </a:p>
        </p:txBody>
      </p:sp>
    </p:spTree>
    <p:extLst>
      <p:ext uri="{BB962C8B-B14F-4D97-AF65-F5344CB8AC3E}">
        <p14:creationId xmlns:p14="http://schemas.microsoft.com/office/powerpoint/2010/main" val="2134850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C4A5E-3D2C-5806-7A61-AA1013A20989}"/>
              </a:ext>
            </a:extLst>
          </p:cNvPr>
          <p:cNvSpPr>
            <a:spLocks noGrp="1"/>
          </p:cNvSpPr>
          <p:nvPr>
            <p:ph type="title"/>
          </p:nvPr>
        </p:nvSpPr>
        <p:spPr/>
        <p:txBody>
          <a:bodyPr/>
          <a:lstStyle/>
          <a:p>
            <a:r>
              <a:rPr lang="en-US" dirty="0"/>
              <a:t>Applications</a:t>
            </a:r>
            <a:endParaRPr lang="en-IN" dirty="0"/>
          </a:p>
        </p:txBody>
      </p:sp>
      <p:sp>
        <p:nvSpPr>
          <p:cNvPr id="5" name="TextBox 4">
            <a:extLst>
              <a:ext uri="{FF2B5EF4-FFF2-40B4-BE49-F238E27FC236}">
                <a16:creationId xmlns:a16="http://schemas.microsoft.com/office/drawing/2014/main" id="{8118A6BA-07CC-446C-5661-705423AB22D1}"/>
              </a:ext>
            </a:extLst>
          </p:cNvPr>
          <p:cNvSpPr txBox="1"/>
          <p:nvPr/>
        </p:nvSpPr>
        <p:spPr>
          <a:xfrm>
            <a:off x="838200" y="1506022"/>
            <a:ext cx="6096000" cy="369332"/>
          </a:xfrm>
          <a:prstGeom prst="rect">
            <a:avLst/>
          </a:prstGeom>
          <a:noFill/>
        </p:spPr>
        <p:txBody>
          <a:bodyPr wrap="square">
            <a:spAutoFit/>
          </a:bodyPr>
          <a:lstStyle/>
          <a:p>
            <a:r>
              <a:rPr lang="en-US" b="0" i="0" dirty="0">
                <a:solidFill>
                  <a:srgbClr val="242424"/>
                </a:solidFill>
                <a:effectLst/>
                <a:latin typeface="source-serif-pro"/>
              </a:rPr>
              <a:t>3. </a:t>
            </a:r>
            <a:r>
              <a:rPr lang="en-US" b="1" i="0" dirty="0">
                <a:solidFill>
                  <a:srgbClr val="242424"/>
                </a:solidFill>
                <a:effectLst/>
                <a:latin typeface="source-serif-pro"/>
              </a:rPr>
              <a:t>Time-Series Analysis and Forecasting:</a:t>
            </a:r>
            <a:endParaRPr lang="en-IN" dirty="0"/>
          </a:p>
        </p:txBody>
      </p:sp>
      <p:sp>
        <p:nvSpPr>
          <p:cNvPr id="7" name="TextBox 6">
            <a:extLst>
              <a:ext uri="{FF2B5EF4-FFF2-40B4-BE49-F238E27FC236}">
                <a16:creationId xmlns:a16="http://schemas.microsoft.com/office/drawing/2014/main" id="{A920A53C-1787-BC20-593B-03C043928BE3}"/>
              </a:ext>
            </a:extLst>
          </p:cNvPr>
          <p:cNvSpPr txBox="1"/>
          <p:nvPr/>
        </p:nvSpPr>
        <p:spPr>
          <a:xfrm>
            <a:off x="838200" y="1875354"/>
            <a:ext cx="10515600" cy="691856"/>
          </a:xfrm>
          <a:prstGeom prst="rect">
            <a:avLst/>
          </a:prstGeom>
          <a:noFill/>
        </p:spPr>
        <p:txBody>
          <a:bodyPr wrap="square">
            <a:spAutoFit/>
          </a:bodyPr>
          <a:lstStyle/>
          <a:p>
            <a:pPr algn="l">
              <a:lnSpc>
                <a:spcPts val="2400"/>
              </a:lnSpc>
              <a:buFont typeface="Arial" panose="020B0604020202020204" pitchFamily="34" charset="0"/>
              <a:buChar char="•"/>
            </a:pPr>
            <a:r>
              <a:rPr lang="en-US" b="1" i="0" dirty="0">
                <a:solidFill>
                  <a:srgbClr val="242424"/>
                </a:solidFill>
                <a:effectLst/>
                <a:latin typeface="source-serif-pro"/>
              </a:rPr>
              <a:t>Financial Forecasting</a:t>
            </a:r>
            <a:r>
              <a:rPr lang="en-US" b="0" i="0" dirty="0">
                <a:solidFill>
                  <a:srgbClr val="242424"/>
                </a:solidFill>
                <a:effectLst/>
                <a:latin typeface="source-serif-pro"/>
              </a:rPr>
              <a:t>: RNNs can predict stock prices, currency exchange rates, and other financial variables.</a:t>
            </a:r>
          </a:p>
          <a:p>
            <a:pPr algn="l">
              <a:lnSpc>
                <a:spcPts val="2400"/>
              </a:lnSpc>
              <a:buFont typeface="Arial" panose="020B0604020202020204" pitchFamily="34" charset="0"/>
              <a:buChar char="•"/>
            </a:pPr>
            <a:r>
              <a:rPr lang="en-US" b="1" i="0" dirty="0">
                <a:solidFill>
                  <a:srgbClr val="242424"/>
                </a:solidFill>
                <a:effectLst/>
                <a:latin typeface="source-serif-pro"/>
              </a:rPr>
              <a:t>Weather Prediction:</a:t>
            </a:r>
            <a:r>
              <a:rPr lang="en-US" b="0" i="0" dirty="0">
                <a:solidFill>
                  <a:srgbClr val="242424"/>
                </a:solidFill>
                <a:effectLst/>
                <a:latin typeface="source-serif-pro"/>
              </a:rPr>
              <a:t> RNNs can analyze historical weather data to forecast future weather conditions.</a:t>
            </a:r>
          </a:p>
        </p:txBody>
      </p:sp>
      <p:sp>
        <p:nvSpPr>
          <p:cNvPr id="9" name="TextBox 8">
            <a:extLst>
              <a:ext uri="{FF2B5EF4-FFF2-40B4-BE49-F238E27FC236}">
                <a16:creationId xmlns:a16="http://schemas.microsoft.com/office/drawing/2014/main" id="{1E5BA33E-920E-DC65-1594-2C12190F605E}"/>
              </a:ext>
            </a:extLst>
          </p:cNvPr>
          <p:cNvSpPr txBox="1"/>
          <p:nvPr/>
        </p:nvSpPr>
        <p:spPr>
          <a:xfrm>
            <a:off x="838200" y="2751876"/>
            <a:ext cx="6096000" cy="369332"/>
          </a:xfrm>
          <a:prstGeom prst="rect">
            <a:avLst/>
          </a:prstGeom>
          <a:noFill/>
        </p:spPr>
        <p:txBody>
          <a:bodyPr wrap="square">
            <a:spAutoFit/>
          </a:bodyPr>
          <a:lstStyle/>
          <a:p>
            <a:r>
              <a:rPr lang="en-IN" b="0" i="0" dirty="0">
                <a:solidFill>
                  <a:srgbClr val="242424"/>
                </a:solidFill>
                <a:effectLst/>
                <a:latin typeface="source-serif-pro"/>
              </a:rPr>
              <a:t>4.</a:t>
            </a:r>
            <a:r>
              <a:rPr lang="en-IN" b="1" i="0" dirty="0">
                <a:solidFill>
                  <a:srgbClr val="242424"/>
                </a:solidFill>
                <a:effectLst/>
                <a:latin typeface="source-serif-pro"/>
              </a:rPr>
              <a:t> Music Generation:</a:t>
            </a:r>
            <a:endParaRPr lang="en-IN" dirty="0"/>
          </a:p>
        </p:txBody>
      </p:sp>
      <p:sp>
        <p:nvSpPr>
          <p:cNvPr id="11" name="TextBox 10">
            <a:extLst>
              <a:ext uri="{FF2B5EF4-FFF2-40B4-BE49-F238E27FC236}">
                <a16:creationId xmlns:a16="http://schemas.microsoft.com/office/drawing/2014/main" id="{B58E61E3-2DB6-47F6-B161-0D0BB86CFC04}"/>
              </a:ext>
            </a:extLst>
          </p:cNvPr>
          <p:cNvSpPr txBox="1"/>
          <p:nvPr/>
        </p:nvSpPr>
        <p:spPr>
          <a:xfrm>
            <a:off x="838199" y="3305874"/>
            <a:ext cx="10515599" cy="691856"/>
          </a:xfrm>
          <a:prstGeom prst="rect">
            <a:avLst/>
          </a:prstGeom>
          <a:noFill/>
        </p:spPr>
        <p:txBody>
          <a:bodyPr wrap="square">
            <a:spAutoFit/>
          </a:bodyPr>
          <a:lstStyle/>
          <a:p>
            <a:pPr algn="l">
              <a:lnSpc>
                <a:spcPts val="2400"/>
              </a:lnSpc>
              <a:buFont typeface="Arial" panose="020B0604020202020204" pitchFamily="34" charset="0"/>
              <a:buChar char="•"/>
            </a:pPr>
            <a:r>
              <a:rPr lang="en-US" b="0" i="0" dirty="0">
                <a:solidFill>
                  <a:srgbClr val="242424"/>
                </a:solidFill>
                <a:effectLst/>
                <a:latin typeface="source-serif-pro"/>
              </a:rPr>
              <a:t>RNNs can generate music sequences, learning patterns from existing music compositions and producing new compositions.</a:t>
            </a:r>
          </a:p>
        </p:txBody>
      </p:sp>
      <p:sp>
        <p:nvSpPr>
          <p:cNvPr id="13" name="TextBox 12">
            <a:extLst>
              <a:ext uri="{FF2B5EF4-FFF2-40B4-BE49-F238E27FC236}">
                <a16:creationId xmlns:a16="http://schemas.microsoft.com/office/drawing/2014/main" id="{3C81A115-7AF4-1298-49A1-F0281A28B1DB}"/>
              </a:ext>
            </a:extLst>
          </p:cNvPr>
          <p:cNvSpPr txBox="1"/>
          <p:nvPr/>
        </p:nvSpPr>
        <p:spPr>
          <a:xfrm>
            <a:off x="838200" y="4233793"/>
            <a:ext cx="6096000" cy="369332"/>
          </a:xfrm>
          <a:prstGeom prst="rect">
            <a:avLst/>
          </a:prstGeom>
          <a:noFill/>
        </p:spPr>
        <p:txBody>
          <a:bodyPr wrap="square">
            <a:spAutoFit/>
          </a:bodyPr>
          <a:lstStyle/>
          <a:p>
            <a:r>
              <a:rPr lang="en-US" b="0" i="0" dirty="0">
                <a:solidFill>
                  <a:srgbClr val="242424"/>
                </a:solidFill>
                <a:effectLst/>
                <a:latin typeface="source-serif-pro"/>
              </a:rPr>
              <a:t>5.</a:t>
            </a:r>
            <a:r>
              <a:rPr lang="en-US" b="1" i="0" dirty="0">
                <a:solidFill>
                  <a:srgbClr val="242424"/>
                </a:solidFill>
                <a:effectLst/>
                <a:latin typeface="source-serif-pro"/>
              </a:rPr>
              <a:t> Video Analysis and Action Recognition:</a:t>
            </a:r>
            <a:endParaRPr lang="en-IN" dirty="0"/>
          </a:p>
        </p:txBody>
      </p:sp>
      <p:sp>
        <p:nvSpPr>
          <p:cNvPr id="15" name="TextBox 14">
            <a:extLst>
              <a:ext uri="{FF2B5EF4-FFF2-40B4-BE49-F238E27FC236}">
                <a16:creationId xmlns:a16="http://schemas.microsoft.com/office/drawing/2014/main" id="{36911594-BC2B-93DA-6E4C-80CA4FB19FE8}"/>
              </a:ext>
            </a:extLst>
          </p:cNvPr>
          <p:cNvSpPr txBox="1"/>
          <p:nvPr/>
        </p:nvSpPr>
        <p:spPr>
          <a:xfrm>
            <a:off x="838199" y="4620657"/>
            <a:ext cx="10515598" cy="1307409"/>
          </a:xfrm>
          <a:prstGeom prst="rect">
            <a:avLst/>
          </a:prstGeom>
          <a:noFill/>
        </p:spPr>
        <p:txBody>
          <a:bodyPr wrap="square">
            <a:spAutoFit/>
          </a:bodyPr>
          <a:lstStyle/>
          <a:p>
            <a:pPr algn="l">
              <a:lnSpc>
                <a:spcPts val="2400"/>
              </a:lnSpc>
              <a:buFont typeface="Arial" panose="020B0604020202020204" pitchFamily="34" charset="0"/>
              <a:buChar char="•"/>
            </a:pPr>
            <a:r>
              <a:rPr lang="en-US" b="1" i="0" dirty="0">
                <a:solidFill>
                  <a:srgbClr val="242424"/>
                </a:solidFill>
                <a:effectLst/>
                <a:latin typeface="source-serif-pro"/>
              </a:rPr>
              <a:t>Video Understanding</a:t>
            </a:r>
            <a:r>
              <a:rPr lang="en-US" b="0" i="0" dirty="0">
                <a:solidFill>
                  <a:srgbClr val="242424"/>
                </a:solidFill>
                <a:effectLst/>
                <a:latin typeface="source-serif-pro"/>
              </a:rPr>
              <a:t>: RNNs can process frames in a video sequence to understand actions, objects, and activities.</a:t>
            </a:r>
          </a:p>
          <a:p>
            <a:pPr algn="l">
              <a:lnSpc>
                <a:spcPts val="2400"/>
              </a:lnSpc>
              <a:buFont typeface="Arial" panose="020B0604020202020204" pitchFamily="34" charset="0"/>
              <a:buChar char="•"/>
            </a:pPr>
            <a:r>
              <a:rPr lang="en-US" b="1" i="0" dirty="0">
                <a:solidFill>
                  <a:srgbClr val="242424"/>
                </a:solidFill>
                <a:effectLst/>
                <a:latin typeface="source-serif-pro"/>
              </a:rPr>
              <a:t>Gesture Recognition</a:t>
            </a:r>
            <a:r>
              <a:rPr lang="en-US" b="0" i="0" dirty="0">
                <a:solidFill>
                  <a:srgbClr val="242424"/>
                </a:solidFill>
                <a:effectLst/>
                <a:latin typeface="source-serif-pro"/>
              </a:rPr>
              <a:t>: RNNs can recognize hand gestures and movements in videos for applications like sign language translation.</a:t>
            </a:r>
          </a:p>
        </p:txBody>
      </p:sp>
    </p:spTree>
    <p:extLst>
      <p:ext uri="{BB962C8B-B14F-4D97-AF65-F5344CB8AC3E}">
        <p14:creationId xmlns:p14="http://schemas.microsoft.com/office/powerpoint/2010/main" val="3646704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P spid="13" grpId="0"/>
      <p:bldP spid="1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2483E-02B0-5958-0084-81A5C2A8962C}"/>
              </a:ext>
            </a:extLst>
          </p:cNvPr>
          <p:cNvSpPr>
            <a:spLocks noGrp="1"/>
          </p:cNvSpPr>
          <p:nvPr>
            <p:ph type="title"/>
          </p:nvPr>
        </p:nvSpPr>
        <p:spPr/>
        <p:txBody>
          <a:bodyPr/>
          <a:lstStyle/>
          <a:p>
            <a:r>
              <a:rPr lang="en-US" dirty="0"/>
              <a:t>Applications</a:t>
            </a:r>
            <a:endParaRPr lang="en-IN" dirty="0"/>
          </a:p>
        </p:txBody>
      </p:sp>
      <p:sp>
        <p:nvSpPr>
          <p:cNvPr id="6" name="TextBox 5">
            <a:extLst>
              <a:ext uri="{FF2B5EF4-FFF2-40B4-BE49-F238E27FC236}">
                <a16:creationId xmlns:a16="http://schemas.microsoft.com/office/drawing/2014/main" id="{01AD4779-AA62-FA71-68BF-8D7B9742903B}"/>
              </a:ext>
            </a:extLst>
          </p:cNvPr>
          <p:cNvSpPr txBox="1"/>
          <p:nvPr/>
        </p:nvSpPr>
        <p:spPr>
          <a:xfrm>
            <a:off x="838200" y="1690688"/>
            <a:ext cx="6096000" cy="369332"/>
          </a:xfrm>
          <a:prstGeom prst="rect">
            <a:avLst/>
          </a:prstGeom>
          <a:noFill/>
        </p:spPr>
        <p:txBody>
          <a:bodyPr wrap="square">
            <a:spAutoFit/>
          </a:bodyPr>
          <a:lstStyle/>
          <a:p>
            <a:r>
              <a:rPr lang="en-US" b="1" i="0" dirty="0">
                <a:solidFill>
                  <a:srgbClr val="242424"/>
                </a:solidFill>
                <a:effectLst/>
                <a:latin typeface="source-serif-pro"/>
              </a:rPr>
              <a:t>6. Robotics and Autonomous Systems:</a:t>
            </a:r>
            <a:endParaRPr lang="en-IN" dirty="0"/>
          </a:p>
        </p:txBody>
      </p:sp>
      <p:sp>
        <p:nvSpPr>
          <p:cNvPr id="8" name="TextBox 7">
            <a:extLst>
              <a:ext uri="{FF2B5EF4-FFF2-40B4-BE49-F238E27FC236}">
                <a16:creationId xmlns:a16="http://schemas.microsoft.com/office/drawing/2014/main" id="{85AB98CC-67A7-3A50-E0BB-2AC2D5CA45A1}"/>
              </a:ext>
            </a:extLst>
          </p:cNvPr>
          <p:cNvSpPr txBox="1"/>
          <p:nvPr/>
        </p:nvSpPr>
        <p:spPr>
          <a:xfrm>
            <a:off x="838199" y="2121591"/>
            <a:ext cx="10515599" cy="691856"/>
          </a:xfrm>
          <a:prstGeom prst="rect">
            <a:avLst/>
          </a:prstGeom>
          <a:noFill/>
        </p:spPr>
        <p:txBody>
          <a:bodyPr wrap="square">
            <a:spAutoFit/>
          </a:bodyPr>
          <a:lstStyle/>
          <a:p>
            <a:pPr algn="l">
              <a:lnSpc>
                <a:spcPts val="2400"/>
              </a:lnSpc>
              <a:buFont typeface="Arial" panose="020B0604020202020204" pitchFamily="34" charset="0"/>
              <a:buChar char="•"/>
            </a:pPr>
            <a:r>
              <a:rPr lang="en-US" b="1" i="0" dirty="0">
                <a:solidFill>
                  <a:srgbClr val="242424"/>
                </a:solidFill>
                <a:effectLst/>
                <a:latin typeface="source-serif-pro"/>
              </a:rPr>
              <a:t>Path Prediction</a:t>
            </a:r>
            <a:r>
              <a:rPr lang="en-US" b="0" i="0" dirty="0">
                <a:solidFill>
                  <a:srgbClr val="242424"/>
                </a:solidFill>
                <a:effectLst/>
                <a:latin typeface="source-serif-pro"/>
              </a:rPr>
              <a:t>: RNNs can help robots predict the paths of moving objects and plan their actions accordingly.</a:t>
            </a:r>
          </a:p>
          <a:p>
            <a:pPr algn="l">
              <a:lnSpc>
                <a:spcPts val="2400"/>
              </a:lnSpc>
              <a:buFont typeface="Arial" panose="020B0604020202020204" pitchFamily="34" charset="0"/>
              <a:buChar char="•"/>
            </a:pPr>
            <a:r>
              <a:rPr lang="en-US" b="1" i="0" dirty="0">
                <a:solidFill>
                  <a:srgbClr val="242424"/>
                </a:solidFill>
                <a:effectLst/>
                <a:latin typeface="source-serif-pro"/>
              </a:rPr>
              <a:t>Gesture Control:</a:t>
            </a:r>
            <a:r>
              <a:rPr lang="en-US" b="0" i="0" dirty="0">
                <a:solidFill>
                  <a:srgbClr val="242424"/>
                </a:solidFill>
                <a:effectLst/>
                <a:latin typeface="source-serif-pro"/>
              </a:rPr>
              <a:t> RNNs enable natural interaction with robots through gesture recognition.</a:t>
            </a:r>
          </a:p>
        </p:txBody>
      </p:sp>
      <p:sp>
        <p:nvSpPr>
          <p:cNvPr id="10" name="TextBox 9">
            <a:extLst>
              <a:ext uri="{FF2B5EF4-FFF2-40B4-BE49-F238E27FC236}">
                <a16:creationId xmlns:a16="http://schemas.microsoft.com/office/drawing/2014/main" id="{F9A6774A-D3D4-D7AA-43E3-2BB21801F041}"/>
              </a:ext>
            </a:extLst>
          </p:cNvPr>
          <p:cNvSpPr txBox="1"/>
          <p:nvPr/>
        </p:nvSpPr>
        <p:spPr>
          <a:xfrm>
            <a:off x="838199" y="3244350"/>
            <a:ext cx="6096000" cy="369332"/>
          </a:xfrm>
          <a:prstGeom prst="rect">
            <a:avLst/>
          </a:prstGeom>
          <a:noFill/>
        </p:spPr>
        <p:txBody>
          <a:bodyPr wrap="square">
            <a:spAutoFit/>
          </a:bodyPr>
          <a:lstStyle/>
          <a:p>
            <a:r>
              <a:rPr lang="en-US" b="0" i="0" dirty="0">
                <a:solidFill>
                  <a:srgbClr val="242424"/>
                </a:solidFill>
                <a:effectLst/>
                <a:latin typeface="source-serif-pro"/>
              </a:rPr>
              <a:t>7. </a:t>
            </a:r>
            <a:r>
              <a:rPr lang="en-US" b="1" i="0" dirty="0">
                <a:solidFill>
                  <a:srgbClr val="242424"/>
                </a:solidFill>
                <a:effectLst/>
                <a:latin typeface="source-serif-pro"/>
              </a:rPr>
              <a:t>Language Generation and Dialogue Systems:</a:t>
            </a:r>
            <a:endParaRPr lang="en-IN" dirty="0"/>
          </a:p>
        </p:txBody>
      </p:sp>
      <p:sp>
        <p:nvSpPr>
          <p:cNvPr id="12" name="TextBox 11">
            <a:extLst>
              <a:ext uri="{FF2B5EF4-FFF2-40B4-BE49-F238E27FC236}">
                <a16:creationId xmlns:a16="http://schemas.microsoft.com/office/drawing/2014/main" id="{A62571D1-C406-B475-819E-2FE21C6E7726}"/>
              </a:ext>
            </a:extLst>
          </p:cNvPr>
          <p:cNvSpPr txBox="1"/>
          <p:nvPr/>
        </p:nvSpPr>
        <p:spPr>
          <a:xfrm>
            <a:off x="838199" y="4044554"/>
            <a:ext cx="10515598" cy="691856"/>
          </a:xfrm>
          <a:prstGeom prst="rect">
            <a:avLst/>
          </a:prstGeom>
          <a:noFill/>
        </p:spPr>
        <p:txBody>
          <a:bodyPr wrap="square">
            <a:spAutoFit/>
          </a:bodyPr>
          <a:lstStyle/>
          <a:p>
            <a:pPr algn="l">
              <a:lnSpc>
                <a:spcPts val="2400"/>
              </a:lnSpc>
              <a:buFont typeface="Arial" panose="020B0604020202020204" pitchFamily="34" charset="0"/>
              <a:buChar char="•"/>
            </a:pPr>
            <a:r>
              <a:rPr lang="en-US" b="1" i="0" dirty="0">
                <a:solidFill>
                  <a:srgbClr val="242424"/>
                </a:solidFill>
                <a:effectLst/>
                <a:latin typeface="source-serif-pro"/>
              </a:rPr>
              <a:t>Chatbots:</a:t>
            </a:r>
            <a:r>
              <a:rPr lang="en-US" b="0" i="0" dirty="0">
                <a:solidFill>
                  <a:srgbClr val="242424"/>
                </a:solidFill>
                <a:effectLst/>
                <a:latin typeface="source-serif-pro"/>
              </a:rPr>
              <a:t> RNNs power chatbots and virtual assistants by generating coherent responses in conversations.</a:t>
            </a:r>
          </a:p>
          <a:p>
            <a:pPr algn="l">
              <a:lnSpc>
                <a:spcPts val="2400"/>
              </a:lnSpc>
              <a:buFont typeface="Arial" panose="020B0604020202020204" pitchFamily="34" charset="0"/>
              <a:buChar char="•"/>
            </a:pPr>
            <a:r>
              <a:rPr lang="en-US" b="1" i="0" dirty="0">
                <a:solidFill>
                  <a:srgbClr val="242424"/>
                </a:solidFill>
                <a:effectLst/>
                <a:latin typeface="source-serif-pro"/>
              </a:rPr>
              <a:t>Storytelling: </a:t>
            </a:r>
            <a:r>
              <a:rPr lang="en-US" b="0" i="0" dirty="0">
                <a:solidFill>
                  <a:srgbClr val="242424"/>
                </a:solidFill>
                <a:effectLst/>
                <a:latin typeface="source-serif-pro"/>
              </a:rPr>
              <a:t>RNNs can create stories or narratives based on input prompts.</a:t>
            </a:r>
          </a:p>
        </p:txBody>
      </p:sp>
    </p:spTree>
    <p:extLst>
      <p:ext uri="{BB962C8B-B14F-4D97-AF65-F5344CB8AC3E}">
        <p14:creationId xmlns:p14="http://schemas.microsoft.com/office/powerpoint/2010/main" val="2215882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F4E98-E5C7-EEA4-FF0D-E2B7AF3F4A8C}"/>
              </a:ext>
            </a:extLst>
          </p:cNvPr>
          <p:cNvSpPr>
            <a:spLocks noGrp="1"/>
          </p:cNvSpPr>
          <p:nvPr>
            <p:ph type="title"/>
          </p:nvPr>
        </p:nvSpPr>
        <p:spPr/>
        <p:txBody>
          <a:bodyPr/>
          <a:lstStyle/>
          <a:p>
            <a:r>
              <a:rPr lang="en-US" dirty="0"/>
              <a:t>Limitations</a:t>
            </a:r>
            <a:endParaRPr lang="en-IN" dirty="0"/>
          </a:p>
        </p:txBody>
      </p:sp>
      <p:sp>
        <p:nvSpPr>
          <p:cNvPr id="5" name="TextBox 4">
            <a:extLst>
              <a:ext uri="{FF2B5EF4-FFF2-40B4-BE49-F238E27FC236}">
                <a16:creationId xmlns:a16="http://schemas.microsoft.com/office/drawing/2014/main" id="{BD0CA437-5739-68C0-5235-2DC40EA55399}"/>
              </a:ext>
            </a:extLst>
          </p:cNvPr>
          <p:cNvSpPr txBox="1"/>
          <p:nvPr/>
        </p:nvSpPr>
        <p:spPr>
          <a:xfrm>
            <a:off x="838199" y="1445793"/>
            <a:ext cx="10515600" cy="646331"/>
          </a:xfrm>
          <a:prstGeom prst="rect">
            <a:avLst/>
          </a:prstGeom>
          <a:noFill/>
        </p:spPr>
        <p:txBody>
          <a:bodyPr wrap="square">
            <a:spAutoFit/>
          </a:bodyPr>
          <a:lstStyle/>
          <a:p>
            <a:r>
              <a:rPr lang="en-US" b="1" i="0" dirty="0">
                <a:solidFill>
                  <a:srgbClr val="242424"/>
                </a:solidFill>
                <a:effectLst/>
                <a:latin typeface="source-serif-pro"/>
              </a:rPr>
              <a:t>Lack of Parallelism</a:t>
            </a:r>
            <a:r>
              <a:rPr lang="en-US" b="0" i="0" dirty="0">
                <a:solidFill>
                  <a:srgbClr val="242424"/>
                </a:solidFill>
                <a:effectLst/>
                <a:latin typeface="source-serif-pro"/>
              </a:rPr>
              <a:t>: The inherently sequential nature of RNNs limits their parallel processing capabilities, making them less efficient for deployment on certain hardware architectures.</a:t>
            </a:r>
            <a:endParaRPr lang="en-IN" dirty="0"/>
          </a:p>
        </p:txBody>
      </p:sp>
      <p:sp>
        <p:nvSpPr>
          <p:cNvPr id="7" name="TextBox 6">
            <a:extLst>
              <a:ext uri="{FF2B5EF4-FFF2-40B4-BE49-F238E27FC236}">
                <a16:creationId xmlns:a16="http://schemas.microsoft.com/office/drawing/2014/main" id="{1B31A1CF-C2AE-2685-C876-77953224AB0F}"/>
              </a:ext>
            </a:extLst>
          </p:cNvPr>
          <p:cNvSpPr txBox="1"/>
          <p:nvPr/>
        </p:nvSpPr>
        <p:spPr>
          <a:xfrm>
            <a:off x="838198" y="2211311"/>
            <a:ext cx="10515599" cy="1307409"/>
          </a:xfrm>
          <a:prstGeom prst="rect">
            <a:avLst/>
          </a:prstGeom>
          <a:noFill/>
        </p:spPr>
        <p:txBody>
          <a:bodyPr wrap="square">
            <a:spAutoFit/>
          </a:bodyPr>
          <a:lstStyle/>
          <a:p>
            <a:pPr algn="l">
              <a:lnSpc>
                <a:spcPts val="2400"/>
              </a:lnSpc>
            </a:pPr>
            <a:r>
              <a:rPr lang="en-US" b="1" i="0" dirty="0">
                <a:solidFill>
                  <a:srgbClr val="242424"/>
                </a:solidFill>
                <a:effectLst/>
                <a:latin typeface="source-serif-pro"/>
              </a:rPr>
              <a:t>Vanishing Gradient Problem:</a:t>
            </a:r>
            <a:r>
              <a:rPr lang="en-US" b="0" i="0" dirty="0">
                <a:solidFill>
                  <a:srgbClr val="242424"/>
                </a:solidFill>
                <a:effectLst/>
                <a:latin typeface="source-serif-pro"/>
              </a:rPr>
              <a:t> Traditional RNNs suffer from the vanishing gradient problem, especially in long sequences. Gradients can become extremely small as they are propagated backward through time, making it difficult for the network to learn from distant past information. This hinders the RNN’s ability to capture long-term dependencies.</a:t>
            </a:r>
          </a:p>
        </p:txBody>
      </p:sp>
      <p:pic>
        <p:nvPicPr>
          <p:cNvPr id="26626" name="Picture 2">
            <a:extLst>
              <a:ext uri="{FF2B5EF4-FFF2-40B4-BE49-F238E27FC236}">
                <a16:creationId xmlns:a16="http://schemas.microsoft.com/office/drawing/2014/main" id="{74709668-66CB-CCBD-9E8A-8DE86D6FA2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0335" y="3518720"/>
            <a:ext cx="3633020" cy="15928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0152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6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a:extLst>
              <a:ext uri="{FF2B5EF4-FFF2-40B4-BE49-F238E27FC236}">
                <a16:creationId xmlns:a16="http://schemas.microsoft.com/office/drawing/2014/main" id="{74EC4BB2-DCF8-A332-3D0C-68C674D7BF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1497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036EE-FD62-AC09-C3A1-5921CE0660D3}"/>
              </a:ext>
            </a:extLst>
          </p:cNvPr>
          <p:cNvSpPr>
            <a:spLocks noGrp="1"/>
          </p:cNvSpPr>
          <p:nvPr>
            <p:ph type="title"/>
          </p:nvPr>
        </p:nvSpPr>
        <p:spPr/>
        <p:txBody>
          <a:bodyPr/>
          <a:lstStyle/>
          <a:p>
            <a:r>
              <a:rPr lang="en-US" dirty="0"/>
              <a:t>Limitations</a:t>
            </a:r>
            <a:endParaRPr lang="en-IN" dirty="0"/>
          </a:p>
        </p:txBody>
      </p:sp>
      <p:sp>
        <p:nvSpPr>
          <p:cNvPr id="5" name="TextBox 4">
            <a:extLst>
              <a:ext uri="{FF2B5EF4-FFF2-40B4-BE49-F238E27FC236}">
                <a16:creationId xmlns:a16="http://schemas.microsoft.com/office/drawing/2014/main" id="{33763AA4-15C3-2470-43D7-8CA43BD42A74}"/>
              </a:ext>
            </a:extLst>
          </p:cNvPr>
          <p:cNvSpPr txBox="1"/>
          <p:nvPr/>
        </p:nvSpPr>
        <p:spPr>
          <a:xfrm>
            <a:off x="838200" y="1690688"/>
            <a:ext cx="10515600" cy="923330"/>
          </a:xfrm>
          <a:prstGeom prst="rect">
            <a:avLst/>
          </a:prstGeom>
          <a:noFill/>
        </p:spPr>
        <p:txBody>
          <a:bodyPr wrap="square">
            <a:spAutoFit/>
          </a:bodyPr>
          <a:lstStyle/>
          <a:p>
            <a:r>
              <a:rPr lang="en-US" b="1" i="0" dirty="0">
                <a:solidFill>
                  <a:srgbClr val="242424"/>
                </a:solidFill>
                <a:effectLst/>
                <a:latin typeface="source-serif-pro"/>
              </a:rPr>
              <a:t>Exploding Gradient Problem</a:t>
            </a:r>
            <a:r>
              <a:rPr lang="en-US" b="0" i="0" dirty="0">
                <a:solidFill>
                  <a:srgbClr val="242424"/>
                </a:solidFill>
                <a:effectLst/>
                <a:latin typeface="source-serif-pro"/>
              </a:rPr>
              <a:t>: In contrast to the vanishing gradient problem, exploding gradients occur when gradients become extremely large, leading to unstable training and convergence issues. This can result in a loss function that increases rapidly and prevents the network from learning effectively.</a:t>
            </a:r>
            <a:endParaRPr lang="en-IN" dirty="0"/>
          </a:p>
        </p:txBody>
      </p:sp>
      <p:sp>
        <p:nvSpPr>
          <p:cNvPr id="7" name="TextBox 6">
            <a:extLst>
              <a:ext uri="{FF2B5EF4-FFF2-40B4-BE49-F238E27FC236}">
                <a16:creationId xmlns:a16="http://schemas.microsoft.com/office/drawing/2014/main" id="{3A8CE8FB-93C5-B2DF-0CFB-75F51294F84B}"/>
              </a:ext>
            </a:extLst>
          </p:cNvPr>
          <p:cNvSpPr txBox="1"/>
          <p:nvPr/>
        </p:nvSpPr>
        <p:spPr>
          <a:xfrm>
            <a:off x="838200" y="2850110"/>
            <a:ext cx="10515600" cy="923330"/>
          </a:xfrm>
          <a:prstGeom prst="rect">
            <a:avLst/>
          </a:prstGeom>
          <a:noFill/>
        </p:spPr>
        <p:txBody>
          <a:bodyPr wrap="square">
            <a:spAutoFit/>
          </a:bodyPr>
          <a:lstStyle/>
          <a:p>
            <a:r>
              <a:rPr lang="en-US" b="1" i="0" dirty="0">
                <a:solidFill>
                  <a:srgbClr val="242424"/>
                </a:solidFill>
                <a:effectLst/>
                <a:latin typeface="source-serif-pro"/>
              </a:rPr>
              <a:t>Lack of Global Context</a:t>
            </a:r>
            <a:r>
              <a:rPr lang="en-US" b="0" i="0" dirty="0">
                <a:solidFill>
                  <a:srgbClr val="242424"/>
                </a:solidFill>
                <a:effectLst/>
                <a:latin typeface="source-serif-pro"/>
              </a:rPr>
              <a:t>: In very long sequences, the context from the initial steps might get diluted over time, limiting the model’s ability to capture global information. Advanced architectures like transformers have been developed to address this issue.</a:t>
            </a:r>
            <a:endParaRPr lang="en-IN" dirty="0"/>
          </a:p>
        </p:txBody>
      </p:sp>
      <p:sp>
        <p:nvSpPr>
          <p:cNvPr id="9" name="TextBox 8">
            <a:extLst>
              <a:ext uri="{FF2B5EF4-FFF2-40B4-BE49-F238E27FC236}">
                <a16:creationId xmlns:a16="http://schemas.microsoft.com/office/drawing/2014/main" id="{9C22BDCD-785D-9664-E1B5-8674FD1A16D2}"/>
              </a:ext>
            </a:extLst>
          </p:cNvPr>
          <p:cNvSpPr txBox="1"/>
          <p:nvPr/>
        </p:nvSpPr>
        <p:spPr>
          <a:xfrm>
            <a:off x="838200" y="5290206"/>
            <a:ext cx="10515600" cy="646331"/>
          </a:xfrm>
          <a:prstGeom prst="rect">
            <a:avLst/>
          </a:prstGeom>
          <a:noFill/>
        </p:spPr>
        <p:txBody>
          <a:bodyPr wrap="square">
            <a:spAutoFit/>
          </a:bodyPr>
          <a:lstStyle/>
          <a:p>
            <a:r>
              <a:rPr lang="en-US" b="0" i="0" dirty="0">
                <a:solidFill>
                  <a:srgbClr val="242424"/>
                </a:solidFill>
                <a:effectLst/>
                <a:latin typeface="source-serif-pro"/>
              </a:rPr>
              <a:t>However, </a:t>
            </a:r>
            <a:r>
              <a:rPr lang="en-US" dirty="0"/>
              <a:t>RNNs excel at analyzing recent inputs, which is perfect for short-term predictions like suggesting the next word on a mobile keyboard.</a:t>
            </a:r>
            <a:endParaRPr lang="en-IN" dirty="0"/>
          </a:p>
        </p:txBody>
      </p:sp>
    </p:spTree>
    <p:extLst>
      <p:ext uri="{BB962C8B-B14F-4D97-AF65-F5344CB8AC3E}">
        <p14:creationId xmlns:p14="http://schemas.microsoft.com/office/powerpoint/2010/main" val="2693902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08EC90-7959-0EDB-375E-3E2292FDA243}"/>
              </a:ext>
            </a:extLst>
          </p:cNvPr>
          <p:cNvSpPr txBox="1"/>
          <p:nvPr/>
        </p:nvSpPr>
        <p:spPr>
          <a:xfrm>
            <a:off x="1184787" y="1740309"/>
            <a:ext cx="9822425" cy="1077218"/>
          </a:xfrm>
          <a:prstGeom prst="rect">
            <a:avLst/>
          </a:prstGeom>
          <a:noFill/>
        </p:spPr>
        <p:txBody>
          <a:bodyPr wrap="square" rtlCol="0">
            <a:spAutoFit/>
          </a:bodyPr>
          <a:lstStyle/>
          <a:p>
            <a:r>
              <a:rPr lang="en-US" sz="3200" dirty="0"/>
              <a:t>Then how to avoid this gradient problem for RNNs so that </a:t>
            </a:r>
            <a:r>
              <a:rPr lang="en-IN" sz="3200" b="1" dirty="0"/>
              <a:t>Long-Term Dependency </a:t>
            </a:r>
            <a:r>
              <a:rPr lang="en-IN" sz="3200" dirty="0"/>
              <a:t>can be captured….</a:t>
            </a:r>
          </a:p>
        </p:txBody>
      </p:sp>
      <p:sp>
        <p:nvSpPr>
          <p:cNvPr id="3" name="TextBox 2">
            <a:extLst>
              <a:ext uri="{FF2B5EF4-FFF2-40B4-BE49-F238E27FC236}">
                <a16:creationId xmlns:a16="http://schemas.microsoft.com/office/drawing/2014/main" id="{2AB4D2F4-B743-49BF-F828-D4B90D3527D5}"/>
              </a:ext>
            </a:extLst>
          </p:cNvPr>
          <p:cNvSpPr txBox="1"/>
          <p:nvPr/>
        </p:nvSpPr>
        <p:spPr>
          <a:xfrm>
            <a:off x="2993922" y="4218039"/>
            <a:ext cx="6204154" cy="584775"/>
          </a:xfrm>
          <a:prstGeom prst="rect">
            <a:avLst/>
          </a:prstGeom>
          <a:noFill/>
        </p:spPr>
        <p:txBody>
          <a:bodyPr wrap="square" rtlCol="0">
            <a:spAutoFit/>
          </a:bodyPr>
          <a:lstStyle/>
          <a:p>
            <a:r>
              <a:rPr lang="en-US" sz="3200" dirty="0"/>
              <a:t>Long Short-Term Memory(LSTM) !!!</a:t>
            </a:r>
            <a:endParaRPr lang="en-IN" sz="3200" dirty="0"/>
          </a:p>
        </p:txBody>
      </p:sp>
      <p:pic>
        <p:nvPicPr>
          <p:cNvPr id="4" name="Picture 6">
            <a:extLst>
              <a:ext uri="{FF2B5EF4-FFF2-40B4-BE49-F238E27FC236}">
                <a16:creationId xmlns:a16="http://schemas.microsoft.com/office/drawing/2014/main" id="{04D9E1FC-63C3-917E-91B4-B79F85BE84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4308" y="4698660"/>
            <a:ext cx="5663381" cy="2056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6725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EE60F-1C23-8F41-2083-389B67F1D988}"/>
              </a:ext>
            </a:extLst>
          </p:cNvPr>
          <p:cNvSpPr>
            <a:spLocks noGrp="1"/>
          </p:cNvSpPr>
          <p:nvPr>
            <p:ph type="title"/>
          </p:nvPr>
        </p:nvSpPr>
        <p:spPr/>
        <p:txBody>
          <a:bodyPr/>
          <a:lstStyle/>
          <a:p>
            <a:r>
              <a:rPr lang="en-US" dirty="0"/>
              <a:t>Long Short-Term Memory(LSTM)</a:t>
            </a:r>
            <a:endParaRPr lang="en-IN" dirty="0"/>
          </a:p>
        </p:txBody>
      </p:sp>
      <p:sp>
        <p:nvSpPr>
          <p:cNvPr id="5" name="TextBox 4">
            <a:extLst>
              <a:ext uri="{FF2B5EF4-FFF2-40B4-BE49-F238E27FC236}">
                <a16:creationId xmlns:a16="http://schemas.microsoft.com/office/drawing/2014/main" id="{F4A7D56D-91EC-5B7C-A2DE-97683380B203}"/>
              </a:ext>
            </a:extLst>
          </p:cNvPr>
          <p:cNvSpPr txBox="1"/>
          <p:nvPr/>
        </p:nvSpPr>
        <p:spPr>
          <a:xfrm>
            <a:off x="993057" y="1690688"/>
            <a:ext cx="9783097" cy="1200329"/>
          </a:xfrm>
          <a:prstGeom prst="rect">
            <a:avLst/>
          </a:prstGeom>
          <a:noFill/>
        </p:spPr>
        <p:txBody>
          <a:bodyPr wrap="square">
            <a:spAutoFit/>
          </a:bodyPr>
          <a:lstStyle/>
          <a:p>
            <a:r>
              <a:rPr lang="en-US" b="0" i="0" dirty="0">
                <a:solidFill>
                  <a:srgbClr val="242424"/>
                </a:solidFill>
                <a:effectLst/>
                <a:latin typeface="source-serif-pro"/>
              </a:rPr>
              <a:t>LSTMs come to the rescue to solve the vanishing gradient problem. It does so by ignoring (forgetting) useless data/information in the network. The LSTM will forget the data if there is no useful information from other inputs (prior sentence words). When new information comes, the network determines which information to be overlooked and which to be remembered.</a:t>
            </a:r>
            <a:endParaRPr lang="en-IN" dirty="0"/>
          </a:p>
        </p:txBody>
      </p:sp>
      <p:pic>
        <p:nvPicPr>
          <p:cNvPr id="28676" name="Picture 4" descr="RNN cell architecture. a A simple RNN unit; b an LSTM unit | Download  Scientific Diagram">
            <a:extLst>
              <a:ext uri="{FF2B5EF4-FFF2-40B4-BE49-F238E27FC236}">
                <a16:creationId xmlns:a16="http://schemas.microsoft.com/office/drawing/2014/main" id="{73A6C2A7-6C9F-1178-8DAB-AFBB709954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7875" y="3778250"/>
            <a:ext cx="8096250" cy="2714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3517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6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0CDC5-E7FC-9EB2-4745-DC8E997B75C4}"/>
              </a:ext>
            </a:extLst>
          </p:cNvPr>
          <p:cNvSpPr>
            <a:spLocks noGrp="1"/>
          </p:cNvSpPr>
          <p:nvPr>
            <p:ph type="title"/>
          </p:nvPr>
        </p:nvSpPr>
        <p:spPr>
          <a:xfrm>
            <a:off x="838200" y="0"/>
            <a:ext cx="10515600" cy="1325563"/>
          </a:xfrm>
        </p:spPr>
        <p:txBody>
          <a:bodyPr/>
          <a:lstStyle/>
          <a:p>
            <a:r>
              <a:rPr lang="en-US" dirty="0"/>
              <a:t>LSTM Architecture</a:t>
            </a:r>
            <a:endParaRPr lang="en-IN" dirty="0"/>
          </a:p>
        </p:txBody>
      </p:sp>
      <p:sp>
        <p:nvSpPr>
          <p:cNvPr id="5" name="TextBox 4">
            <a:extLst>
              <a:ext uri="{FF2B5EF4-FFF2-40B4-BE49-F238E27FC236}">
                <a16:creationId xmlns:a16="http://schemas.microsoft.com/office/drawing/2014/main" id="{48FD5FB3-B329-044C-D584-9A6A4767545D}"/>
              </a:ext>
            </a:extLst>
          </p:cNvPr>
          <p:cNvSpPr txBox="1"/>
          <p:nvPr/>
        </p:nvSpPr>
        <p:spPr>
          <a:xfrm>
            <a:off x="838200" y="1325563"/>
            <a:ext cx="8089490" cy="369332"/>
          </a:xfrm>
          <a:prstGeom prst="rect">
            <a:avLst/>
          </a:prstGeom>
          <a:noFill/>
        </p:spPr>
        <p:txBody>
          <a:bodyPr wrap="square">
            <a:spAutoFit/>
          </a:bodyPr>
          <a:lstStyle/>
          <a:p>
            <a:r>
              <a:rPr lang="en-US" b="0" i="0" dirty="0">
                <a:solidFill>
                  <a:srgbClr val="242424"/>
                </a:solidFill>
                <a:effectLst/>
                <a:latin typeface="source-serif-pro"/>
              </a:rPr>
              <a:t>In RNNs, we have a very simple structure with a single activation function (</a:t>
            </a:r>
            <a:r>
              <a:rPr lang="en-US" b="1" i="1" dirty="0">
                <a:solidFill>
                  <a:srgbClr val="242424"/>
                </a:solidFill>
                <a:effectLst/>
                <a:latin typeface="source-serif-pro"/>
              </a:rPr>
              <a:t>tanh</a:t>
            </a:r>
            <a:r>
              <a:rPr lang="en-US" b="0" i="0" dirty="0">
                <a:solidFill>
                  <a:srgbClr val="242424"/>
                </a:solidFill>
                <a:effectLst/>
                <a:latin typeface="source-serif-pro"/>
              </a:rPr>
              <a:t>).</a:t>
            </a:r>
            <a:endParaRPr lang="en-IN" dirty="0"/>
          </a:p>
        </p:txBody>
      </p:sp>
      <p:pic>
        <p:nvPicPr>
          <p:cNvPr id="29698" name="Picture 2">
            <a:extLst>
              <a:ext uri="{FF2B5EF4-FFF2-40B4-BE49-F238E27FC236}">
                <a16:creationId xmlns:a16="http://schemas.microsoft.com/office/drawing/2014/main" id="{53CCC9CC-6207-B831-59C1-86A9C90A13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1867" y="1694895"/>
            <a:ext cx="5435549" cy="190729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0F606E1-4C81-65AE-4ADF-490164E33AFC}"/>
              </a:ext>
            </a:extLst>
          </p:cNvPr>
          <p:cNvSpPr txBox="1"/>
          <p:nvPr/>
        </p:nvSpPr>
        <p:spPr>
          <a:xfrm>
            <a:off x="838200" y="3971524"/>
            <a:ext cx="6096000" cy="923330"/>
          </a:xfrm>
          <a:prstGeom prst="rect">
            <a:avLst/>
          </a:prstGeom>
          <a:noFill/>
        </p:spPr>
        <p:txBody>
          <a:bodyPr wrap="square">
            <a:spAutoFit/>
          </a:bodyPr>
          <a:lstStyle/>
          <a:p>
            <a:r>
              <a:rPr lang="en-US" b="0" i="0" dirty="0">
                <a:solidFill>
                  <a:srgbClr val="242424"/>
                </a:solidFill>
                <a:effectLst/>
                <a:latin typeface="source-serif-pro"/>
              </a:rPr>
              <a:t>In LSTMs, instead of just a simple network with a single activation function, we have multiple components, giving power to the network to forget and remember information.</a:t>
            </a:r>
            <a:endParaRPr lang="en-IN" dirty="0"/>
          </a:p>
        </p:txBody>
      </p:sp>
      <p:pic>
        <p:nvPicPr>
          <p:cNvPr id="29702" name="Picture 6">
            <a:extLst>
              <a:ext uri="{FF2B5EF4-FFF2-40B4-BE49-F238E27FC236}">
                <a16:creationId xmlns:a16="http://schemas.microsoft.com/office/drawing/2014/main" id="{0831808E-F364-5488-542B-898E12F73D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4035" y="4433189"/>
            <a:ext cx="5663381" cy="2056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4950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69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7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a:extLst>
              <a:ext uri="{FF2B5EF4-FFF2-40B4-BE49-F238E27FC236}">
                <a16:creationId xmlns:a16="http://schemas.microsoft.com/office/drawing/2014/main" id="{0C397A8E-B6F7-E487-0C0D-82D8B853BC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9703" y="0"/>
            <a:ext cx="9478297" cy="3545604"/>
          </a:xfrm>
          <a:prstGeom prst="rect">
            <a:avLst/>
          </a:prstGeom>
          <a:noFill/>
          <a:extLst>
            <a:ext uri="{909E8E84-426E-40DD-AFC4-6F175D3DCCD1}">
              <a14:hiddenFill xmlns:a14="http://schemas.microsoft.com/office/drawing/2010/main">
                <a:solidFill>
                  <a:srgbClr val="FFFFFF"/>
                </a:solidFill>
              </a14:hiddenFill>
            </a:ext>
          </a:extLst>
        </p:spPr>
      </p:pic>
      <p:pic>
        <p:nvPicPr>
          <p:cNvPr id="30726" name="Picture 6">
            <a:extLst>
              <a:ext uri="{FF2B5EF4-FFF2-40B4-BE49-F238E27FC236}">
                <a16:creationId xmlns:a16="http://schemas.microsoft.com/office/drawing/2014/main" id="{AB3F05F7-61AF-BCF2-A367-94DC881535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8812" y="4186546"/>
            <a:ext cx="8334375" cy="1552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591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CB83F-AF6E-55C4-A372-4268FED92AC7}"/>
              </a:ext>
            </a:extLst>
          </p:cNvPr>
          <p:cNvSpPr>
            <a:spLocks noGrp="1"/>
          </p:cNvSpPr>
          <p:nvPr>
            <p:ph type="title"/>
          </p:nvPr>
        </p:nvSpPr>
        <p:spPr>
          <a:xfrm>
            <a:off x="838200" y="18255"/>
            <a:ext cx="10515600" cy="1325563"/>
          </a:xfrm>
        </p:spPr>
        <p:txBody>
          <a:bodyPr/>
          <a:lstStyle/>
          <a:p>
            <a:r>
              <a:rPr lang="en-US" dirty="0"/>
              <a:t>LSTM Architecture</a:t>
            </a:r>
            <a:endParaRPr lang="en-IN" dirty="0"/>
          </a:p>
        </p:txBody>
      </p:sp>
      <p:sp>
        <p:nvSpPr>
          <p:cNvPr id="5" name="TextBox 4">
            <a:extLst>
              <a:ext uri="{FF2B5EF4-FFF2-40B4-BE49-F238E27FC236}">
                <a16:creationId xmlns:a16="http://schemas.microsoft.com/office/drawing/2014/main" id="{73FD81F8-09A3-399B-5869-B04F7BFEFB8A}"/>
              </a:ext>
            </a:extLst>
          </p:cNvPr>
          <p:cNvSpPr txBox="1"/>
          <p:nvPr/>
        </p:nvSpPr>
        <p:spPr>
          <a:xfrm>
            <a:off x="838200" y="1555644"/>
            <a:ext cx="6096000" cy="369332"/>
          </a:xfrm>
          <a:prstGeom prst="rect">
            <a:avLst/>
          </a:prstGeom>
          <a:noFill/>
        </p:spPr>
        <p:txBody>
          <a:bodyPr wrap="square">
            <a:spAutoFit/>
          </a:bodyPr>
          <a:lstStyle/>
          <a:p>
            <a:r>
              <a:rPr lang="en-US" b="0" i="0" dirty="0">
                <a:solidFill>
                  <a:srgbClr val="242424"/>
                </a:solidFill>
                <a:effectLst/>
                <a:latin typeface="source-serif-pro"/>
              </a:rPr>
              <a:t>LSTMs have 4 different components : </a:t>
            </a:r>
            <a:endParaRPr lang="en-IN" dirty="0"/>
          </a:p>
        </p:txBody>
      </p:sp>
      <p:sp>
        <p:nvSpPr>
          <p:cNvPr id="7" name="TextBox 6">
            <a:extLst>
              <a:ext uri="{FF2B5EF4-FFF2-40B4-BE49-F238E27FC236}">
                <a16:creationId xmlns:a16="http://schemas.microsoft.com/office/drawing/2014/main" id="{99A54FBA-BF4E-BF31-C7A8-BD1FEF542794}"/>
              </a:ext>
            </a:extLst>
          </p:cNvPr>
          <p:cNvSpPr txBox="1"/>
          <p:nvPr/>
        </p:nvSpPr>
        <p:spPr>
          <a:xfrm>
            <a:off x="838200" y="2136802"/>
            <a:ext cx="6096000" cy="384080"/>
          </a:xfrm>
          <a:prstGeom prst="rect">
            <a:avLst/>
          </a:prstGeom>
          <a:noFill/>
        </p:spPr>
        <p:txBody>
          <a:bodyPr wrap="square">
            <a:spAutoFit/>
          </a:bodyPr>
          <a:lstStyle/>
          <a:p>
            <a:pPr algn="l">
              <a:lnSpc>
                <a:spcPts val="2400"/>
              </a:lnSpc>
              <a:buFont typeface="+mj-lt"/>
              <a:buAutoNum type="arabicPeriod"/>
            </a:pPr>
            <a:r>
              <a:rPr lang="en-IN" b="0" i="0" dirty="0">
                <a:solidFill>
                  <a:srgbClr val="242424"/>
                </a:solidFill>
                <a:effectLst/>
                <a:latin typeface="source-serif-pro"/>
              </a:rPr>
              <a:t> Cell state (Memory cell)</a:t>
            </a:r>
          </a:p>
        </p:txBody>
      </p:sp>
      <p:sp>
        <p:nvSpPr>
          <p:cNvPr id="9" name="TextBox 8">
            <a:extLst>
              <a:ext uri="{FF2B5EF4-FFF2-40B4-BE49-F238E27FC236}">
                <a16:creationId xmlns:a16="http://schemas.microsoft.com/office/drawing/2014/main" id="{074647E4-3FA2-E5F5-95EA-859DD7469787}"/>
              </a:ext>
            </a:extLst>
          </p:cNvPr>
          <p:cNvSpPr txBox="1"/>
          <p:nvPr/>
        </p:nvSpPr>
        <p:spPr>
          <a:xfrm>
            <a:off x="838200" y="2732708"/>
            <a:ext cx="6096000" cy="384080"/>
          </a:xfrm>
          <a:prstGeom prst="rect">
            <a:avLst/>
          </a:prstGeom>
          <a:noFill/>
        </p:spPr>
        <p:txBody>
          <a:bodyPr wrap="square">
            <a:spAutoFit/>
          </a:bodyPr>
          <a:lstStyle/>
          <a:p>
            <a:pPr algn="l">
              <a:lnSpc>
                <a:spcPts val="2400"/>
              </a:lnSpc>
            </a:pPr>
            <a:r>
              <a:rPr lang="en-IN" b="0" i="0" dirty="0">
                <a:solidFill>
                  <a:srgbClr val="242424"/>
                </a:solidFill>
                <a:effectLst/>
                <a:latin typeface="source-serif-pro"/>
              </a:rPr>
              <a:t>2. Forget gate</a:t>
            </a:r>
          </a:p>
        </p:txBody>
      </p:sp>
      <p:sp>
        <p:nvSpPr>
          <p:cNvPr id="11" name="TextBox 10">
            <a:extLst>
              <a:ext uri="{FF2B5EF4-FFF2-40B4-BE49-F238E27FC236}">
                <a16:creationId xmlns:a16="http://schemas.microsoft.com/office/drawing/2014/main" id="{CE7E06E6-BDF7-2EB3-5C51-75A11C2624C1}"/>
              </a:ext>
            </a:extLst>
          </p:cNvPr>
          <p:cNvSpPr txBox="1"/>
          <p:nvPr/>
        </p:nvSpPr>
        <p:spPr>
          <a:xfrm>
            <a:off x="838200" y="3328614"/>
            <a:ext cx="6096000" cy="384080"/>
          </a:xfrm>
          <a:prstGeom prst="rect">
            <a:avLst/>
          </a:prstGeom>
          <a:noFill/>
        </p:spPr>
        <p:txBody>
          <a:bodyPr wrap="square">
            <a:spAutoFit/>
          </a:bodyPr>
          <a:lstStyle/>
          <a:p>
            <a:pPr algn="l">
              <a:lnSpc>
                <a:spcPts val="2400"/>
              </a:lnSpc>
            </a:pPr>
            <a:r>
              <a:rPr lang="en-IN" b="0" i="0" dirty="0">
                <a:solidFill>
                  <a:srgbClr val="242424"/>
                </a:solidFill>
                <a:effectLst/>
                <a:latin typeface="source-serif-pro"/>
              </a:rPr>
              <a:t>3. Input gate</a:t>
            </a:r>
          </a:p>
        </p:txBody>
      </p:sp>
      <p:sp>
        <p:nvSpPr>
          <p:cNvPr id="13" name="TextBox 12">
            <a:extLst>
              <a:ext uri="{FF2B5EF4-FFF2-40B4-BE49-F238E27FC236}">
                <a16:creationId xmlns:a16="http://schemas.microsoft.com/office/drawing/2014/main" id="{3A672BCD-A7CB-5610-71E3-9CA25C8C3827}"/>
              </a:ext>
            </a:extLst>
          </p:cNvPr>
          <p:cNvSpPr txBox="1"/>
          <p:nvPr/>
        </p:nvSpPr>
        <p:spPr>
          <a:xfrm>
            <a:off x="838200" y="3924520"/>
            <a:ext cx="6096000" cy="384080"/>
          </a:xfrm>
          <a:prstGeom prst="rect">
            <a:avLst/>
          </a:prstGeom>
          <a:noFill/>
        </p:spPr>
        <p:txBody>
          <a:bodyPr wrap="square">
            <a:spAutoFit/>
          </a:bodyPr>
          <a:lstStyle/>
          <a:p>
            <a:pPr algn="l">
              <a:lnSpc>
                <a:spcPts val="2400"/>
              </a:lnSpc>
            </a:pPr>
            <a:r>
              <a:rPr lang="en-IN" b="0" i="0" dirty="0">
                <a:solidFill>
                  <a:srgbClr val="242424"/>
                </a:solidFill>
                <a:effectLst/>
                <a:latin typeface="source-serif-pro"/>
              </a:rPr>
              <a:t>4. Output gate</a:t>
            </a:r>
          </a:p>
        </p:txBody>
      </p:sp>
      <p:pic>
        <p:nvPicPr>
          <p:cNvPr id="31746" name="Picture 2">
            <a:extLst>
              <a:ext uri="{FF2B5EF4-FFF2-40B4-BE49-F238E27FC236}">
                <a16:creationId xmlns:a16="http://schemas.microsoft.com/office/drawing/2014/main" id="{BB65B077-0946-FF8D-2370-0F7F33F9E6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0322" y="1924976"/>
            <a:ext cx="6941575" cy="3551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159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7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P spid="1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0654BA-E14D-E932-C2EE-632D9F8D3B6B}"/>
              </a:ext>
            </a:extLst>
          </p:cNvPr>
          <p:cNvSpPr txBox="1"/>
          <p:nvPr/>
        </p:nvSpPr>
        <p:spPr>
          <a:xfrm>
            <a:off x="816078" y="515241"/>
            <a:ext cx="6096000" cy="326371"/>
          </a:xfrm>
          <a:prstGeom prst="rect">
            <a:avLst/>
          </a:prstGeom>
          <a:noFill/>
        </p:spPr>
        <p:txBody>
          <a:bodyPr wrap="square">
            <a:spAutoFit/>
          </a:bodyPr>
          <a:lstStyle/>
          <a:p>
            <a:pPr algn="l">
              <a:lnSpc>
                <a:spcPts val="1800"/>
              </a:lnSpc>
              <a:buNone/>
            </a:pPr>
            <a:r>
              <a:rPr lang="en-IN" b="1" i="0" dirty="0">
                <a:solidFill>
                  <a:srgbClr val="242424"/>
                </a:solidFill>
                <a:effectLst/>
                <a:latin typeface="sohne"/>
              </a:rPr>
              <a:t> 1. Cell State (Memory cell)</a:t>
            </a:r>
          </a:p>
        </p:txBody>
      </p:sp>
      <p:sp>
        <p:nvSpPr>
          <p:cNvPr id="5" name="TextBox 4">
            <a:extLst>
              <a:ext uri="{FF2B5EF4-FFF2-40B4-BE49-F238E27FC236}">
                <a16:creationId xmlns:a16="http://schemas.microsoft.com/office/drawing/2014/main" id="{61A17889-7E00-6B01-1B84-08EBE0100E77}"/>
              </a:ext>
            </a:extLst>
          </p:cNvPr>
          <p:cNvSpPr txBox="1"/>
          <p:nvPr/>
        </p:nvSpPr>
        <p:spPr>
          <a:xfrm>
            <a:off x="914400" y="841612"/>
            <a:ext cx="6096000" cy="646331"/>
          </a:xfrm>
          <a:prstGeom prst="rect">
            <a:avLst/>
          </a:prstGeom>
          <a:noFill/>
        </p:spPr>
        <p:txBody>
          <a:bodyPr wrap="square">
            <a:spAutoFit/>
          </a:bodyPr>
          <a:lstStyle/>
          <a:p>
            <a:r>
              <a:rPr lang="en-US" b="0" i="0" dirty="0">
                <a:solidFill>
                  <a:srgbClr val="242424"/>
                </a:solidFill>
                <a:effectLst/>
                <a:latin typeface="source-serif-pro"/>
              </a:rPr>
              <a:t>It is the first component of LSTM which runs through the entire LSTM unit. It kind of can be thought of as a conveyer belt.</a:t>
            </a:r>
            <a:endParaRPr lang="en-IN" dirty="0"/>
          </a:p>
        </p:txBody>
      </p:sp>
      <p:pic>
        <p:nvPicPr>
          <p:cNvPr id="32770" name="Picture 2">
            <a:extLst>
              <a:ext uri="{FF2B5EF4-FFF2-40B4-BE49-F238E27FC236}">
                <a16:creationId xmlns:a16="http://schemas.microsoft.com/office/drawing/2014/main" id="{3B32F239-F468-CD43-D302-6F287958E7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6865" y="1487943"/>
            <a:ext cx="8334375" cy="25717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E6DF25F-9D9C-A5BA-C34D-C5B739E5C680}"/>
              </a:ext>
            </a:extLst>
          </p:cNvPr>
          <p:cNvSpPr txBox="1"/>
          <p:nvPr/>
        </p:nvSpPr>
        <p:spPr>
          <a:xfrm>
            <a:off x="816078" y="4706024"/>
            <a:ext cx="10618838" cy="1754326"/>
          </a:xfrm>
          <a:prstGeom prst="rect">
            <a:avLst/>
          </a:prstGeom>
          <a:noFill/>
        </p:spPr>
        <p:txBody>
          <a:bodyPr wrap="square">
            <a:spAutoFit/>
          </a:bodyPr>
          <a:lstStyle/>
          <a:p>
            <a:r>
              <a:rPr lang="en-US" b="0" i="0" dirty="0">
                <a:solidFill>
                  <a:srgbClr val="242424"/>
                </a:solidFill>
                <a:effectLst/>
                <a:latin typeface="source-serif-pro"/>
              </a:rPr>
              <a:t>This cell state is responsible for remembering and forgetting. This is based on the context of the input. This means that some of the previous information should be remembered while some of them should be forgotten and some of the new information should be added to the memory. The first operation (</a:t>
            </a:r>
            <a:r>
              <a:rPr lang="en-US" b="1" i="0" dirty="0">
                <a:solidFill>
                  <a:srgbClr val="242424"/>
                </a:solidFill>
                <a:effectLst/>
                <a:latin typeface="source-serif-pro"/>
              </a:rPr>
              <a:t>X</a:t>
            </a:r>
            <a:r>
              <a:rPr lang="en-US" b="0" i="0" dirty="0">
                <a:solidFill>
                  <a:srgbClr val="242424"/>
                </a:solidFill>
                <a:effectLst/>
                <a:latin typeface="source-serif-pro"/>
              </a:rPr>
              <a:t>) is the pointwise operation which is nothing but multiplying the cell state by an array of [-1, 0, 1]. The information multiplied by 0 will be forgotten by the LSTM. Another operation is (</a:t>
            </a:r>
            <a:r>
              <a:rPr lang="en-US" b="1" i="0" dirty="0">
                <a:solidFill>
                  <a:srgbClr val="242424"/>
                </a:solidFill>
                <a:effectLst/>
                <a:latin typeface="source-serif-pro"/>
              </a:rPr>
              <a:t>+</a:t>
            </a:r>
            <a:r>
              <a:rPr lang="en-US" b="0" i="0" dirty="0">
                <a:solidFill>
                  <a:srgbClr val="242424"/>
                </a:solidFill>
                <a:effectLst/>
                <a:latin typeface="source-serif-pro"/>
              </a:rPr>
              <a:t>) which is responsible to add some new information to the state.</a:t>
            </a:r>
            <a:endParaRPr lang="en-IN" dirty="0"/>
          </a:p>
        </p:txBody>
      </p:sp>
    </p:spTree>
    <p:extLst>
      <p:ext uri="{BB962C8B-B14F-4D97-AF65-F5344CB8AC3E}">
        <p14:creationId xmlns:p14="http://schemas.microsoft.com/office/powerpoint/2010/main" val="2057930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7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3C232E-5423-B54C-76C0-FA198F93BD5B}"/>
              </a:ext>
            </a:extLst>
          </p:cNvPr>
          <p:cNvSpPr txBox="1"/>
          <p:nvPr/>
        </p:nvSpPr>
        <p:spPr>
          <a:xfrm>
            <a:off x="875071" y="564402"/>
            <a:ext cx="6096000" cy="326371"/>
          </a:xfrm>
          <a:prstGeom prst="rect">
            <a:avLst/>
          </a:prstGeom>
          <a:noFill/>
        </p:spPr>
        <p:txBody>
          <a:bodyPr wrap="square">
            <a:spAutoFit/>
          </a:bodyPr>
          <a:lstStyle/>
          <a:p>
            <a:pPr algn="l">
              <a:lnSpc>
                <a:spcPts val="1800"/>
              </a:lnSpc>
              <a:buNone/>
            </a:pPr>
            <a:r>
              <a:rPr lang="en-IN" b="1" i="0" dirty="0">
                <a:solidFill>
                  <a:srgbClr val="242424"/>
                </a:solidFill>
                <a:effectLst/>
                <a:latin typeface="sohne"/>
              </a:rPr>
              <a:t>2. Forget Gate</a:t>
            </a:r>
          </a:p>
        </p:txBody>
      </p:sp>
      <p:sp>
        <p:nvSpPr>
          <p:cNvPr id="5" name="TextBox 4">
            <a:extLst>
              <a:ext uri="{FF2B5EF4-FFF2-40B4-BE49-F238E27FC236}">
                <a16:creationId xmlns:a16="http://schemas.microsoft.com/office/drawing/2014/main" id="{B426C929-5861-AFA5-27C4-730E11B6E2DE}"/>
              </a:ext>
            </a:extLst>
          </p:cNvPr>
          <p:cNvSpPr txBox="1"/>
          <p:nvPr/>
        </p:nvSpPr>
        <p:spPr>
          <a:xfrm>
            <a:off x="875071" y="1002494"/>
            <a:ext cx="6096000" cy="1200329"/>
          </a:xfrm>
          <a:prstGeom prst="rect">
            <a:avLst/>
          </a:prstGeom>
          <a:noFill/>
        </p:spPr>
        <p:txBody>
          <a:bodyPr wrap="square">
            <a:spAutoFit/>
          </a:bodyPr>
          <a:lstStyle/>
          <a:p>
            <a:r>
              <a:rPr lang="en-US" b="0" i="0" dirty="0">
                <a:solidFill>
                  <a:srgbClr val="242424"/>
                </a:solidFill>
                <a:effectLst/>
                <a:latin typeface="source-serif-pro"/>
              </a:rPr>
              <a:t>The forget LSTM gate, as the name suggests, decides what information should be forgotten. A sigmoid layer is used to make this decision. This sigmoid layer is called the “forget gate layer”.</a:t>
            </a:r>
            <a:endParaRPr lang="en-IN" dirty="0"/>
          </a:p>
        </p:txBody>
      </p:sp>
      <p:pic>
        <p:nvPicPr>
          <p:cNvPr id="33794" name="Picture 2">
            <a:extLst>
              <a:ext uri="{FF2B5EF4-FFF2-40B4-BE49-F238E27FC236}">
                <a16:creationId xmlns:a16="http://schemas.microsoft.com/office/drawing/2014/main" id="{739FBBC9-05CD-805D-52B7-EE68283C5C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8813" y="2143125"/>
            <a:ext cx="8334375" cy="25717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0A264B5-58C8-8054-7FBB-7E05023F7331}"/>
              </a:ext>
            </a:extLst>
          </p:cNvPr>
          <p:cNvSpPr txBox="1"/>
          <p:nvPr/>
        </p:nvSpPr>
        <p:spPr>
          <a:xfrm>
            <a:off x="875071" y="5466339"/>
            <a:ext cx="10225548" cy="923330"/>
          </a:xfrm>
          <a:prstGeom prst="rect">
            <a:avLst/>
          </a:prstGeom>
          <a:noFill/>
        </p:spPr>
        <p:txBody>
          <a:bodyPr wrap="square">
            <a:spAutoFit/>
          </a:bodyPr>
          <a:lstStyle/>
          <a:p>
            <a:r>
              <a:rPr lang="en-US" b="0" i="0" dirty="0">
                <a:solidFill>
                  <a:srgbClr val="242424"/>
                </a:solidFill>
                <a:effectLst/>
                <a:latin typeface="source-serif-pro"/>
              </a:rPr>
              <a:t>It does a dot product of </a:t>
            </a:r>
            <a:r>
              <a:rPr lang="en-US" b="1" i="1" dirty="0">
                <a:solidFill>
                  <a:srgbClr val="242424"/>
                </a:solidFill>
                <a:effectLst/>
                <a:latin typeface="source-serif-pro"/>
              </a:rPr>
              <a:t>h(t-1)</a:t>
            </a:r>
            <a:r>
              <a:rPr lang="en-US" b="0" i="0" dirty="0">
                <a:solidFill>
                  <a:srgbClr val="242424"/>
                </a:solidFill>
                <a:effectLst/>
                <a:latin typeface="source-serif-pro"/>
              </a:rPr>
              <a:t> and </a:t>
            </a:r>
            <a:r>
              <a:rPr lang="en-US" b="1" i="1" dirty="0">
                <a:solidFill>
                  <a:srgbClr val="242424"/>
                </a:solidFill>
                <a:effectLst/>
                <a:latin typeface="source-serif-pro"/>
              </a:rPr>
              <a:t>x(t)</a:t>
            </a:r>
            <a:r>
              <a:rPr lang="en-US" b="0" i="0" dirty="0">
                <a:solidFill>
                  <a:srgbClr val="242424"/>
                </a:solidFill>
                <a:effectLst/>
                <a:latin typeface="source-serif-pro"/>
              </a:rPr>
              <a:t> and with the help of the sigmoid layer, outputs a number between 0 and 1 for each number in the cell state </a:t>
            </a:r>
            <a:r>
              <a:rPr lang="en-US" b="1" i="1" dirty="0">
                <a:solidFill>
                  <a:srgbClr val="242424"/>
                </a:solidFill>
                <a:effectLst/>
                <a:latin typeface="source-serif-pro"/>
              </a:rPr>
              <a:t>C(t-1)</a:t>
            </a:r>
            <a:r>
              <a:rPr lang="en-US" b="0" i="0" dirty="0">
                <a:solidFill>
                  <a:srgbClr val="242424"/>
                </a:solidFill>
                <a:effectLst/>
                <a:latin typeface="source-serif-pro"/>
              </a:rPr>
              <a:t>. If the output is a ‘1’, it means we will keep it. A ‘0’ means to forget it completely.</a:t>
            </a:r>
            <a:endParaRPr lang="en-IN" dirty="0"/>
          </a:p>
        </p:txBody>
      </p:sp>
    </p:spTree>
    <p:extLst>
      <p:ext uri="{BB962C8B-B14F-4D97-AF65-F5344CB8AC3E}">
        <p14:creationId xmlns:p14="http://schemas.microsoft.com/office/powerpoint/2010/main" val="3522617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79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FA24DB-BAA9-EA3E-3312-A3AA3BA48810}"/>
              </a:ext>
            </a:extLst>
          </p:cNvPr>
          <p:cNvSpPr txBox="1"/>
          <p:nvPr/>
        </p:nvSpPr>
        <p:spPr>
          <a:xfrm>
            <a:off x="865238" y="554569"/>
            <a:ext cx="6096000" cy="326371"/>
          </a:xfrm>
          <a:prstGeom prst="rect">
            <a:avLst/>
          </a:prstGeom>
          <a:noFill/>
        </p:spPr>
        <p:txBody>
          <a:bodyPr wrap="square">
            <a:spAutoFit/>
          </a:bodyPr>
          <a:lstStyle/>
          <a:p>
            <a:pPr algn="l">
              <a:lnSpc>
                <a:spcPts val="1800"/>
              </a:lnSpc>
              <a:buNone/>
            </a:pPr>
            <a:r>
              <a:rPr lang="en-IN" b="1" i="0" dirty="0">
                <a:solidFill>
                  <a:srgbClr val="242424"/>
                </a:solidFill>
                <a:effectLst/>
                <a:latin typeface="sohne"/>
              </a:rPr>
              <a:t>3. Input gate</a:t>
            </a:r>
          </a:p>
        </p:txBody>
      </p:sp>
      <p:sp>
        <p:nvSpPr>
          <p:cNvPr id="5" name="TextBox 4">
            <a:extLst>
              <a:ext uri="{FF2B5EF4-FFF2-40B4-BE49-F238E27FC236}">
                <a16:creationId xmlns:a16="http://schemas.microsoft.com/office/drawing/2014/main" id="{AE8754E2-FF84-9B2D-83D1-78465797A866}"/>
              </a:ext>
            </a:extLst>
          </p:cNvPr>
          <p:cNvSpPr txBox="1"/>
          <p:nvPr/>
        </p:nvSpPr>
        <p:spPr>
          <a:xfrm>
            <a:off x="865238" y="955028"/>
            <a:ext cx="4955459" cy="923330"/>
          </a:xfrm>
          <a:prstGeom prst="rect">
            <a:avLst/>
          </a:prstGeom>
          <a:noFill/>
        </p:spPr>
        <p:txBody>
          <a:bodyPr wrap="square">
            <a:spAutoFit/>
          </a:bodyPr>
          <a:lstStyle/>
          <a:p>
            <a:r>
              <a:rPr lang="en-US" b="0" i="0" dirty="0">
                <a:solidFill>
                  <a:srgbClr val="242424"/>
                </a:solidFill>
                <a:effectLst/>
                <a:latin typeface="source-serif-pro"/>
              </a:rPr>
              <a:t>The input gate gives new information to the LSTM and decides if that new information is going to be stored in the cell state.</a:t>
            </a:r>
            <a:endParaRPr lang="en-IN" dirty="0"/>
          </a:p>
        </p:txBody>
      </p:sp>
      <p:pic>
        <p:nvPicPr>
          <p:cNvPr id="34818" name="Picture 2">
            <a:extLst>
              <a:ext uri="{FF2B5EF4-FFF2-40B4-BE49-F238E27FC236}">
                <a16:creationId xmlns:a16="http://schemas.microsoft.com/office/drawing/2014/main" id="{DABEE2D5-1235-4C8D-13F4-58A10774E1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3548" y="0"/>
            <a:ext cx="6538452" cy="253341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E6DD89E-4A69-1F7A-6E51-D32620C2EB38}"/>
              </a:ext>
            </a:extLst>
          </p:cNvPr>
          <p:cNvSpPr txBox="1"/>
          <p:nvPr/>
        </p:nvSpPr>
        <p:spPr>
          <a:xfrm>
            <a:off x="865238" y="2164081"/>
            <a:ext cx="6096000" cy="369332"/>
          </a:xfrm>
          <a:prstGeom prst="rect">
            <a:avLst/>
          </a:prstGeom>
          <a:noFill/>
        </p:spPr>
        <p:txBody>
          <a:bodyPr wrap="square">
            <a:spAutoFit/>
          </a:bodyPr>
          <a:lstStyle/>
          <a:p>
            <a:r>
              <a:rPr lang="en-IN" b="0" i="0" dirty="0">
                <a:solidFill>
                  <a:srgbClr val="242424"/>
                </a:solidFill>
                <a:effectLst/>
                <a:latin typeface="source-serif-pro"/>
              </a:rPr>
              <a:t>This has 3 parts:</a:t>
            </a:r>
            <a:endParaRPr lang="en-IN" dirty="0"/>
          </a:p>
        </p:txBody>
      </p:sp>
      <p:sp>
        <p:nvSpPr>
          <p:cNvPr id="9" name="TextBox 8">
            <a:extLst>
              <a:ext uri="{FF2B5EF4-FFF2-40B4-BE49-F238E27FC236}">
                <a16:creationId xmlns:a16="http://schemas.microsoft.com/office/drawing/2014/main" id="{DCB01FCB-4BE2-29C8-AC4D-7B5EC8F376CA}"/>
              </a:ext>
            </a:extLst>
          </p:cNvPr>
          <p:cNvSpPr txBox="1"/>
          <p:nvPr/>
        </p:nvSpPr>
        <p:spPr>
          <a:xfrm>
            <a:off x="865238" y="2827665"/>
            <a:ext cx="5506065" cy="691856"/>
          </a:xfrm>
          <a:prstGeom prst="rect">
            <a:avLst/>
          </a:prstGeom>
          <a:noFill/>
        </p:spPr>
        <p:txBody>
          <a:bodyPr wrap="square">
            <a:spAutoFit/>
          </a:bodyPr>
          <a:lstStyle/>
          <a:p>
            <a:pPr algn="l">
              <a:lnSpc>
                <a:spcPts val="2400"/>
              </a:lnSpc>
              <a:buFont typeface="+mj-lt"/>
              <a:buAutoNum type="arabicPeriod"/>
            </a:pPr>
            <a:r>
              <a:rPr lang="en-US" b="0" i="0" dirty="0">
                <a:solidFill>
                  <a:srgbClr val="242424"/>
                </a:solidFill>
                <a:effectLst/>
                <a:latin typeface="source-serif-pro"/>
              </a:rPr>
              <a:t> A </a:t>
            </a:r>
            <a:r>
              <a:rPr lang="en-US" b="1" i="1" dirty="0">
                <a:solidFill>
                  <a:srgbClr val="242424"/>
                </a:solidFill>
                <a:effectLst/>
                <a:latin typeface="source-serif-pro"/>
              </a:rPr>
              <a:t>sigmoid </a:t>
            </a:r>
            <a:r>
              <a:rPr lang="en-US" b="0" i="0" dirty="0">
                <a:solidFill>
                  <a:srgbClr val="242424"/>
                </a:solidFill>
                <a:effectLst/>
                <a:latin typeface="source-serif-pro"/>
              </a:rPr>
              <a:t>layer decides the values to be updated. This layer is called the “input gate layer”</a:t>
            </a:r>
          </a:p>
        </p:txBody>
      </p:sp>
      <p:sp>
        <p:nvSpPr>
          <p:cNvPr id="11" name="TextBox 10">
            <a:extLst>
              <a:ext uri="{FF2B5EF4-FFF2-40B4-BE49-F238E27FC236}">
                <a16:creationId xmlns:a16="http://schemas.microsoft.com/office/drawing/2014/main" id="{BEA1A2AA-B5AD-3FCB-2749-5D348F2520C8}"/>
              </a:ext>
            </a:extLst>
          </p:cNvPr>
          <p:cNvSpPr txBox="1"/>
          <p:nvPr/>
        </p:nvSpPr>
        <p:spPr>
          <a:xfrm>
            <a:off x="865238" y="3811972"/>
            <a:ext cx="6096000" cy="691856"/>
          </a:xfrm>
          <a:prstGeom prst="rect">
            <a:avLst/>
          </a:prstGeom>
          <a:noFill/>
        </p:spPr>
        <p:txBody>
          <a:bodyPr wrap="square">
            <a:spAutoFit/>
          </a:bodyPr>
          <a:lstStyle/>
          <a:p>
            <a:pPr algn="l">
              <a:lnSpc>
                <a:spcPts val="2400"/>
              </a:lnSpc>
            </a:pPr>
            <a:r>
              <a:rPr lang="en-US" b="0" i="0" dirty="0">
                <a:solidFill>
                  <a:srgbClr val="242424"/>
                </a:solidFill>
                <a:effectLst/>
                <a:latin typeface="source-serif-pro"/>
              </a:rPr>
              <a:t>2. A </a:t>
            </a:r>
            <a:r>
              <a:rPr lang="en-US" b="1" i="1" dirty="0">
                <a:solidFill>
                  <a:srgbClr val="242424"/>
                </a:solidFill>
                <a:effectLst/>
                <a:latin typeface="source-serif-pro"/>
              </a:rPr>
              <a:t>tanh </a:t>
            </a:r>
            <a:r>
              <a:rPr lang="en-US" b="0" i="0" dirty="0">
                <a:solidFill>
                  <a:srgbClr val="242424"/>
                </a:solidFill>
                <a:effectLst/>
                <a:latin typeface="source-serif-pro"/>
              </a:rPr>
              <a:t>activation function layer creates a vector of new candidate values, </a:t>
            </a:r>
            <a:r>
              <a:rPr lang="en-US" b="1" i="1" dirty="0">
                <a:solidFill>
                  <a:srgbClr val="242424"/>
                </a:solidFill>
                <a:effectLst/>
                <a:latin typeface="source-serif-pro"/>
              </a:rPr>
              <a:t>Č(t)</a:t>
            </a:r>
            <a:r>
              <a:rPr lang="en-US" b="0" i="0" dirty="0">
                <a:solidFill>
                  <a:srgbClr val="242424"/>
                </a:solidFill>
                <a:effectLst/>
                <a:latin typeface="source-serif-pro"/>
              </a:rPr>
              <a:t>, that could be added to the state.</a:t>
            </a:r>
          </a:p>
        </p:txBody>
      </p:sp>
      <p:sp>
        <p:nvSpPr>
          <p:cNvPr id="13" name="TextBox 12">
            <a:extLst>
              <a:ext uri="{FF2B5EF4-FFF2-40B4-BE49-F238E27FC236}">
                <a16:creationId xmlns:a16="http://schemas.microsoft.com/office/drawing/2014/main" id="{C7029695-0ED8-3233-18A9-6CF2042C4367}"/>
              </a:ext>
            </a:extLst>
          </p:cNvPr>
          <p:cNvSpPr txBox="1"/>
          <p:nvPr/>
        </p:nvSpPr>
        <p:spPr>
          <a:xfrm>
            <a:off x="865238" y="4906361"/>
            <a:ext cx="5506065" cy="691856"/>
          </a:xfrm>
          <a:prstGeom prst="rect">
            <a:avLst/>
          </a:prstGeom>
          <a:noFill/>
        </p:spPr>
        <p:txBody>
          <a:bodyPr wrap="square">
            <a:spAutoFit/>
          </a:bodyPr>
          <a:lstStyle/>
          <a:p>
            <a:pPr algn="l">
              <a:lnSpc>
                <a:spcPts val="2400"/>
              </a:lnSpc>
            </a:pPr>
            <a:r>
              <a:rPr lang="en-US" b="0" i="0" dirty="0">
                <a:solidFill>
                  <a:srgbClr val="242424"/>
                </a:solidFill>
                <a:effectLst/>
                <a:latin typeface="source-serif-pro"/>
              </a:rPr>
              <a:t>3. Then we combine these 2 outputs, </a:t>
            </a:r>
            <a:r>
              <a:rPr lang="en-US" b="1" i="1" dirty="0" err="1">
                <a:solidFill>
                  <a:srgbClr val="242424"/>
                </a:solidFill>
                <a:effectLst/>
                <a:latin typeface="source-serif-pro"/>
              </a:rPr>
              <a:t>i</a:t>
            </a:r>
            <a:r>
              <a:rPr lang="en-US" b="1" i="1" dirty="0">
                <a:solidFill>
                  <a:srgbClr val="242424"/>
                </a:solidFill>
                <a:effectLst/>
                <a:latin typeface="source-serif-pro"/>
              </a:rPr>
              <a:t>(t) * Č(t),</a:t>
            </a:r>
            <a:r>
              <a:rPr lang="en-US" b="0" i="0" dirty="0">
                <a:solidFill>
                  <a:srgbClr val="242424"/>
                </a:solidFill>
                <a:effectLst/>
                <a:latin typeface="source-serif-pro"/>
              </a:rPr>
              <a:t> and update the cell state.</a:t>
            </a:r>
          </a:p>
        </p:txBody>
      </p:sp>
      <p:pic>
        <p:nvPicPr>
          <p:cNvPr id="34820" name="Picture 4">
            <a:extLst>
              <a:ext uri="{FF2B5EF4-FFF2-40B4-BE49-F238E27FC236}">
                <a16:creationId xmlns:a16="http://schemas.microsoft.com/office/drawing/2014/main" id="{D319D99B-AC8C-8F33-CB94-CC2DD3E8FD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429000"/>
            <a:ext cx="6243484" cy="2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198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8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48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P spid="9" grpId="0"/>
      <p:bldP spid="11" grpId="0"/>
      <p:bldP spid="13"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029E4D-C201-BA31-41B7-58D3E726A13F}"/>
              </a:ext>
            </a:extLst>
          </p:cNvPr>
          <p:cNvSpPr txBox="1"/>
          <p:nvPr/>
        </p:nvSpPr>
        <p:spPr>
          <a:xfrm>
            <a:off x="698091" y="416918"/>
            <a:ext cx="6096000" cy="326371"/>
          </a:xfrm>
          <a:prstGeom prst="rect">
            <a:avLst/>
          </a:prstGeom>
          <a:noFill/>
        </p:spPr>
        <p:txBody>
          <a:bodyPr wrap="square">
            <a:spAutoFit/>
          </a:bodyPr>
          <a:lstStyle/>
          <a:p>
            <a:pPr algn="l">
              <a:lnSpc>
                <a:spcPts val="1800"/>
              </a:lnSpc>
              <a:buNone/>
            </a:pPr>
            <a:r>
              <a:rPr lang="en-IN" b="1" i="0" dirty="0">
                <a:solidFill>
                  <a:srgbClr val="242424"/>
                </a:solidFill>
                <a:effectLst/>
                <a:latin typeface="sohne"/>
              </a:rPr>
              <a:t>4. Output gate</a:t>
            </a:r>
          </a:p>
        </p:txBody>
      </p:sp>
      <p:sp>
        <p:nvSpPr>
          <p:cNvPr id="5" name="TextBox 4">
            <a:extLst>
              <a:ext uri="{FF2B5EF4-FFF2-40B4-BE49-F238E27FC236}">
                <a16:creationId xmlns:a16="http://schemas.microsoft.com/office/drawing/2014/main" id="{3A51CFDB-EE11-34C8-8088-71F5F4AEA092}"/>
              </a:ext>
            </a:extLst>
          </p:cNvPr>
          <p:cNvSpPr txBox="1"/>
          <p:nvPr/>
        </p:nvSpPr>
        <p:spPr>
          <a:xfrm>
            <a:off x="698091" y="1014870"/>
            <a:ext cx="6096000" cy="369332"/>
          </a:xfrm>
          <a:prstGeom prst="rect">
            <a:avLst/>
          </a:prstGeom>
          <a:noFill/>
        </p:spPr>
        <p:txBody>
          <a:bodyPr wrap="square">
            <a:spAutoFit/>
          </a:bodyPr>
          <a:lstStyle/>
          <a:p>
            <a:r>
              <a:rPr lang="en-US" b="0" i="0" dirty="0">
                <a:solidFill>
                  <a:srgbClr val="242424"/>
                </a:solidFill>
                <a:effectLst/>
                <a:latin typeface="source-serif-pro"/>
              </a:rPr>
              <a:t>The output of the LSTM unit depends on the new cell state.</a:t>
            </a:r>
            <a:endParaRPr lang="en-IN" dirty="0"/>
          </a:p>
        </p:txBody>
      </p:sp>
      <p:pic>
        <p:nvPicPr>
          <p:cNvPr id="35842" name="Picture 2">
            <a:extLst>
              <a:ext uri="{FF2B5EF4-FFF2-40B4-BE49-F238E27FC236}">
                <a16:creationId xmlns:a16="http://schemas.microsoft.com/office/drawing/2014/main" id="{A583EB97-C0D1-8216-9FA5-0B8572D991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336" y="1384202"/>
            <a:ext cx="8334375" cy="25717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7711D50-D8A7-B239-0D92-E70152F2DE76}"/>
              </a:ext>
            </a:extLst>
          </p:cNvPr>
          <p:cNvSpPr txBox="1"/>
          <p:nvPr/>
        </p:nvSpPr>
        <p:spPr>
          <a:xfrm>
            <a:off x="698091" y="4964894"/>
            <a:ext cx="10815483" cy="646331"/>
          </a:xfrm>
          <a:prstGeom prst="rect">
            <a:avLst/>
          </a:prstGeom>
          <a:noFill/>
        </p:spPr>
        <p:txBody>
          <a:bodyPr wrap="square">
            <a:spAutoFit/>
          </a:bodyPr>
          <a:lstStyle/>
          <a:p>
            <a:r>
              <a:rPr lang="en-US" b="0" i="0" dirty="0">
                <a:solidFill>
                  <a:srgbClr val="242424"/>
                </a:solidFill>
                <a:effectLst/>
                <a:latin typeface="source-serif-pro"/>
              </a:rPr>
              <a:t>First, a sigmoid layer decides what parts of the cell state we’re going to output. Then, a </a:t>
            </a:r>
            <a:r>
              <a:rPr lang="en-US" b="1" i="1" dirty="0">
                <a:solidFill>
                  <a:srgbClr val="242424"/>
                </a:solidFill>
                <a:effectLst/>
                <a:latin typeface="source-serif-pro"/>
              </a:rPr>
              <a:t>tanh </a:t>
            </a:r>
            <a:r>
              <a:rPr lang="en-US" b="0" i="0" dirty="0">
                <a:solidFill>
                  <a:srgbClr val="242424"/>
                </a:solidFill>
                <a:effectLst/>
                <a:latin typeface="source-serif-pro"/>
              </a:rPr>
              <a:t>layer is used on the cell state to squash the values between -1 and 1, which is finally multiplied by the sigmoid gate output.</a:t>
            </a:r>
            <a:endParaRPr lang="en-IN" dirty="0"/>
          </a:p>
        </p:txBody>
      </p:sp>
    </p:spTree>
    <p:extLst>
      <p:ext uri="{BB962C8B-B14F-4D97-AF65-F5344CB8AC3E}">
        <p14:creationId xmlns:p14="http://schemas.microsoft.com/office/powerpoint/2010/main" val="867167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8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AA5B5-94CB-F967-B04A-43DE9F7FAE19}"/>
              </a:ext>
            </a:extLst>
          </p:cNvPr>
          <p:cNvSpPr>
            <a:spLocks noGrp="1"/>
          </p:cNvSpPr>
          <p:nvPr>
            <p:ph type="title"/>
          </p:nvPr>
        </p:nvSpPr>
        <p:spPr>
          <a:xfrm>
            <a:off x="838200" y="18255"/>
            <a:ext cx="10515600" cy="1325563"/>
          </a:xfrm>
        </p:spPr>
        <p:txBody>
          <a:bodyPr/>
          <a:lstStyle/>
          <a:p>
            <a:r>
              <a:rPr lang="en-IN" b="1" dirty="0"/>
              <a:t>LSTM Visualization</a:t>
            </a:r>
            <a:endParaRPr lang="en-IN" dirty="0"/>
          </a:p>
        </p:txBody>
      </p:sp>
      <p:pic>
        <p:nvPicPr>
          <p:cNvPr id="36866" name="Picture 2">
            <a:extLst>
              <a:ext uri="{FF2B5EF4-FFF2-40B4-BE49-F238E27FC236}">
                <a16:creationId xmlns:a16="http://schemas.microsoft.com/office/drawing/2014/main" id="{7DC82974-4471-D010-FCBF-381FEF8158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6567" y="1111046"/>
            <a:ext cx="8858865" cy="5633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4156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B0A8A-ACD0-7682-A89F-FB59D1586868}"/>
              </a:ext>
            </a:extLst>
          </p:cNvPr>
          <p:cNvSpPr>
            <a:spLocks noGrp="1"/>
          </p:cNvSpPr>
          <p:nvPr>
            <p:ph type="title"/>
          </p:nvPr>
        </p:nvSpPr>
        <p:spPr/>
        <p:txBody>
          <a:bodyPr/>
          <a:lstStyle/>
          <a:p>
            <a:r>
              <a:rPr lang="en-US" dirty="0"/>
              <a:t>Training</a:t>
            </a:r>
            <a:endParaRPr lang="en-IN" dirty="0"/>
          </a:p>
        </p:txBody>
      </p:sp>
      <p:sp>
        <p:nvSpPr>
          <p:cNvPr id="4" name="TextBox 3">
            <a:extLst>
              <a:ext uri="{FF2B5EF4-FFF2-40B4-BE49-F238E27FC236}">
                <a16:creationId xmlns:a16="http://schemas.microsoft.com/office/drawing/2014/main" id="{540DDDB7-E169-0EAF-AE36-8BF1660FFEDA}"/>
              </a:ext>
            </a:extLst>
          </p:cNvPr>
          <p:cNvSpPr txBox="1"/>
          <p:nvPr/>
        </p:nvSpPr>
        <p:spPr>
          <a:xfrm>
            <a:off x="757084" y="1530211"/>
            <a:ext cx="4542503" cy="369332"/>
          </a:xfrm>
          <a:prstGeom prst="rect">
            <a:avLst/>
          </a:prstGeom>
          <a:noFill/>
        </p:spPr>
        <p:txBody>
          <a:bodyPr wrap="square" rtlCol="0">
            <a:spAutoFit/>
          </a:bodyPr>
          <a:lstStyle/>
          <a:p>
            <a:r>
              <a:rPr lang="en-US" dirty="0"/>
              <a:t>The training process of LSTM is similar to RNNs</a:t>
            </a:r>
            <a:endParaRPr lang="en-IN" dirty="0"/>
          </a:p>
        </p:txBody>
      </p:sp>
    </p:spTree>
    <p:extLst>
      <p:ext uri="{BB962C8B-B14F-4D97-AF65-F5344CB8AC3E}">
        <p14:creationId xmlns:p14="http://schemas.microsoft.com/office/powerpoint/2010/main" val="2545686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DC20F-9D36-35B1-5221-577F2BD4FB24}"/>
              </a:ext>
            </a:extLst>
          </p:cNvPr>
          <p:cNvSpPr>
            <a:spLocks noGrp="1"/>
          </p:cNvSpPr>
          <p:nvPr>
            <p:ph type="title"/>
          </p:nvPr>
        </p:nvSpPr>
        <p:spPr>
          <a:xfrm>
            <a:off x="838200" y="0"/>
            <a:ext cx="10515600" cy="1325563"/>
          </a:xfrm>
        </p:spPr>
        <p:txBody>
          <a:bodyPr/>
          <a:lstStyle/>
          <a:p>
            <a:r>
              <a:rPr lang="en-US" dirty="0"/>
              <a:t>Applications</a:t>
            </a:r>
            <a:endParaRPr lang="en-IN" dirty="0"/>
          </a:p>
        </p:txBody>
      </p:sp>
      <p:sp>
        <p:nvSpPr>
          <p:cNvPr id="5" name="TextBox 4">
            <a:extLst>
              <a:ext uri="{FF2B5EF4-FFF2-40B4-BE49-F238E27FC236}">
                <a16:creationId xmlns:a16="http://schemas.microsoft.com/office/drawing/2014/main" id="{6222058B-7FDE-7AAF-3228-03D9337D2F8A}"/>
              </a:ext>
            </a:extLst>
          </p:cNvPr>
          <p:cNvSpPr txBox="1"/>
          <p:nvPr/>
        </p:nvSpPr>
        <p:spPr>
          <a:xfrm>
            <a:off x="838200" y="1199075"/>
            <a:ext cx="10515600" cy="923330"/>
          </a:xfrm>
          <a:prstGeom prst="rect">
            <a:avLst/>
          </a:prstGeom>
          <a:noFill/>
        </p:spPr>
        <p:txBody>
          <a:bodyPr wrap="square">
            <a:spAutoFit/>
          </a:bodyPr>
          <a:lstStyle/>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Language Modeling</a:t>
            </a:r>
            <a:r>
              <a:rPr lang="en-US" b="0" i="0" dirty="0">
                <a:solidFill>
                  <a:srgbClr val="273239"/>
                </a:solidFill>
                <a:effectLst/>
                <a:latin typeface="Nunito" pitchFamily="2" charset="0"/>
              </a:rPr>
              <a:t>: Used in tasks like machine translation and text summarization. RNNs learn dependencies between words in a sequence, helping generate grammatically correct and meaningful sentences.</a:t>
            </a:r>
          </a:p>
        </p:txBody>
      </p:sp>
      <p:sp>
        <p:nvSpPr>
          <p:cNvPr id="7" name="TextBox 6">
            <a:extLst>
              <a:ext uri="{FF2B5EF4-FFF2-40B4-BE49-F238E27FC236}">
                <a16:creationId xmlns:a16="http://schemas.microsoft.com/office/drawing/2014/main" id="{CE95F65E-A317-0622-5F15-58F5319E32E9}"/>
              </a:ext>
            </a:extLst>
          </p:cNvPr>
          <p:cNvSpPr txBox="1"/>
          <p:nvPr/>
        </p:nvSpPr>
        <p:spPr>
          <a:xfrm>
            <a:off x="838200" y="2228671"/>
            <a:ext cx="10515600" cy="646331"/>
          </a:xfrm>
          <a:prstGeom prst="rect">
            <a:avLst/>
          </a:prstGeom>
          <a:noFill/>
        </p:spPr>
        <p:txBody>
          <a:bodyPr wrap="square">
            <a:spAutoFit/>
          </a:bodyPr>
          <a:lstStyle/>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Speech Recognition</a:t>
            </a:r>
            <a:r>
              <a:rPr lang="en-US" b="0" i="0" dirty="0">
                <a:solidFill>
                  <a:srgbClr val="273239"/>
                </a:solidFill>
                <a:effectLst/>
                <a:latin typeface="Nunito" pitchFamily="2" charset="0"/>
              </a:rPr>
              <a:t>: Used to convert spoken language into text. By learning temporal patterns in audio signals, RNNs can recognize words and map them accurately to text.</a:t>
            </a:r>
          </a:p>
        </p:txBody>
      </p:sp>
      <p:sp>
        <p:nvSpPr>
          <p:cNvPr id="9" name="TextBox 8">
            <a:extLst>
              <a:ext uri="{FF2B5EF4-FFF2-40B4-BE49-F238E27FC236}">
                <a16:creationId xmlns:a16="http://schemas.microsoft.com/office/drawing/2014/main" id="{33E929AD-FB28-ABD5-4872-5F11BA470EAA}"/>
              </a:ext>
            </a:extLst>
          </p:cNvPr>
          <p:cNvSpPr txBox="1"/>
          <p:nvPr/>
        </p:nvSpPr>
        <p:spPr>
          <a:xfrm>
            <a:off x="838200" y="3059669"/>
            <a:ext cx="10515600" cy="646331"/>
          </a:xfrm>
          <a:prstGeom prst="rect">
            <a:avLst/>
          </a:prstGeom>
          <a:noFill/>
        </p:spPr>
        <p:txBody>
          <a:bodyPr wrap="square">
            <a:spAutoFit/>
          </a:bodyPr>
          <a:lstStyle/>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Time Series Forecasting</a:t>
            </a:r>
            <a:r>
              <a:rPr lang="en-US" b="0" i="0" dirty="0">
                <a:solidFill>
                  <a:srgbClr val="273239"/>
                </a:solidFill>
                <a:effectLst/>
                <a:latin typeface="Nunito" pitchFamily="2" charset="0"/>
              </a:rPr>
              <a:t>: Used for predicting stock prices, weather and energy consumption. They learn patterns in time series data to predict future events.</a:t>
            </a:r>
          </a:p>
        </p:txBody>
      </p:sp>
      <p:sp>
        <p:nvSpPr>
          <p:cNvPr id="11" name="TextBox 10">
            <a:extLst>
              <a:ext uri="{FF2B5EF4-FFF2-40B4-BE49-F238E27FC236}">
                <a16:creationId xmlns:a16="http://schemas.microsoft.com/office/drawing/2014/main" id="{C5ABEB25-323D-616A-479A-40007D60151C}"/>
              </a:ext>
            </a:extLst>
          </p:cNvPr>
          <p:cNvSpPr txBox="1"/>
          <p:nvPr/>
        </p:nvSpPr>
        <p:spPr>
          <a:xfrm>
            <a:off x="838200" y="3890667"/>
            <a:ext cx="10515600" cy="646331"/>
          </a:xfrm>
          <a:prstGeom prst="rect">
            <a:avLst/>
          </a:prstGeom>
          <a:noFill/>
        </p:spPr>
        <p:txBody>
          <a:bodyPr wrap="square">
            <a:spAutoFit/>
          </a:bodyPr>
          <a:lstStyle/>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Anomaly Detection</a:t>
            </a:r>
            <a:r>
              <a:rPr lang="en-US" b="0" i="0" dirty="0">
                <a:solidFill>
                  <a:srgbClr val="273239"/>
                </a:solidFill>
                <a:effectLst/>
                <a:latin typeface="Nunito" pitchFamily="2" charset="0"/>
              </a:rPr>
              <a:t>: Used for detecting fraud or network intrusions. These networks can identify patterns in data that deviate drastically and flag them as potential anomalies.</a:t>
            </a:r>
          </a:p>
        </p:txBody>
      </p:sp>
      <p:sp>
        <p:nvSpPr>
          <p:cNvPr id="13" name="TextBox 12">
            <a:extLst>
              <a:ext uri="{FF2B5EF4-FFF2-40B4-BE49-F238E27FC236}">
                <a16:creationId xmlns:a16="http://schemas.microsoft.com/office/drawing/2014/main" id="{AD1F3FD2-CDC8-8FF9-6594-42C60509094A}"/>
              </a:ext>
            </a:extLst>
          </p:cNvPr>
          <p:cNvSpPr txBox="1"/>
          <p:nvPr/>
        </p:nvSpPr>
        <p:spPr>
          <a:xfrm>
            <a:off x="838200" y="4721665"/>
            <a:ext cx="10515600" cy="646331"/>
          </a:xfrm>
          <a:prstGeom prst="rect">
            <a:avLst/>
          </a:prstGeom>
          <a:noFill/>
        </p:spPr>
        <p:txBody>
          <a:bodyPr wrap="square">
            <a:spAutoFit/>
          </a:bodyPr>
          <a:lstStyle/>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Recommender Systems</a:t>
            </a:r>
            <a:r>
              <a:rPr lang="en-US" b="0" i="0" dirty="0">
                <a:solidFill>
                  <a:srgbClr val="273239"/>
                </a:solidFill>
                <a:effectLst/>
                <a:latin typeface="Nunito" pitchFamily="2" charset="0"/>
              </a:rPr>
              <a:t>: In recommendation tasks like suggesting movies, music and books. They learn user behavior patterns to provide personalized suggestions.</a:t>
            </a:r>
          </a:p>
        </p:txBody>
      </p:sp>
      <p:sp>
        <p:nvSpPr>
          <p:cNvPr id="15" name="TextBox 14">
            <a:extLst>
              <a:ext uri="{FF2B5EF4-FFF2-40B4-BE49-F238E27FC236}">
                <a16:creationId xmlns:a16="http://schemas.microsoft.com/office/drawing/2014/main" id="{58DCC770-6582-849B-1170-8890E0698698}"/>
              </a:ext>
            </a:extLst>
          </p:cNvPr>
          <p:cNvSpPr txBox="1"/>
          <p:nvPr/>
        </p:nvSpPr>
        <p:spPr>
          <a:xfrm>
            <a:off x="838200" y="5552663"/>
            <a:ext cx="10515600" cy="646331"/>
          </a:xfrm>
          <a:prstGeom prst="rect">
            <a:avLst/>
          </a:prstGeom>
          <a:noFill/>
        </p:spPr>
        <p:txBody>
          <a:bodyPr wrap="square">
            <a:spAutoFit/>
          </a:bodyPr>
          <a:lstStyle/>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Video Analysis</a:t>
            </a:r>
            <a:r>
              <a:rPr lang="en-US" b="0" i="0" dirty="0">
                <a:solidFill>
                  <a:srgbClr val="273239"/>
                </a:solidFill>
                <a:effectLst/>
                <a:latin typeface="Nunito" pitchFamily="2" charset="0"/>
              </a:rPr>
              <a:t>: Applied in tasks like activity recognition and action classification. When combined with</a:t>
            </a:r>
            <a:r>
              <a:rPr lang="en-US" dirty="0">
                <a:solidFill>
                  <a:srgbClr val="273239"/>
                </a:solidFill>
                <a:latin typeface="Nunito" pitchFamily="2" charset="0"/>
              </a:rPr>
              <a:t> CNNs,</a:t>
            </a:r>
            <a:r>
              <a:rPr lang="en-US" b="0" i="0" dirty="0">
                <a:solidFill>
                  <a:srgbClr val="273239"/>
                </a:solidFill>
                <a:effectLst/>
                <a:latin typeface="Nunito" pitchFamily="2" charset="0"/>
              </a:rPr>
              <a:t> RNNs help process sequential frames to understand motion and temporal patterns.</a:t>
            </a:r>
          </a:p>
        </p:txBody>
      </p:sp>
    </p:spTree>
    <p:extLst>
      <p:ext uri="{BB962C8B-B14F-4D97-AF65-F5344CB8AC3E}">
        <p14:creationId xmlns:p14="http://schemas.microsoft.com/office/powerpoint/2010/main" val="1953685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1" grpId="0"/>
      <p:bldP spid="13" grpId="0"/>
      <p:bldP spid="15"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8C020-30B4-E4B6-0AA9-9804D094E651}"/>
              </a:ext>
            </a:extLst>
          </p:cNvPr>
          <p:cNvSpPr>
            <a:spLocks noGrp="1"/>
          </p:cNvSpPr>
          <p:nvPr>
            <p:ph type="title"/>
          </p:nvPr>
        </p:nvSpPr>
        <p:spPr/>
        <p:txBody>
          <a:bodyPr/>
          <a:lstStyle/>
          <a:p>
            <a:r>
              <a:rPr lang="en-US" dirty="0"/>
              <a:t>Advantages</a:t>
            </a:r>
            <a:endParaRPr lang="en-IN" dirty="0"/>
          </a:p>
        </p:txBody>
      </p:sp>
      <p:sp>
        <p:nvSpPr>
          <p:cNvPr id="5" name="TextBox 4">
            <a:extLst>
              <a:ext uri="{FF2B5EF4-FFF2-40B4-BE49-F238E27FC236}">
                <a16:creationId xmlns:a16="http://schemas.microsoft.com/office/drawing/2014/main" id="{1FF19D3B-E80C-2001-A98E-B2309CBF0535}"/>
              </a:ext>
            </a:extLst>
          </p:cNvPr>
          <p:cNvSpPr txBox="1"/>
          <p:nvPr/>
        </p:nvSpPr>
        <p:spPr>
          <a:xfrm>
            <a:off x="838200" y="1591478"/>
            <a:ext cx="10515600" cy="999633"/>
          </a:xfrm>
          <a:prstGeom prst="rect">
            <a:avLst/>
          </a:prstGeom>
          <a:noFill/>
        </p:spPr>
        <p:txBody>
          <a:bodyPr wrap="square">
            <a:spAutoFit/>
          </a:bodyPr>
          <a:lstStyle/>
          <a:p>
            <a:pPr algn="l">
              <a:lnSpc>
                <a:spcPts val="2400"/>
              </a:lnSpc>
              <a:buFont typeface="+mj-lt"/>
              <a:buAutoNum type="arabicPeriod"/>
            </a:pPr>
            <a:r>
              <a:rPr lang="en-US" b="1" i="0" dirty="0">
                <a:solidFill>
                  <a:srgbClr val="242424"/>
                </a:solidFill>
                <a:effectLst/>
                <a:latin typeface="source-serif-pro"/>
              </a:rPr>
              <a:t>Modeling long-term dependencies:</a:t>
            </a:r>
            <a:r>
              <a:rPr lang="en-US" b="0" i="0" dirty="0">
                <a:solidFill>
                  <a:srgbClr val="242424"/>
                </a:solidFill>
                <a:effectLst/>
                <a:latin typeface="source-serif-pro"/>
              </a:rPr>
              <a:t> LSTMs are well-suited for modeling long-term dependencies in sequential data, since they can selectively “remember” or “forget” information over time. This makes them useful for tasks like speech recognition, machine translation, and text generation.</a:t>
            </a:r>
          </a:p>
        </p:txBody>
      </p:sp>
      <p:sp>
        <p:nvSpPr>
          <p:cNvPr id="7" name="TextBox 6">
            <a:extLst>
              <a:ext uri="{FF2B5EF4-FFF2-40B4-BE49-F238E27FC236}">
                <a16:creationId xmlns:a16="http://schemas.microsoft.com/office/drawing/2014/main" id="{4904E609-E0EB-74F0-2290-E81E89A2DBBF}"/>
              </a:ext>
            </a:extLst>
          </p:cNvPr>
          <p:cNvSpPr txBox="1"/>
          <p:nvPr/>
        </p:nvSpPr>
        <p:spPr>
          <a:xfrm>
            <a:off x="838200" y="3030934"/>
            <a:ext cx="10439400" cy="691856"/>
          </a:xfrm>
          <a:prstGeom prst="rect">
            <a:avLst/>
          </a:prstGeom>
          <a:noFill/>
        </p:spPr>
        <p:txBody>
          <a:bodyPr wrap="square">
            <a:spAutoFit/>
          </a:bodyPr>
          <a:lstStyle/>
          <a:p>
            <a:pPr algn="l">
              <a:lnSpc>
                <a:spcPts val="2400"/>
              </a:lnSpc>
            </a:pPr>
            <a:r>
              <a:rPr lang="en-US" b="1" i="0" dirty="0">
                <a:solidFill>
                  <a:srgbClr val="242424"/>
                </a:solidFill>
                <a:effectLst/>
                <a:latin typeface="source-serif-pro"/>
              </a:rPr>
              <a:t>2.Robustness to noisy data:</a:t>
            </a:r>
            <a:r>
              <a:rPr lang="en-US" b="0" i="0" dirty="0">
                <a:solidFill>
                  <a:srgbClr val="242424"/>
                </a:solidFill>
                <a:effectLst/>
                <a:latin typeface="source-serif-pro"/>
              </a:rPr>
              <a:t> LSTMs are more robust to noisy or missing data than other types of recurrent neural networks, since they can selectively filter out irrelevant or noisy information using the forget gate.</a:t>
            </a:r>
          </a:p>
        </p:txBody>
      </p:sp>
      <p:sp>
        <p:nvSpPr>
          <p:cNvPr id="9" name="TextBox 8">
            <a:extLst>
              <a:ext uri="{FF2B5EF4-FFF2-40B4-BE49-F238E27FC236}">
                <a16:creationId xmlns:a16="http://schemas.microsoft.com/office/drawing/2014/main" id="{BFB58E49-0623-1473-BCA3-5D65E74CB3BB}"/>
              </a:ext>
            </a:extLst>
          </p:cNvPr>
          <p:cNvSpPr txBox="1"/>
          <p:nvPr/>
        </p:nvSpPr>
        <p:spPr>
          <a:xfrm>
            <a:off x="838200" y="4162613"/>
            <a:ext cx="10515600" cy="691856"/>
          </a:xfrm>
          <a:prstGeom prst="rect">
            <a:avLst/>
          </a:prstGeom>
          <a:noFill/>
        </p:spPr>
        <p:txBody>
          <a:bodyPr wrap="square">
            <a:spAutoFit/>
          </a:bodyPr>
          <a:lstStyle/>
          <a:p>
            <a:pPr algn="l">
              <a:lnSpc>
                <a:spcPts val="2400"/>
              </a:lnSpc>
            </a:pPr>
            <a:r>
              <a:rPr lang="en-US" b="1" i="0" dirty="0">
                <a:solidFill>
                  <a:srgbClr val="242424"/>
                </a:solidFill>
                <a:effectLst/>
                <a:latin typeface="source-serif-pro"/>
              </a:rPr>
              <a:t>3.Flexibility:</a:t>
            </a:r>
            <a:r>
              <a:rPr lang="en-US" b="0" i="0" dirty="0">
                <a:solidFill>
                  <a:srgbClr val="242424"/>
                </a:solidFill>
                <a:effectLst/>
                <a:latin typeface="source-serif-pro"/>
              </a:rPr>
              <a:t> LSTMs can be used for a wide variety of tasks, including classification, regression, and sequence-to-sequence learning.</a:t>
            </a:r>
          </a:p>
        </p:txBody>
      </p:sp>
      <p:sp>
        <p:nvSpPr>
          <p:cNvPr id="11" name="TextBox 10">
            <a:extLst>
              <a:ext uri="{FF2B5EF4-FFF2-40B4-BE49-F238E27FC236}">
                <a16:creationId xmlns:a16="http://schemas.microsoft.com/office/drawing/2014/main" id="{D4F3C79B-2248-6367-012B-2EDB862445C4}"/>
              </a:ext>
            </a:extLst>
          </p:cNvPr>
          <p:cNvSpPr txBox="1"/>
          <p:nvPr/>
        </p:nvSpPr>
        <p:spPr>
          <a:xfrm>
            <a:off x="838200" y="5266522"/>
            <a:ext cx="10515600" cy="691856"/>
          </a:xfrm>
          <a:prstGeom prst="rect">
            <a:avLst/>
          </a:prstGeom>
          <a:noFill/>
        </p:spPr>
        <p:txBody>
          <a:bodyPr wrap="square">
            <a:spAutoFit/>
          </a:bodyPr>
          <a:lstStyle/>
          <a:p>
            <a:pPr algn="l">
              <a:lnSpc>
                <a:spcPts val="2400"/>
              </a:lnSpc>
            </a:pPr>
            <a:r>
              <a:rPr lang="en-US" b="1" i="0" dirty="0">
                <a:solidFill>
                  <a:srgbClr val="242424"/>
                </a:solidFill>
                <a:effectLst/>
                <a:latin typeface="source-serif-pro"/>
              </a:rPr>
              <a:t>4.Interpretability:</a:t>
            </a:r>
            <a:r>
              <a:rPr lang="en-US" b="0" i="0" dirty="0">
                <a:solidFill>
                  <a:srgbClr val="242424"/>
                </a:solidFill>
                <a:effectLst/>
                <a:latin typeface="source-serif-pro"/>
              </a:rPr>
              <a:t> Since LSTMs maintain a cell state vector that represents the network’s “memory” at each time step, they can be more interpretable than other types of recurrent neural networks.</a:t>
            </a:r>
          </a:p>
        </p:txBody>
      </p:sp>
    </p:spTree>
    <p:extLst>
      <p:ext uri="{BB962C8B-B14F-4D97-AF65-F5344CB8AC3E}">
        <p14:creationId xmlns:p14="http://schemas.microsoft.com/office/powerpoint/2010/main" val="2802061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1"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C6B3F-F2EB-D55A-200A-31E0AD177CF8}"/>
              </a:ext>
            </a:extLst>
          </p:cNvPr>
          <p:cNvSpPr>
            <a:spLocks noGrp="1"/>
          </p:cNvSpPr>
          <p:nvPr>
            <p:ph type="title"/>
          </p:nvPr>
        </p:nvSpPr>
        <p:spPr/>
        <p:txBody>
          <a:bodyPr/>
          <a:lstStyle/>
          <a:p>
            <a:r>
              <a:rPr lang="en-US" dirty="0"/>
              <a:t>Limitations</a:t>
            </a:r>
            <a:endParaRPr lang="en-IN" dirty="0"/>
          </a:p>
        </p:txBody>
      </p:sp>
      <p:sp>
        <p:nvSpPr>
          <p:cNvPr id="5" name="TextBox 4">
            <a:extLst>
              <a:ext uri="{FF2B5EF4-FFF2-40B4-BE49-F238E27FC236}">
                <a16:creationId xmlns:a16="http://schemas.microsoft.com/office/drawing/2014/main" id="{1CA8E3E4-0508-D438-7D69-63184E25CB42}"/>
              </a:ext>
            </a:extLst>
          </p:cNvPr>
          <p:cNvSpPr txBox="1"/>
          <p:nvPr/>
        </p:nvSpPr>
        <p:spPr>
          <a:xfrm>
            <a:off x="838200" y="1584623"/>
            <a:ext cx="10515600" cy="691856"/>
          </a:xfrm>
          <a:prstGeom prst="rect">
            <a:avLst/>
          </a:prstGeom>
          <a:noFill/>
        </p:spPr>
        <p:txBody>
          <a:bodyPr wrap="square">
            <a:spAutoFit/>
          </a:bodyPr>
          <a:lstStyle/>
          <a:p>
            <a:pPr algn="l">
              <a:lnSpc>
                <a:spcPts val="2400"/>
              </a:lnSpc>
              <a:buFont typeface="+mj-lt"/>
              <a:buAutoNum type="arabicPeriod"/>
            </a:pPr>
            <a:r>
              <a:rPr lang="en-US" b="1" i="0" dirty="0">
                <a:solidFill>
                  <a:srgbClr val="242424"/>
                </a:solidFill>
                <a:effectLst/>
                <a:latin typeface="source-serif-pro"/>
              </a:rPr>
              <a:t>Computationally expensive:</a:t>
            </a:r>
            <a:r>
              <a:rPr lang="en-US" b="0" i="0" dirty="0">
                <a:solidFill>
                  <a:srgbClr val="242424"/>
                </a:solidFill>
                <a:effectLst/>
                <a:latin typeface="source-serif-pro"/>
              </a:rPr>
              <a:t> LSTMs can be computationally expensive to train and evaluate, especially for long sequences or large datasets.</a:t>
            </a:r>
          </a:p>
        </p:txBody>
      </p:sp>
      <p:sp>
        <p:nvSpPr>
          <p:cNvPr id="7" name="TextBox 6">
            <a:extLst>
              <a:ext uri="{FF2B5EF4-FFF2-40B4-BE49-F238E27FC236}">
                <a16:creationId xmlns:a16="http://schemas.microsoft.com/office/drawing/2014/main" id="{9E0BA246-15E0-E39C-5934-9569C876B366}"/>
              </a:ext>
            </a:extLst>
          </p:cNvPr>
          <p:cNvSpPr txBox="1"/>
          <p:nvPr/>
        </p:nvSpPr>
        <p:spPr>
          <a:xfrm>
            <a:off x="838200" y="2841108"/>
            <a:ext cx="10515600" cy="691856"/>
          </a:xfrm>
          <a:prstGeom prst="rect">
            <a:avLst/>
          </a:prstGeom>
          <a:noFill/>
        </p:spPr>
        <p:txBody>
          <a:bodyPr wrap="square">
            <a:spAutoFit/>
          </a:bodyPr>
          <a:lstStyle/>
          <a:p>
            <a:pPr algn="l">
              <a:lnSpc>
                <a:spcPts val="2400"/>
              </a:lnSpc>
            </a:pPr>
            <a:r>
              <a:rPr lang="en-US" b="1" i="0" dirty="0">
                <a:solidFill>
                  <a:srgbClr val="242424"/>
                </a:solidFill>
                <a:effectLst/>
                <a:latin typeface="source-serif-pro"/>
              </a:rPr>
              <a:t>2.Prone to overfitting:</a:t>
            </a:r>
            <a:r>
              <a:rPr lang="en-US" b="0" i="0" dirty="0">
                <a:solidFill>
                  <a:srgbClr val="242424"/>
                </a:solidFill>
                <a:effectLst/>
                <a:latin typeface="source-serif-pro"/>
              </a:rPr>
              <a:t> LSTMs can be prone to overfitting on small datasets, especially if the model architecture is too complex.</a:t>
            </a:r>
          </a:p>
        </p:txBody>
      </p:sp>
      <p:sp>
        <p:nvSpPr>
          <p:cNvPr id="9" name="TextBox 8">
            <a:extLst>
              <a:ext uri="{FF2B5EF4-FFF2-40B4-BE49-F238E27FC236}">
                <a16:creationId xmlns:a16="http://schemas.microsoft.com/office/drawing/2014/main" id="{E1F7C107-4AEC-5636-6FC9-553922835E7D}"/>
              </a:ext>
            </a:extLst>
          </p:cNvPr>
          <p:cNvSpPr txBox="1"/>
          <p:nvPr/>
        </p:nvSpPr>
        <p:spPr>
          <a:xfrm>
            <a:off x="838200" y="4097594"/>
            <a:ext cx="10515600" cy="691856"/>
          </a:xfrm>
          <a:prstGeom prst="rect">
            <a:avLst/>
          </a:prstGeom>
          <a:noFill/>
        </p:spPr>
        <p:txBody>
          <a:bodyPr wrap="square">
            <a:spAutoFit/>
          </a:bodyPr>
          <a:lstStyle/>
          <a:p>
            <a:pPr algn="l">
              <a:lnSpc>
                <a:spcPts val="2400"/>
              </a:lnSpc>
            </a:pPr>
            <a:r>
              <a:rPr lang="en-US" b="1" i="0" dirty="0">
                <a:solidFill>
                  <a:srgbClr val="242424"/>
                </a:solidFill>
                <a:effectLst/>
                <a:latin typeface="source-serif-pro"/>
              </a:rPr>
              <a:t>3.Hyperparameter tuning:</a:t>
            </a:r>
            <a:r>
              <a:rPr lang="en-US" b="0" i="0" dirty="0">
                <a:solidFill>
                  <a:srgbClr val="242424"/>
                </a:solidFill>
                <a:effectLst/>
                <a:latin typeface="source-serif-pro"/>
              </a:rPr>
              <a:t> LSTMs have many hyperparameters that need to be tuned in order to achieve optimal performance, including the number of hidden units, the learning rate, and the dropout rate.</a:t>
            </a:r>
          </a:p>
        </p:txBody>
      </p:sp>
      <p:sp>
        <p:nvSpPr>
          <p:cNvPr id="11" name="TextBox 10">
            <a:extLst>
              <a:ext uri="{FF2B5EF4-FFF2-40B4-BE49-F238E27FC236}">
                <a16:creationId xmlns:a16="http://schemas.microsoft.com/office/drawing/2014/main" id="{6F040454-EC42-82A2-0B71-137B9E47EF2B}"/>
              </a:ext>
            </a:extLst>
          </p:cNvPr>
          <p:cNvSpPr txBox="1"/>
          <p:nvPr/>
        </p:nvSpPr>
        <p:spPr>
          <a:xfrm>
            <a:off x="838200" y="5273377"/>
            <a:ext cx="10515600" cy="691856"/>
          </a:xfrm>
          <a:prstGeom prst="rect">
            <a:avLst/>
          </a:prstGeom>
          <a:noFill/>
        </p:spPr>
        <p:txBody>
          <a:bodyPr wrap="square">
            <a:spAutoFit/>
          </a:bodyPr>
          <a:lstStyle/>
          <a:p>
            <a:pPr algn="l">
              <a:lnSpc>
                <a:spcPts val="2400"/>
              </a:lnSpc>
            </a:pPr>
            <a:r>
              <a:rPr lang="en-US" b="1" i="0" dirty="0">
                <a:solidFill>
                  <a:srgbClr val="242424"/>
                </a:solidFill>
                <a:effectLst/>
                <a:latin typeface="source-serif-pro"/>
              </a:rPr>
              <a:t>4.Data requirements:</a:t>
            </a:r>
            <a:r>
              <a:rPr lang="en-US" b="0" i="0" dirty="0">
                <a:solidFill>
                  <a:srgbClr val="242424"/>
                </a:solidFill>
                <a:effectLst/>
                <a:latin typeface="source-serif-pro"/>
              </a:rPr>
              <a:t> LSTMs require a large amount of training data to learn complex patterns in the data. If there is not enough data available, the model may not perform well.</a:t>
            </a:r>
          </a:p>
        </p:txBody>
      </p:sp>
    </p:spTree>
    <p:extLst>
      <p:ext uri="{BB962C8B-B14F-4D97-AF65-F5344CB8AC3E}">
        <p14:creationId xmlns:p14="http://schemas.microsoft.com/office/powerpoint/2010/main" val="3922341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1"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025836-7A26-28F5-9DAA-CB1B3903971F}"/>
              </a:ext>
            </a:extLst>
          </p:cNvPr>
          <p:cNvSpPr txBox="1"/>
          <p:nvPr/>
        </p:nvSpPr>
        <p:spPr>
          <a:xfrm>
            <a:off x="2507226" y="3136612"/>
            <a:ext cx="7207045" cy="584775"/>
          </a:xfrm>
          <a:prstGeom prst="rect">
            <a:avLst/>
          </a:prstGeom>
          <a:noFill/>
        </p:spPr>
        <p:txBody>
          <a:bodyPr wrap="square" rtlCol="0">
            <a:spAutoFit/>
          </a:bodyPr>
          <a:lstStyle/>
          <a:p>
            <a:r>
              <a:rPr lang="en-US" sz="3200" dirty="0"/>
              <a:t>Is there any simplified version of LSTM??? </a:t>
            </a:r>
            <a:endParaRPr lang="en-IN" sz="3200" dirty="0"/>
          </a:p>
        </p:txBody>
      </p:sp>
      <p:sp>
        <p:nvSpPr>
          <p:cNvPr id="3" name="TextBox 2">
            <a:extLst>
              <a:ext uri="{FF2B5EF4-FFF2-40B4-BE49-F238E27FC236}">
                <a16:creationId xmlns:a16="http://schemas.microsoft.com/office/drawing/2014/main" id="{C69892C6-95D5-46AB-3376-41828458864F}"/>
              </a:ext>
            </a:extLst>
          </p:cNvPr>
          <p:cNvSpPr txBox="1"/>
          <p:nvPr/>
        </p:nvSpPr>
        <p:spPr>
          <a:xfrm>
            <a:off x="4291780" y="1455174"/>
            <a:ext cx="3637935" cy="584775"/>
          </a:xfrm>
          <a:prstGeom prst="rect">
            <a:avLst/>
          </a:prstGeom>
          <a:noFill/>
        </p:spPr>
        <p:txBody>
          <a:bodyPr wrap="square" rtlCol="0">
            <a:spAutoFit/>
          </a:bodyPr>
          <a:lstStyle/>
          <a:p>
            <a:r>
              <a:rPr lang="en-US" sz="3200" dirty="0"/>
              <a:t>Looks Complicated…</a:t>
            </a:r>
            <a:endParaRPr lang="en-IN" sz="3200" dirty="0"/>
          </a:p>
        </p:txBody>
      </p:sp>
      <p:sp>
        <p:nvSpPr>
          <p:cNvPr id="4" name="TextBox 3">
            <a:extLst>
              <a:ext uri="{FF2B5EF4-FFF2-40B4-BE49-F238E27FC236}">
                <a16:creationId xmlns:a16="http://schemas.microsoft.com/office/drawing/2014/main" id="{D4145B52-22F9-4FBC-1871-DE0CEC53871B}"/>
              </a:ext>
            </a:extLst>
          </p:cNvPr>
          <p:cNvSpPr txBox="1"/>
          <p:nvPr/>
        </p:nvSpPr>
        <p:spPr>
          <a:xfrm>
            <a:off x="3701843" y="4818050"/>
            <a:ext cx="4817807" cy="584775"/>
          </a:xfrm>
          <a:prstGeom prst="rect">
            <a:avLst/>
          </a:prstGeom>
          <a:noFill/>
        </p:spPr>
        <p:txBody>
          <a:bodyPr wrap="square" rtlCol="0">
            <a:spAutoFit/>
          </a:bodyPr>
          <a:lstStyle/>
          <a:p>
            <a:r>
              <a:rPr lang="en-US" sz="3200" dirty="0"/>
              <a:t>Gated Recurrent Unit(GRU)</a:t>
            </a:r>
            <a:endParaRPr lang="en-IN" sz="3200" dirty="0"/>
          </a:p>
        </p:txBody>
      </p:sp>
    </p:spTree>
    <p:extLst>
      <p:ext uri="{BB962C8B-B14F-4D97-AF65-F5344CB8AC3E}">
        <p14:creationId xmlns:p14="http://schemas.microsoft.com/office/powerpoint/2010/main" val="1538763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40D1D-33B8-6ABC-859F-3CAC20F29DE6}"/>
              </a:ext>
            </a:extLst>
          </p:cNvPr>
          <p:cNvSpPr>
            <a:spLocks noGrp="1"/>
          </p:cNvSpPr>
          <p:nvPr>
            <p:ph type="title"/>
          </p:nvPr>
        </p:nvSpPr>
        <p:spPr/>
        <p:txBody>
          <a:bodyPr/>
          <a:lstStyle/>
          <a:p>
            <a:r>
              <a:rPr lang="en-US" dirty="0"/>
              <a:t>Gated Recurrent Unit(GRU)</a:t>
            </a:r>
            <a:endParaRPr lang="en-IN" dirty="0"/>
          </a:p>
        </p:txBody>
      </p:sp>
      <p:sp>
        <p:nvSpPr>
          <p:cNvPr id="5" name="TextBox 4">
            <a:extLst>
              <a:ext uri="{FF2B5EF4-FFF2-40B4-BE49-F238E27FC236}">
                <a16:creationId xmlns:a16="http://schemas.microsoft.com/office/drawing/2014/main" id="{8C9D13ED-F4D2-CD4B-A635-562F630CB997}"/>
              </a:ext>
            </a:extLst>
          </p:cNvPr>
          <p:cNvSpPr txBox="1"/>
          <p:nvPr/>
        </p:nvSpPr>
        <p:spPr>
          <a:xfrm>
            <a:off x="838200" y="1465458"/>
            <a:ext cx="10515600" cy="646331"/>
          </a:xfrm>
          <a:prstGeom prst="rect">
            <a:avLst/>
          </a:prstGeom>
          <a:noFill/>
        </p:spPr>
        <p:txBody>
          <a:bodyPr wrap="square">
            <a:spAutoFit/>
          </a:bodyPr>
          <a:lstStyle/>
          <a:p>
            <a:r>
              <a:rPr lang="en-US" b="0" i="0" dirty="0">
                <a:solidFill>
                  <a:srgbClr val="242424"/>
                </a:solidFill>
                <a:effectLst/>
                <a:latin typeface="source-serif-pro"/>
              </a:rPr>
              <a:t>GRU stands for Gated Recurrent Unit, which is a type of recurrent neural network (RNN) architecture that is similar to LSTM (Long Short-Term Memory).</a:t>
            </a:r>
            <a:endParaRPr lang="en-IN" dirty="0"/>
          </a:p>
        </p:txBody>
      </p:sp>
      <p:sp>
        <p:nvSpPr>
          <p:cNvPr id="7" name="TextBox 6">
            <a:extLst>
              <a:ext uri="{FF2B5EF4-FFF2-40B4-BE49-F238E27FC236}">
                <a16:creationId xmlns:a16="http://schemas.microsoft.com/office/drawing/2014/main" id="{6EC8F9E0-BD17-833F-4040-6BACB74D6BC0}"/>
              </a:ext>
            </a:extLst>
          </p:cNvPr>
          <p:cNvSpPr txBox="1"/>
          <p:nvPr/>
        </p:nvSpPr>
        <p:spPr>
          <a:xfrm>
            <a:off x="838200" y="2288792"/>
            <a:ext cx="10515600" cy="646331"/>
          </a:xfrm>
          <a:prstGeom prst="rect">
            <a:avLst/>
          </a:prstGeom>
          <a:noFill/>
        </p:spPr>
        <p:txBody>
          <a:bodyPr wrap="square">
            <a:spAutoFit/>
          </a:bodyPr>
          <a:lstStyle/>
          <a:p>
            <a:r>
              <a:rPr lang="en-US" b="0" i="0" dirty="0">
                <a:solidFill>
                  <a:srgbClr val="242424"/>
                </a:solidFill>
                <a:effectLst/>
                <a:latin typeface="source-serif-pro"/>
              </a:rPr>
              <a:t>However, GRU has a simpler architecture than LSTM, with fewer parameters, which can make it easier to train and more computationally efficient.</a:t>
            </a:r>
            <a:endParaRPr lang="en-IN" dirty="0"/>
          </a:p>
        </p:txBody>
      </p:sp>
      <p:sp>
        <p:nvSpPr>
          <p:cNvPr id="9" name="TextBox 8">
            <a:extLst>
              <a:ext uri="{FF2B5EF4-FFF2-40B4-BE49-F238E27FC236}">
                <a16:creationId xmlns:a16="http://schemas.microsoft.com/office/drawing/2014/main" id="{D4EB9010-69EE-5807-A137-A6C9CCEDE881}"/>
              </a:ext>
            </a:extLst>
          </p:cNvPr>
          <p:cNvSpPr txBox="1"/>
          <p:nvPr/>
        </p:nvSpPr>
        <p:spPr>
          <a:xfrm>
            <a:off x="838199" y="3112126"/>
            <a:ext cx="10515600" cy="646331"/>
          </a:xfrm>
          <a:prstGeom prst="rect">
            <a:avLst/>
          </a:prstGeom>
          <a:noFill/>
        </p:spPr>
        <p:txBody>
          <a:bodyPr wrap="square">
            <a:spAutoFit/>
          </a:bodyPr>
          <a:lstStyle/>
          <a:p>
            <a:r>
              <a:rPr lang="en-US" b="0" i="0" dirty="0">
                <a:solidFill>
                  <a:srgbClr val="242424"/>
                </a:solidFill>
                <a:effectLst/>
                <a:latin typeface="source-serif-pro"/>
              </a:rPr>
              <a:t>Overall, GRU is a popular alternative to LSTM for modeling sequential data, especially in cases where computational resources are limited or where a simpler architecture is desired.</a:t>
            </a:r>
            <a:endParaRPr lang="en-IN" dirty="0"/>
          </a:p>
        </p:txBody>
      </p:sp>
      <p:pic>
        <p:nvPicPr>
          <p:cNvPr id="52226" name="Picture 2">
            <a:extLst>
              <a:ext uri="{FF2B5EF4-FFF2-40B4-BE49-F238E27FC236}">
                <a16:creationId xmlns:a16="http://schemas.microsoft.com/office/drawing/2014/main" id="{F7D9944C-A997-6714-803B-71774A2371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7136" y="3986290"/>
            <a:ext cx="8334375" cy="2524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5432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22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a:extLst>
              <a:ext uri="{FF2B5EF4-FFF2-40B4-BE49-F238E27FC236}">
                <a16:creationId xmlns:a16="http://schemas.microsoft.com/office/drawing/2014/main" id="{610A8D31-E776-A3F4-43EF-455D44B90A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1999"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4355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6" name="Picture 4">
            <a:extLst>
              <a:ext uri="{FF2B5EF4-FFF2-40B4-BE49-F238E27FC236}">
                <a16:creationId xmlns:a16="http://schemas.microsoft.com/office/drawing/2014/main" id="{CC8AE184-B315-BECA-AA92-893C28CD66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9130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6D015D-0EE1-FE1C-A682-57BC6A8A269C}"/>
              </a:ext>
            </a:extLst>
          </p:cNvPr>
          <p:cNvSpPr txBox="1"/>
          <p:nvPr/>
        </p:nvSpPr>
        <p:spPr>
          <a:xfrm>
            <a:off x="648929" y="338260"/>
            <a:ext cx="6096000" cy="326371"/>
          </a:xfrm>
          <a:prstGeom prst="rect">
            <a:avLst/>
          </a:prstGeom>
          <a:noFill/>
        </p:spPr>
        <p:txBody>
          <a:bodyPr wrap="square">
            <a:spAutoFit/>
          </a:bodyPr>
          <a:lstStyle/>
          <a:p>
            <a:pPr algn="l">
              <a:lnSpc>
                <a:spcPts val="1800"/>
              </a:lnSpc>
              <a:buNone/>
            </a:pPr>
            <a:r>
              <a:rPr lang="en-IN" b="1" i="0" dirty="0">
                <a:solidFill>
                  <a:srgbClr val="242424"/>
                </a:solidFill>
                <a:effectLst/>
                <a:latin typeface="sohne"/>
              </a:rPr>
              <a:t>1. Update gate</a:t>
            </a:r>
          </a:p>
        </p:txBody>
      </p:sp>
      <p:pic>
        <p:nvPicPr>
          <p:cNvPr id="55298" name="Picture 2">
            <a:extLst>
              <a:ext uri="{FF2B5EF4-FFF2-40B4-BE49-F238E27FC236}">
                <a16:creationId xmlns:a16="http://schemas.microsoft.com/office/drawing/2014/main" id="{0FF6C33C-8601-F34E-EB60-B569A6576B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90" y="1536290"/>
            <a:ext cx="6096000" cy="3785419"/>
          </a:xfrm>
          <a:prstGeom prst="rect">
            <a:avLst/>
          </a:prstGeom>
          <a:noFill/>
          <a:extLst>
            <a:ext uri="{909E8E84-426E-40DD-AFC4-6F175D3DCCD1}">
              <a14:hiddenFill xmlns:a14="http://schemas.microsoft.com/office/drawing/2010/main">
                <a:solidFill>
                  <a:srgbClr val="FFFFFF"/>
                </a:solidFill>
              </a14:hiddenFill>
            </a:ext>
          </a:extLst>
        </p:spPr>
      </p:pic>
      <p:pic>
        <p:nvPicPr>
          <p:cNvPr id="55300" name="Picture 4">
            <a:extLst>
              <a:ext uri="{FF2B5EF4-FFF2-40B4-BE49-F238E27FC236}">
                <a16:creationId xmlns:a16="http://schemas.microsoft.com/office/drawing/2014/main" id="{0A6568FF-7CE9-D176-36A4-E0E1FBE7A4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2877" y="3254476"/>
            <a:ext cx="6410633" cy="6292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184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2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3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4F2DA4-D383-0394-B456-E96682B17490}"/>
              </a:ext>
            </a:extLst>
          </p:cNvPr>
          <p:cNvSpPr txBox="1"/>
          <p:nvPr/>
        </p:nvSpPr>
        <p:spPr>
          <a:xfrm>
            <a:off x="658761" y="456247"/>
            <a:ext cx="6096000" cy="326371"/>
          </a:xfrm>
          <a:prstGeom prst="rect">
            <a:avLst/>
          </a:prstGeom>
          <a:noFill/>
        </p:spPr>
        <p:txBody>
          <a:bodyPr wrap="square">
            <a:spAutoFit/>
          </a:bodyPr>
          <a:lstStyle/>
          <a:p>
            <a:pPr algn="l">
              <a:lnSpc>
                <a:spcPts val="1800"/>
              </a:lnSpc>
              <a:buNone/>
            </a:pPr>
            <a:r>
              <a:rPr lang="en-IN" b="1" i="0" dirty="0">
                <a:solidFill>
                  <a:srgbClr val="242424"/>
                </a:solidFill>
                <a:effectLst/>
                <a:latin typeface="sohne"/>
              </a:rPr>
              <a:t>2. Reset gate</a:t>
            </a:r>
          </a:p>
        </p:txBody>
      </p:sp>
      <p:pic>
        <p:nvPicPr>
          <p:cNvPr id="56322" name="Picture 2">
            <a:extLst>
              <a:ext uri="{FF2B5EF4-FFF2-40B4-BE49-F238E27FC236}">
                <a16:creationId xmlns:a16="http://schemas.microsoft.com/office/drawing/2014/main" id="{C7CB2485-A339-52B2-0A69-A0C0DB672B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451" y="1708354"/>
            <a:ext cx="6312310" cy="3441291"/>
          </a:xfrm>
          <a:prstGeom prst="rect">
            <a:avLst/>
          </a:prstGeom>
          <a:noFill/>
          <a:extLst>
            <a:ext uri="{909E8E84-426E-40DD-AFC4-6F175D3DCCD1}">
              <a14:hiddenFill xmlns:a14="http://schemas.microsoft.com/office/drawing/2010/main">
                <a:solidFill>
                  <a:srgbClr val="FFFFFF"/>
                </a:solidFill>
              </a14:hiddenFill>
            </a:ext>
          </a:extLst>
        </p:spPr>
      </p:pic>
      <p:pic>
        <p:nvPicPr>
          <p:cNvPr id="56324" name="Picture 4">
            <a:extLst>
              <a:ext uri="{FF2B5EF4-FFF2-40B4-BE49-F238E27FC236}">
                <a16:creationId xmlns:a16="http://schemas.microsoft.com/office/drawing/2014/main" id="{AD1DD5C9-64C4-1B14-7D2F-E1613C48B6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484" y="3087330"/>
            <a:ext cx="5850194" cy="432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8123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3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3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29F7D0-687A-9863-CC67-ED7FA70E4DC0}"/>
              </a:ext>
            </a:extLst>
          </p:cNvPr>
          <p:cNvSpPr txBox="1"/>
          <p:nvPr/>
        </p:nvSpPr>
        <p:spPr>
          <a:xfrm>
            <a:off x="629264" y="525073"/>
            <a:ext cx="6096000" cy="326371"/>
          </a:xfrm>
          <a:prstGeom prst="rect">
            <a:avLst/>
          </a:prstGeom>
          <a:noFill/>
        </p:spPr>
        <p:txBody>
          <a:bodyPr wrap="square">
            <a:spAutoFit/>
          </a:bodyPr>
          <a:lstStyle/>
          <a:p>
            <a:pPr algn="l">
              <a:lnSpc>
                <a:spcPts val="1800"/>
              </a:lnSpc>
              <a:buNone/>
            </a:pPr>
            <a:r>
              <a:rPr lang="en-IN" b="1" i="0" dirty="0">
                <a:solidFill>
                  <a:srgbClr val="242424"/>
                </a:solidFill>
                <a:effectLst/>
                <a:latin typeface="sohne"/>
              </a:rPr>
              <a:t>3. Current memory content</a:t>
            </a:r>
          </a:p>
        </p:txBody>
      </p:sp>
      <p:pic>
        <p:nvPicPr>
          <p:cNvPr id="57346" name="Picture 2">
            <a:extLst>
              <a:ext uri="{FF2B5EF4-FFF2-40B4-BE49-F238E27FC236}">
                <a16:creationId xmlns:a16="http://schemas.microsoft.com/office/drawing/2014/main" id="{47F2ACC5-BA4D-05A1-4E1A-6D6608A4EA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057" y="1374058"/>
            <a:ext cx="6674413" cy="4109884"/>
          </a:xfrm>
          <a:prstGeom prst="rect">
            <a:avLst/>
          </a:prstGeom>
          <a:noFill/>
          <a:extLst>
            <a:ext uri="{909E8E84-426E-40DD-AFC4-6F175D3DCCD1}">
              <a14:hiddenFill xmlns:a14="http://schemas.microsoft.com/office/drawing/2010/main">
                <a:solidFill>
                  <a:srgbClr val="FFFFFF"/>
                </a:solidFill>
              </a14:hiddenFill>
            </a:ext>
          </a:extLst>
        </p:spPr>
      </p:pic>
      <p:pic>
        <p:nvPicPr>
          <p:cNvPr id="57348" name="Picture 4">
            <a:extLst>
              <a:ext uri="{FF2B5EF4-FFF2-40B4-BE49-F238E27FC236}">
                <a16:creationId xmlns:a16="http://schemas.microsoft.com/office/drawing/2014/main" id="{8227E497-C859-0CB0-E651-94080552AD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0981" y="3170211"/>
            <a:ext cx="5563368" cy="5175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5303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3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330BF5-51AA-8705-0DF3-F7640392E500}"/>
              </a:ext>
            </a:extLst>
          </p:cNvPr>
          <p:cNvSpPr txBox="1"/>
          <p:nvPr/>
        </p:nvSpPr>
        <p:spPr>
          <a:xfrm>
            <a:off x="501445" y="613564"/>
            <a:ext cx="6096000" cy="326371"/>
          </a:xfrm>
          <a:prstGeom prst="rect">
            <a:avLst/>
          </a:prstGeom>
          <a:noFill/>
        </p:spPr>
        <p:txBody>
          <a:bodyPr wrap="square">
            <a:spAutoFit/>
          </a:bodyPr>
          <a:lstStyle/>
          <a:p>
            <a:pPr algn="l">
              <a:lnSpc>
                <a:spcPts val="1800"/>
              </a:lnSpc>
              <a:buNone/>
            </a:pPr>
            <a:r>
              <a:rPr lang="en-US" b="1" i="0" dirty="0">
                <a:solidFill>
                  <a:srgbClr val="242424"/>
                </a:solidFill>
                <a:effectLst/>
                <a:latin typeface="sohne"/>
              </a:rPr>
              <a:t>4. Final memory at current time step</a:t>
            </a:r>
          </a:p>
        </p:txBody>
      </p:sp>
      <p:pic>
        <p:nvPicPr>
          <p:cNvPr id="58370" name="Picture 2">
            <a:extLst>
              <a:ext uri="{FF2B5EF4-FFF2-40B4-BE49-F238E27FC236}">
                <a16:creationId xmlns:a16="http://schemas.microsoft.com/office/drawing/2014/main" id="{6EA9A876-26F0-70B9-C892-9940AE444C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974" y="1192161"/>
            <a:ext cx="6408942" cy="4473677"/>
          </a:xfrm>
          <a:prstGeom prst="rect">
            <a:avLst/>
          </a:prstGeom>
          <a:noFill/>
          <a:extLst>
            <a:ext uri="{909E8E84-426E-40DD-AFC4-6F175D3DCCD1}">
              <a14:hiddenFill xmlns:a14="http://schemas.microsoft.com/office/drawing/2010/main">
                <a:solidFill>
                  <a:srgbClr val="FFFFFF"/>
                </a:solidFill>
              </a14:hiddenFill>
            </a:ext>
          </a:extLst>
        </p:spPr>
      </p:pic>
      <p:pic>
        <p:nvPicPr>
          <p:cNvPr id="58372" name="Picture 4">
            <a:extLst>
              <a:ext uri="{FF2B5EF4-FFF2-40B4-BE49-F238E27FC236}">
                <a16:creationId xmlns:a16="http://schemas.microsoft.com/office/drawing/2014/main" id="{AC5B0BEE-000D-948E-B446-709E2574BD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4838" y="3182270"/>
            <a:ext cx="5819007" cy="493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4861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3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3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5B99F-3111-3BA2-7D82-19B556EF1C5A}"/>
              </a:ext>
            </a:extLst>
          </p:cNvPr>
          <p:cNvSpPr>
            <a:spLocks noGrp="1"/>
          </p:cNvSpPr>
          <p:nvPr>
            <p:ph type="title"/>
          </p:nvPr>
        </p:nvSpPr>
        <p:spPr>
          <a:xfrm>
            <a:off x="838200" y="18255"/>
            <a:ext cx="10515600" cy="1325563"/>
          </a:xfrm>
        </p:spPr>
        <p:txBody>
          <a:bodyPr/>
          <a:lstStyle/>
          <a:p>
            <a:r>
              <a:rPr lang="en-US" dirty="0"/>
              <a:t>Advantages</a:t>
            </a:r>
            <a:endParaRPr lang="en-IN" dirty="0"/>
          </a:p>
        </p:txBody>
      </p:sp>
      <p:sp>
        <p:nvSpPr>
          <p:cNvPr id="5" name="TextBox 4">
            <a:extLst>
              <a:ext uri="{FF2B5EF4-FFF2-40B4-BE49-F238E27FC236}">
                <a16:creationId xmlns:a16="http://schemas.microsoft.com/office/drawing/2014/main" id="{60659E12-C6F4-71C5-C24C-08097BF55703}"/>
              </a:ext>
            </a:extLst>
          </p:cNvPr>
          <p:cNvSpPr txBox="1"/>
          <p:nvPr/>
        </p:nvSpPr>
        <p:spPr>
          <a:xfrm>
            <a:off x="838196" y="1535858"/>
            <a:ext cx="10515600" cy="691856"/>
          </a:xfrm>
          <a:prstGeom prst="rect">
            <a:avLst/>
          </a:prstGeom>
          <a:noFill/>
        </p:spPr>
        <p:txBody>
          <a:bodyPr wrap="square">
            <a:spAutoFit/>
          </a:bodyPr>
          <a:lstStyle/>
          <a:p>
            <a:pPr algn="l">
              <a:lnSpc>
                <a:spcPts val="2400"/>
              </a:lnSpc>
              <a:buFont typeface="Arial" panose="020B0604020202020204" pitchFamily="34" charset="0"/>
              <a:buChar char="•"/>
            </a:pPr>
            <a:r>
              <a:rPr lang="en-US" b="0" i="0" dirty="0">
                <a:solidFill>
                  <a:srgbClr val="242424"/>
                </a:solidFill>
                <a:effectLst/>
                <a:latin typeface="source-serif-pro"/>
              </a:rPr>
              <a:t>GRU networks are similar to Long Short-Term Memory (LSTM) networks, but with fewer parameters, making them computationally less expensive and faster to train.</a:t>
            </a:r>
          </a:p>
        </p:txBody>
      </p:sp>
      <p:sp>
        <p:nvSpPr>
          <p:cNvPr id="7" name="TextBox 6">
            <a:extLst>
              <a:ext uri="{FF2B5EF4-FFF2-40B4-BE49-F238E27FC236}">
                <a16:creationId xmlns:a16="http://schemas.microsoft.com/office/drawing/2014/main" id="{26EEFE36-696E-DC1C-309E-33A385EB9FA2}"/>
              </a:ext>
            </a:extLst>
          </p:cNvPr>
          <p:cNvSpPr txBox="1"/>
          <p:nvPr/>
        </p:nvSpPr>
        <p:spPr>
          <a:xfrm>
            <a:off x="838197" y="2799044"/>
            <a:ext cx="10515600" cy="691856"/>
          </a:xfrm>
          <a:prstGeom prst="rect">
            <a:avLst/>
          </a:prstGeom>
          <a:noFill/>
        </p:spPr>
        <p:txBody>
          <a:bodyPr wrap="square">
            <a:spAutoFit/>
          </a:bodyPr>
          <a:lstStyle/>
          <a:p>
            <a:pPr algn="l">
              <a:lnSpc>
                <a:spcPts val="2400"/>
              </a:lnSpc>
              <a:buFont typeface="Arial" panose="020B0604020202020204" pitchFamily="34" charset="0"/>
              <a:buChar char="•"/>
            </a:pPr>
            <a:r>
              <a:rPr lang="en-US" b="0" i="0" dirty="0">
                <a:solidFill>
                  <a:srgbClr val="242424"/>
                </a:solidFill>
                <a:effectLst/>
                <a:latin typeface="source-serif-pro"/>
              </a:rPr>
              <a:t>GRU networks can handle long-term dependencies in sequential data by selectively remembering and forgetting previous inputs.</a:t>
            </a:r>
          </a:p>
        </p:txBody>
      </p:sp>
      <p:sp>
        <p:nvSpPr>
          <p:cNvPr id="9" name="TextBox 8">
            <a:extLst>
              <a:ext uri="{FF2B5EF4-FFF2-40B4-BE49-F238E27FC236}">
                <a16:creationId xmlns:a16="http://schemas.microsoft.com/office/drawing/2014/main" id="{CBCF6373-F224-F986-1436-0C137945AD58}"/>
              </a:ext>
            </a:extLst>
          </p:cNvPr>
          <p:cNvSpPr txBox="1"/>
          <p:nvPr/>
        </p:nvSpPr>
        <p:spPr>
          <a:xfrm>
            <a:off x="838197" y="4058956"/>
            <a:ext cx="10515599" cy="691856"/>
          </a:xfrm>
          <a:prstGeom prst="rect">
            <a:avLst/>
          </a:prstGeom>
          <a:noFill/>
        </p:spPr>
        <p:txBody>
          <a:bodyPr wrap="square">
            <a:spAutoFit/>
          </a:bodyPr>
          <a:lstStyle/>
          <a:p>
            <a:pPr algn="l">
              <a:lnSpc>
                <a:spcPts val="2400"/>
              </a:lnSpc>
              <a:buFont typeface="Arial" panose="020B0604020202020204" pitchFamily="34" charset="0"/>
              <a:buChar char="•"/>
            </a:pPr>
            <a:r>
              <a:rPr lang="en-US" b="0" i="0" dirty="0">
                <a:solidFill>
                  <a:srgbClr val="242424"/>
                </a:solidFill>
                <a:effectLst/>
                <a:latin typeface="source-serif-pro"/>
              </a:rPr>
              <a:t>GRU networks have been shown to perform well on a variety of tasks, including natural language processing, speech recognition, and music generation.</a:t>
            </a:r>
          </a:p>
        </p:txBody>
      </p:sp>
      <p:sp>
        <p:nvSpPr>
          <p:cNvPr id="11" name="TextBox 10">
            <a:extLst>
              <a:ext uri="{FF2B5EF4-FFF2-40B4-BE49-F238E27FC236}">
                <a16:creationId xmlns:a16="http://schemas.microsoft.com/office/drawing/2014/main" id="{DDB44C74-83E8-6AF2-3992-4363394AF61D}"/>
              </a:ext>
            </a:extLst>
          </p:cNvPr>
          <p:cNvSpPr txBox="1"/>
          <p:nvPr/>
        </p:nvSpPr>
        <p:spPr>
          <a:xfrm>
            <a:off x="838197" y="5322142"/>
            <a:ext cx="10515599" cy="384080"/>
          </a:xfrm>
          <a:prstGeom prst="rect">
            <a:avLst/>
          </a:prstGeom>
          <a:noFill/>
        </p:spPr>
        <p:txBody>
          <a:bodyPr wrap="square">
            <a:spAutoFit/>
          </a:bodyPr>
          <a:lstStyle/>
          <a:p>
            <a:pPr algn="l">
              <a:lnSpc>
                <a:spcPts val="2400"/>
              </a:lnSpc>
              <a:buFont typeface="Arial" panose="020B0604020202020204" pitchFamily="34" charset="0"/>
              <a:buChar char="•"/>
            </a:pPr>
            <a:r>
              <a:rPr lang="en-US" b="0" i="0" dirty="0">
                <a:solidFill>
                  <a:srgbClr val="242424"/>
                </a:solidFill>
                <a:effectLst/>
                <a:latin typeface="source-serif-pro"/>
              </a:rPr>
              <a:t>GRU networks can be used for both sequence-to-sequence and sequence classification tasks.</a:t>
            </a:r>
          </a:p>
        </p:txBody>
      </p:sp>
    </p:spTree>
    <p:extLst>
      <p:ext uri="{BB962C8B-B14F-4D97-AF65-F5344CB8AC3E}">
        <p14:creationId xmlns:p14="http://schemas.microsoft.com/office/powerpoint/2010/main" val="3388087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1"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7CBA5-CC6D-5C7F-1390-9BD0CFDF443F}"/>
              </a:ext>
            </a:extLst>
          </p:cNvPr>
          <p:cNvSpPr>
            <a:spLocks noGrp="1"/>
          </p:cNvSpPr>
          <p:nvPr>
            <p:ph type="title"/>
          </p:nvPr>
        </p:nvSpPr>
        <p:spPr>
          <a:xfrm>
            <a:off x="838200" y="18255"/>
            <a:ext cx="10515600" cy="1325563"/>
          </a:xfrm>
        </p:spPr>
        <p:txBody>
          <a:bodyPr/>
          <a:lstStyle/>
          <a:p>
            <a:r>
              <a:rPr lang="en-US" dirty="0"/>
              <a:t>Limitations</a:t>
            </a:r>
            <a:endParaRPr lang="en-IN" dirty="0"/>
          </a:p>
        </p:txBody>
      </p:sp>
      <p:sp>
        <p:nvSpPr>
          <p:cNvPr id="6" name="TextBox 5">
            <a:extLst>
              <a:ext uri="{FF2B5EF4-FFF2-40B4-BE49-F238E27FC236}">
                <a16:creationId xmlns:a16="http://schemas.microsoft.com/office/drawing/2014/main" id="{88C08718-C6CC-B243-8106-E5EE44B8F6D3}"/>
              </a:ext>
            </a:extLst>
          </p:cNvPr>
          <p:cNvSpPr txBox="1"/>
          <p:nvPr/>
        </p:nvSpPr>
        <p:spPr>
          <a:xfrm>
            <a:off x="838199" y="1343818"/>
            <a:ext cx="10515599" cy="691856"/>
          </a:xfrm>
          <a:prstGeom prst="rect">
            <a:avLst/>
          </a:prstGeom>
          <a:noFill/>
        </p:spPr>
        <p:txBody>
          <a:bodyPr wrap="square">
            <a:spAutoFit/>
          </a:bodyPr>
          <a:lstStyle/>
          <a:p>
            <a:pPr algn="l">
              <a:lnSpc>
                <a:spcPts val="2400"/>
              </a:lnSpc>
              <a:buFont typeface="Arial" panose="020B0604020202020204" pitchFamily="34" charset="0"/>
              <a:buChar char="•"/>
            </a:pPr>
            <a:r>
              <a:rPr lang="en-US" b="0" i="0" dirty="0">
                <a:solidFill>
                  <a:srgbClr val="242424"/>
                </a:solidFill>
                <a:effectLst/>
                <a:latin typeface="source-serif-pro"/>
              </a:rPr>
              <a:t>GRU networks may not perform as well as LSTMs on tasks that require modeling very long-term dependencies or complex sequential patterns.</a:t>
            </a:r>
          </a:p>
        </p:txBody>
      </p:sp>
      <p:sp>
        <p:nvSpPr>
          <p:cNvPr id="8" name="TextBox 7">
            <a:extLst>
              <a:ext uri="{FF2B5EF4-FFF2-40B4-BE49-F238E27FC236}">
                <a16:creationId xmlns:a16="http://schemas.microsoft.com/office/drawing/2014/main" id="{F683C0D5-950E-B4DA-3C9A-B3834C1821D5}"/>
              </a:ext>
            </a:extLst>
          </p:cNvPr>
          <p:cNvSpPr txBox="1"/>
          <p:nvPr/>
        </p:nvSpPr>
        <p:spPr>
          <a:xfrm>
            <a:off x="838197" y="2533992"/>
            <a:ext cx="10515599" cy="384080"/>
          </a:xfrm>
          <a:prstGeom prst="rect">
            <a:avLst/>
          </a:prstGeom>
          <a:noFill/>
        </p:spPr>
        <p:txBody>
          <a:bodyPr wrap="square">
            <a:spAutoFit/>
          </a:bodyPr>
          <a:lstStyle/>
          <a:p>
            <a:pPr algn="l">
              <a:lnSpc>
                <a:spcPts val="2400"/>
              </a:lnSpc>
              <a:buFont typeface="Arial" panose="020B0604020202020204" pitchFamily="34" charset="0"/>
              <a:buChar char="•"/>
            </a:pPr>
            <a:r>
              <a:rPr lang="en-US" b="0" i="0" dirty="0">
                <a:solidFill>
                  <a:srgbClr val="242424"/>
                </a:solidFill>
                <a:effectLst/>
                <a:latin typeface="source-serif-pro"/>
              </a:rPr>
              <a:t>GRU networks may be more prone to overfitting than LSTMs, especially on smaller datasets.</a:t>
            </a:r>
          </a:p>
        </p:txBody>
      </p:sp>
      <p:sp>
        <p:nvSpPr>
          <p:cNvPr id="10" name="TextBox 9">
            <a:extLst>
              <a:ext uri="{FF2B5EF4-FFF2-40B4-BE49-F238E27FC236}">
                <a16:creationId xmlns:a16="http://schemas.microsoft.com/office/drawing/2014/main" id="{E4D18A89-6EE2-48C1-276B-7CF4FC3EB0E5}"/>
              </a:ext>
            </a:extLst>
          </p:cNvPr>
          <p:cNvSpPr txBox="1"/>
          <p:nvPr/>
        </p:nvSpPr>
        <p:spPr>
          <a:xfrm>
            <a:off x="838197" y="3416391"/>
            <a:ext cx="10515599" cy="691856"/>
          </a:xfrm>
          <a:prstGeom prst="rect">
            <a:avLst/>
          </a:prstGeom>
          <a:noFill/>
        </p:spPr>
        <p:txBody>
          <a:bodyPr wrap="square">
            <a:spAutoFit/>
          </a:bodyPr>
          <a:lstStyle/>
          <a:p>
            <a:pPr algn="l">
              <a:lnSpc>
                <a:spcPts val="2400"/>
              </a:lnSpc>
              <a:buFont typeface="Arial" panose="020B0604020202020204" pitchFamily="34" charset="0"/>
              <a:buChar char="•"/>
            </a:pPr>
            <a:r>
              <a:rPr lang="en-US" b="0" i="0" dirty="0">
                <a:solidFill>
                  <a:srgbClr val="242424"/>
                </a:solidFill>
                <a:effectLst/>
                <a:latin typeface="source-serif-pro"/>
              </a:rPr>
              <a:t>GRU networks require careful tuning of hyperparameters, such as the number of hidden units and learning rate, to achieve good performance.</a:t>
            </a:r>
          </a:p>
        </p:txBody>
      </p:sp>
      <p:sp>
        <p:nvSpPr>
          <p:cNvPr id="12" name="TextBox 11">
            <a:extLst>
              <a:ext uri="{FF2B5EF4-FFF2-40B4-BE49-F238E27FC236}">
                <a16:creationId xmlns:a16="http://schemas.microsoft.com/office/drawing/2014/main" id="{4D6ABEC4-5B8F-3350-0CB9-EDC4DBD534D0}"/>
              </a:ext>
            </a:extLst>
          </p:cNvPr>
          <p:cNvSpPr txBox="1"/>
          <p:nvPr/>
        </p:nvSpPr>
        <p:spPr>
          <a:xfrm>
            <a:off x="838197" y="4780106"/>
            <a:ext cx="10515598" cy="691856"/>
          </a:xfrm>
          <a:prstGeom prst="rect">
            <a:avLst/>
          </a:prstGeom>
          <a:noFill/>
        </p:spPr>
        <p:txBody>
          <a:bodyPr wrap="square">
            <a:spAutoFit/>
          </a:bodyPr>
          <a:lstStyle/>
          <a:p>
            <a:pPr algn="l">
              <a:lnSpc>
                <a:spcPts val="2400"/>
              </a:lnSpc>
              <a:buFont typeface="Arial" panose="020B0604020202020204" pitchFamily="34" charset="0"/>
              <a:buChar char="•"/>
            </a:pPr>
            <a:r>
              <a:rPr lang="en-US" b="0" i="0" dirty="0">
                <a:solidFill>
                  <a:srgbClr val="242424"/>
                </a:solidFill>
                <a:effectLst/>
                <a:latin typeface="source-serif-pro"/>
              </a:rPr>
              <a:t>GRU networks may not be as interpretable as other machine learning models, since the gating mechanism can make it difficult to understand how the network is making predictions.</a:t>
            </a:r>
          </a:p>
        </p:txBody>
      </p:sp>
    </p:spTree>
    <p:extLst>
      <p:ext uri="{BB962C8B-B14F-4D97-AF65-F5344CB8AC3E}">
        <p14:creationId xmlns:p14="http://schemas.microsoft.com/office/powerpoint/2010/main" val="1012686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8" grpId="0"/>
      <p:bldP spid="10" grpId="0"/>
      <p:bldP spid="12"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511D7-4D83-ED60-C19B-D04BA9EDA652}"/>
              </a:ext>
            </a:extLst>
          </p:cNvPr>
          <p:cNvSpPr>
            <a:spLocks noGrp="1"/>
          </p:cNvSpPr>
          <p:nvPr>
            <p:ph type="title"/>
          </p:nvPr>
        </p:nvSpPr>
        <p:spPr>
          <a:xfrm>
            <a:off x="838200" y="18255"/>
            <a:ext cx="10515600" cy="1325563"/>
          </a:xfrm>
        </p:spPr>
        <p:txBody>
          <a:bodyPr/>
          <a:lstStyle/>
          <a:p>
            <a:r>
              <a:rPr lang="en-US" dirty="0"/>
              <a:t>Deep RNNs</a:t>
            </a:r>
            <a:endParaRPr lang="en-IN" dirty="0"/>
          </a:p>
        </p:txBody>
      </p:sp>
      <p:pic>
        <p:nvPicPr>
          <p:cNvPr id="59394" name="Picture 2">
            <a:extLst>
              <a:ext uri="{FF2B5EF4-FFF2-40B4-BE49-F238E27FC236}">
                <a16:creationId xmlns:a16="http://schemas.microsoft.com/office/drawing/2014/main" id="{5006347F-D330-4553-0B2E-5BC304B278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4728" y="904567"/>
            <a:ext cx="7893614" cy="225791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5A82282C-4022-54D2-1736-E006CB1EDA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4728" y="2148348"/>
            <a:ext cx="7893614" cy="22579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471EEBA6-7A6F-0442-0BC6-01BFD4C594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4728" y="3352800"/>
            <a:ext cx="7893614" cy="225791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9234A028-7BE6-E8A9-8409-CEC30AA57D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4728" y="4581832"/>
            <a:ext cx="7893614" cy="2257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5871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3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9DF69-334B-7EF2-6957-5330F202FDBF}"/>
              </a:ext>
            </a:extLst>
          </p:cNvPr>
          <p:cNvSpPr>
            <a:spLocks noGrp="1"/>
          </p:cNvSpPr>
          <p:nvPr>
            <p:ph type="title"/>
          </p:nvPr>
        </p:nvSpPr>
        <p:spPr>
          <a:xfrm>
            <a:off x="916858" y="245800"/>
            <a:ext cx="10515600" cy="1325563"/>
          </a:xfrm>
        </p:spPr>
        <p:txBody>
          <a:bodyPr/>
          <a:lstStyle/>
          <a:p>
            <a:r>
              <a:rPr lang="en-US" dirty="0"/>
              <a:t>Applications</a:t>
            </a:r>
            <a:endParaRPr lang="en-IN" dirty="0"/>
          </a:p>
        </p:txBody>
      </p:sp>
      <p:sp>
        <p:nvSpPr>
          <p:cNvPr id="5" name="TextBox 4">
            <a:extLst>
              <a:ext uri="{FF2B5EF4-FFF2-40B4-BE49-F238E27FC236}">
                <a16:creationId xmlns:a16="http://schemas.microsoft.com/office/drawing/2014/main" id="{3BD231FE-9CD4-20FC-35A4-EF49F41190A9}"/>
              </a:ext>
            </a:extLst>
          </p:cNvPr>
          <p:cNvSpPr txBox="1"/>
          <p:nvPr/>
        </p:nvSpPr>
        <p:spPr>
          <a:xfrm>
            <a:off x="950042" y="1512059"/>
            <a:ext cx="10291916" cy="691856"/>
          </a:xfrm>
          <a:prstGeom prst="rect">
            <a:avLst/>
          </a:prstGeom>
          <a:noFill/>
        </p:spPr>
        <p:txBody>
          <a:bodyPr wrap="square">
            <a:spAutoFit/>
          </a:bodyPr>
          <a:lstStyle/>
          <a:p>
            <a:pPr algn="l">
              <a:lnSpc>
                <a:spcPts val="2400"/>
              </a:lnSpc>
              <a:buFont typeface="+mj-lt"/>
              <a:buAutoNum type="arabicPeriod"/>
            </a:pPr>
            <a:r>
              <a:rPr lang="en-US" b="0" i="0" dirty="0">
                <a:solidFill>
                  <a:srgbClr val="242424"/>
                </a:solidFill>
                <a:effectLst/>
                <a:latin typeface="source-serif-pro"/>
              </a:rPr>
              <a:t>Use when the complexity of the problem statement or task is high like machine translation or speech recognition</a:t>
            </a:r>
          </a:p>
        </p:txBody>
      </p:sp>
      <p:sp>
        <p:nvSpPr>
          <p:cNvPr id="7" name="TextBox 6">
            <a:extLst>
              <a:ext uri="{FF2B5EF4-FFF2-40B4-BE49-F238E27FC236}">
                <a16:creationId xmlns:a16="http://schemas.microsoft.com/office/drawing/2014/main" id="{37B31D5A-81AA-8D26-8440-422F2A608497}"/>
              </a:ext>
            </a:extLst>
          </p:cNvPr>
          <p:cNvSpPr txBox="1"/>
          <p:nvPr/>
        </p:nvSpPr>
        <p:spPr>
          <a:xfrm>
            <a:off x="916858" y="2453542"/>
            <a:ext cx="10291916" cy="384080"/>
          </a:xfrm>
          <a:prstGeom prst="rect">
            <a:avLst/>
          </a:prstGeom>
          <a:noFill/>
        </p:spPr>
        <p:txBody>
          <a:bodyPr wrap="square">
            <a:spAutoFit/>
          </a:bodyPr>
          <a:lstStyle/>
          <a:p>
            <a:pPr algn="l">
              <a:lnSpc>
                <a:spcPts val="2400"/>
              </a:lnSpc>
            </a:pPr>
            <a:r>
              <a:rPr lang="en-US" b="0" i="0" dirty="0">
                <a:solidFill>
                  <a:srgbClr val="242424"/>
                </a:solidFill>
                <a:effectLst/>
                <a:latin typeface="source-serif-pro"/>
              </a:rPr>
              <a:t>2.When we have large datasets as using deep RNNs on small dataset increases the chance of overfitting</a:t>
            </a:r>
          </a:p>
        </p:txBody>
      </p:sp>
      <p:sp>
        <p:nvSpPr>
          <p:cNvPr id="9" name="TextBox 8">
            <a:extLst>
              <a:ext uri="{FF2B5EF4-FFF2-40B4-BE49-F238E27FC236}">
                <a16:creationId xmlns:a16="http://schemas.microsoft.com/office/drawing/2014/main" id="{398815F3-6AAD-DB0A-36E6-8F87C1333EAC}"/>
              </a:ext>
            </a:extLst>
          </p:cNvPr>
          <p:cNvSpPr txBox="1"/>
          <p:nvPr/>
        </p:nvSpPr>
        <p:spPr>
          <a:xfrm>
            <a:off x="916858" y="3128131"/>
            <a:ext cx="10515600" cy="384080"/>
          </a:xfrm>
          <a:prstGeom prst="rect">
            <a:avLst/>
          </a:prstGeom>
          <a:noFill/>
        </p:spPr>
        <p:txBody>
          <a:bodyPr wrap="square">
            <a:spAutoFit/>
          </a:bodyPr>
          <a:lstStyle/>
          <a:p>
            <a:pPr algn="l">
              <a:lnSpc>
                <a:spcPts val="2400"/>
              </a:lnSpc>
            </a:pPr>
            <a:r>
              <a:rPr lang="en-IN" b="0" i="0" dirty="0">
                <a:solidFill>
                  <a:srgbClr val="242424"/>
                </a:solidFill>
                <a:effectLst/>
                <a:latin typeface="source-serif-pro"/>
              </a:rPr>
              <a:t>3.Sufficient computational power</a:t>
            </a:r>
          </a:p>
        </p:txBody>
      </p:sp>
      <p:sp>
        <p:nvSpPr>
          <p:cNvPr id="11" name="TextBox 10">
            <a:extLst>
              <a:ext uri="{FF2B5EF4-FFF2-40B4-BE49-F238E27FC236}">
                <a16:creationId xmlns:a16="http://schemas.microsoft.com/office/drawing/2014/main" id="{75F6157E-FDA3-2CBD-C603-D96A8A55CFA2}"/>
              </a:ext>
            </a:extLst>
          </p:cNvPr>
          <p:cNvSpPr txBox="1"/>
          <p:nvPr/>
        </p:nvSpPr>
        <p:spPr>
          <a:xfrm>
            <a:off x="916858" y="3760683"/>
            <a:ext cx="10291916" cy="384080"/>
          </a:xfrm>
          <a:prstGeom prst="rect">
            <a:avLst/>
          </a:prstGeom>
          <a:noFill/>
        </p:spPr>
        <p:txBody>
          <a:bodyPr wrap="square">
            <a:spAutoFit/>
          </a:bodyPr>
          <a:lstStyle/>
          <a:p>
            <a:pPr algn="l">
              <a:lnSpc>
                <a:spcPts val="2400"/>
              </a:lnSpc>
            </a:pPr>
            <a:r>
              <a:rPr lang="en-US" b="0" i="0" dirty="0">
                <a:solidFill>
                  <a:srgbClr val="242424"/>
                </a:solidFill>
                <a:effectLst/>
                <a:latin typeface="source-serif-pro"/>
              </a:rPr>
              <a:t>4. Not satisfied with the performance of simple RNNs</a:t>
            </a:r>
          </a:p>
        </p:txBody>
      </p:sp>
      <p:sp>
        <p:nvSpPr>
          <p:cNvPr id="13" name="TextBox 12">
            <a:extLst>
              <a:ext uri="{FF2B5EF4-FFF2-40B4-BE49-F238E27FC236}">
                <a16:creationId xmlns:a16="http://schemas.microsoft.com/office/drawing/2014/main" id="{AFA54480-F8A9-5DEB-BD03-B4693DC815CD}"/>
              </a:ext>
            </a:extLst>
          </p:cNvPr>
          <p:cNvSpPr txBox="1"/>
          <p:nvPr/>
        </p:nvSpPr>
        <p:spPr>
          <a:xfrm>
            <a:off x="916858" y="4607314"/>
            <a:ext cx="10325100" cy="646331"/>
          </a:xfrm>
          <a:prstGeom prst="rect">
            <a:avLst/>
          </a:prstGeom>
          <a:noFill/>
        </p:spPr>
        <p:txBody>
          <a:bodyPr wrap="square">
            <a:spAutoFit/>
          </a:bodyPr>
          <a:lstStyle/>
          <a:p>
            <a:r>
              <a:rPr lang="en-US" b="0" i="0" dirty="0">
                <a:solidFill>
                  <a:srgbClr val="242424"/>
                </a:solidFill>
                <a:effectLst/>
                <a:latin typeface="source-serif-pro"/>
              </a:rPr>
              <a:t>This same logic of stacking RNNs on top of another RNNs can be extending to LSTM and GRU and they will then be called as Deep LSTM and Deep GRU respectively</a:t>
            </a:r>
            <a:endParaRPr lang="en-IN" dirty="0"/>
          </a:p>
        </p:txBody>
      </p:sp>
      <p:sp>
        <p:nvSpPr>
          <p:cNvPr id="15" name="TextBox 14">
            <a:extLst>
              <a:ext uri="{FF2B5EF4-FFF2-40B4-BE49-F238E27FC236}">
                <a16:creationId xmlns:a16="http://schemas.microsoft.com/office/drawing/2014/main" id="{11AAD9FC-CE9E-4D33-8ADA-689C1AEFFA8C}"/>
              </a:ext>
            </a:extLst>
          </p:cNvPr>
          <p:cNvSpPr txBox="1"/>
          <p:nvPr/>
        </p:nvSpPr>
        <p:spPr>
          <a:xfrm>
            <a:off x="950042" y="5425418"/>
            <a:ext cx="10258732" cy="646331"/>
          </a:xfrm>
          <a:prstGeom prst="rect">
            <a:avLst/>
          </a:prstGeom>
          <a:noFill/>
        </p:spPr>
        <p:txBody>
          <a:bodyPr wrap="square">
            <a:spAutoFit/>
          </a:bodyPr>
          <a:lstStyle/>
          <a:p>
            <a:r>
              <a:rPr lang="en-US" b="0" i="0" dirty="0">
                <a:solidFill>
                  <a:srgbClr val="242424"/>
                </a:solidFill>
                <a:effectLst/>
                <a:latin typeface="source-serif-pro"/>
              </a:rPr>
              <a:t>Mostly we use deep LSTM or deep GRU as in deep RNN we face the problem of exploding and vanishing gradient descent just like we faced in simple RNNs</a:t>
            </a:r>
            <a:endParaRPr lang="en-IN" dirty="0"/>
          </a:p>
        </p:txBody>
      </p:sp>
    </p:spTree>
    <p:extLst>
      <p:ext uri="{BB962C8B-B14F-4D97-AF65-F5344CB8AC3E}">
        <p14:creationId xmlns:p14="http://schemas.microsoft.com/office/powerpoint/2010/main" val="2634375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1" grpId="0"/>
      <p:bldP spid="13" grpId="0"/>
      <p:bldP spid="15"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F575F-A258-7526-B028-6B35D9BD4EF4}"/>
              </a:ext>
            </a:extLst>
          </p:cNvPr>
          <p:cNvSpPr>
            <a:spLocks noGrp="1"/>
          </p:cNvSpPr>
          <p:nvPr>
            <p:ph type="title"/>
          </p:nvPr>
        </p:nvSpPr>
        <p:spPr/>
        <p:txBody>
          <a:bodyPr/>
          <a:lstStyle/>
          <a:p>
            <a:r>
              <a:rPr lang="en-US" dirty="0"/>
              <a:t>Limitations</a:t>
            </a:r>
            <a:endParaRPr lang="en-IN" dirty="0"/>
          </a:p>
        </p:txBody>
      </p:sp>
      <p:sp>
        <p:nvSpPr>
          <p:cNvPr id="5" name="TextBox 4">
            <a:extLst>
              <a:ext uri="{FF2B5EF4-FFF2-40B4-BE49-F238E27FC236}">
                <a16:creationId xmlns:a16="http://schemas.microsoft.com/office/drawing/2014/main" id="{4FEAFD37-765B-B2CA-51B4-00F616C81DD4}"/>
              </a:ext>
            </a:extLst>
          </p:cNvPr>
          <p:cNvSpPr txBox="1"/>
          <p:nvPr/>
        </p:nvSpPr>
        <p:spPr>
          <a:xfrm>
            <a:off x="838199" y="1856497"/>
            <a:ext cx="10515599" cy="384080"/>
          </a:xfrm>
          <a:prstGeom prst="rect">
            <a:avLst/>
          </a:prstGeom>
          <a:noFill/>
        </p:spPr>
        <p:txBody>
          <a:bodyPr wrap="square">
            <a:spAutoFit/>
          </a:bodyPr>
          <a:lstStyle/>
          <a:p>
            <a:pPr algn="l">
              <a:lnSpc>
                <a:spcPts val="2400"/>
              </a:lnSpc>
              <a:buFont typeface="+mj-lt"/>
              <a:buAutoNum type="arabicPeriod"/>
            </a:pPr>
            <a:r>
              <a:rPr lang="en-US" b="0" i="0" dirty="0">
                <a:solidFill>
                  <a:srgbClr val="242424"/>
                </a:solidFill>
                <a:effectLst/>
                <a:latin typeface="source-serif-pro"/>
              </a:rPr>
              <a:t>Chances of overfitting increases as the complexity of these architecture increases</a:t>
            </a:r>
          </a:p>
        </p:txBody>
      </p:sp>
      <p:sp>
        <p:nvSpPr>
          <p:cNvPr id="7" name="TextBox 6">
            <a:extLst>
              <a:ext uri="{FF2B5EF4-FFF2-40B4-BE49-F238E27FC236}">
                <a16:creationId xmlns:a16="http://schemas.microsoft.com/office/drawing/2014/main" id="{0C630DE2-4A20-8F0F-2610-A943F58B5EBC}"/>
              </a:ext>
            </a:extLst>
          </p:cNvPr>
          <p:cNvSpPr txBox="1"/>
          <p:nvPr/>
        </p:nvSpPr>
        <p:spPr>
          <a:xfrm>
            <a:off x="838199" y="2806799"/>
            <a:ext cx="6096000" cy="384080"/>
          </a:xfrm>
          <a:prstGeom prst="rect">
            <a:avLst/>
          </a:prstGeom>
          <a:noFill/>
        </p:spPr>
        <p:txBody>
          <a:bodyPr wrap="square">
            <a:spAutoFit/>
          </a:bodyPr>
          <a:lstStyle/>
          <a:p>
            <a:pPr algn="l">
              <a:lnSpc>
                <a:spcPts val="2400"/>
              </a:lnSpc>
            </a:pPr>
            <a:r>
              <a:rPr lang="en-IN" b="0" i="0" dirty="0">
                <a:solidFill>
                  <a:srgbClr val="242424"/>
                </a:solidFill>
                <a:effectLst/>
                <a:latin typeface="source-serif-pro"/>
              </a:rPr>
              <a:t>2.Training time increases</a:t>
            </a:r>
          </a:p>
        </p:txBody>
      </p:sp>
    </p:spTree>
    <p:extLst>
      <p:ext uri="{BB962C8B-B14F-4D97-AF65-F5344CB8AC3E}">
        <p14:creationId xmlns:p14="http://schemas.microsoft.com/office/powerpoint/2010/main" val="1154256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59CAE-63D8-C059-8DE0-1FAAFFC3C006}"/>
              </a:ext>
            </a:extLst>
          </p:cNvPr>
          <p:cNvSpPr>
            <a:spLocks noGrp="1"/>
          </p:cNvSpPr>
          <p:nvPr>
            <p:ph type="title"/>
          </p:nvPr>
        </p:nvSpPr>
        <p:spPr/>
        <p:txBody>
          <a:bodyPr/>
          <a:lstStyle/>
          <a:p>
            <a:r>
              <a:rPr lang="en-US" dirty="0"/>
              <a:t>Bidirectional RNN</a:t>
            </a:r>
            <a:endParaRPr lang="en-IN" dirty="0"/>
          </a:p>
        </p:txBody>
      </p:sp>
      <p:sp>
        <p:nvSpPr>
          <p:cNvPr id="5" name="TextBox 4">
            <a:extLst>
              <a:ext uri="{FF2B5EF4-FFF2-40B4-BE49-F238E27FC236}">
                <a16:creationId xmlns:a16="http://schemas.microsoft.com/office/drawing/2014/main" id="{88F5859E-6734-8509-9444-6AAC549C3CE2}"/>
              </a:ext>
            </a:extLst>
          </p:cNvPr>
          <p:cNvSpPr txBox="1"/>
          <p:nvPr/>
        </p:nvSpPr>
        <p:spPr>
          <a:xfrm>
            <a:off x="838199" y="1374424"/>
            <a:ext cx="10515599" cy="923330"/>
          </a:xfrm>
          <a:prstGeom prst="rect">
            <a:avLst/>
          </a:prstGeom>
          <a:noFill/>
        </p:spPr>
        <p:txBody>
          <a:bodyPr wrap="square">
            <a:spAutoFit/>
          </a:bodyPr>
          <a:lstStyle/>
          <a:p>
            <a:r>
              <a:rPr lang="en-US" b="0" i="0" dirty="0">
                <a:solidFill>
                  <a:srgbClr val="242424"/>
                </a:solidFill>
                <a:effectLst/>
                <a:latin typeface="source-serif-pro"/>
              </a:rPr>
              <a:t>A Bidirectional Recurrent Neural Network (Bi-RNN) processes sequential data in two directions simultaneously, forward and backward. This allows it to capture context from both past and future inputs, which makes Bi-RNNs especially powerful for tasks that require a deep understanding of the entire sequence.</a:t>
            </a:r>
            <a:endParaRPr lang="en-IN" dirty="0"/>
          </a:p>
        </p:txBody>
      </p:sp>
      <p:sp>
        <p:nvSpPr>
          <p:cNvPr id="7" name="TextBox 6">
            <a:extLst>
              <a:ext uri="{FF2B5EF4-FFF2-40B4-BE49-F238E27FC236}">
                <a16:creationId xmlns:a16="http://schemas.microsoft.com/office/drawing/2014/main" id="{626CC9E3-95F3-F562-7D25-0947439FBFA2}"/>
              </a:ext>
            </a:extLst>
          </p:cNvPr>
          <p:cNvSpPr txBox="1"/>
          <p:nvPr/>
        </p:nvSpPr>
        <p:spPr>
          <a:xfrm>
            <a:off x="838198" y="2528922"/>
            <a:ext cx="10515599" cy="1200329"/>
          </a:xfrm>
          <a:prstGeom prst="rect">
            <a:avLst/>
          </a:prstGeom>
          <a:noFill/>
        </p:spPr>
        <p:txBody>
          <a:bodyPr wrap="square">
            <a:spAutoFit/>
          </a:bodyPr>
          <a:lstStyle/>
          <a:p>
            <a:r>
              <a:rPr lang="en-US" b="0" i="0" dirty="0">
                <a:solidFill>
                  <a:srgbClr val="242424"/>
                </a:solidFill>
                <a:effectLst/>
                <a:latin typeface="source-serif-pro"/>
              </a:rPr>
              <a:t>Both the forward and backward RNNs work independently of each other, and their outputs are combined, typically by concatenation, element-wise addition, or averaging, to produce the final output at each timestep. This architecture enables the model to access context from both preceding and succeeding tokens, offering a comprehensive understanding of the sequence.</a:t>
            </a:r>
            <a:endParaRPr lang="en-IN" dirty="0"/>
          </a:p>
        </p:txBody>
      </p:sp>
      <p:pic>
        <p:nvPicPr>
          <p:cNvPr id="8" name="Picture 8" descr="RNN A recurrent neural network (RNN) is a class of ...">
            <a:extLst>
              <a:ext uri="{FF2B5EF4-FFF2-40B4-BE49-F238E27FC236}">
                <a16:creationId xmlns:a16="http://schemas.microsoft.com/office/drawing/2014/main" id="{883B0CD6-170F-0837-F87F-9E801CC5A9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7420" y="3960419"/>
            <a:ext cx="4747752" cy="2134060"/>
          </a:xfrm>
          <a:prstGeom prst="rect">
            <a:avLst/>
          </a:prstGeom>
          <a:noFill/>
          <a:extLst>
            <a:ext uri="{909E8E84-426E-40DD-AFC4-6F175D3DCCD1}">
              <a14:hiddenFill xmlns:a14="http://schemas.microsoft.com/office/drawing/2010/main">
                <a:solidFill>
                  <a:srgbClr val="FFFFFF"/>
                </a:solidFill>
              </a14:hiddenFill>
            </a:ext>
          </a:extLst>
        </p:spPr>
      </p:pic>
      <p:pic>
        <p:nvPicPr>
          <p:cNvPr id="60418" name="Picture 2">
            <a:extLst>
              <a:ext uri="{FF2B5EF4-FFF2-40B4-BE49-F238E27FC236}">
                <a16:creationId xmlns:a16="http://schemas.microsoft.com/office/drawing/2014/main" id="{01A382BB-02AE-CCF0-E7BC-9C38BFA3D4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5173" y="3645636"/>
            <a:ext cx="6244712" cy="2763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9688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4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09D51-F61B-5F4B-902D-CD9FD82C2220}"/>
              </a:ext>
            </a:extLst>
          </p:cNvPr>
          <p:cNvSpPr>
            <a:spLocks noGrp="1"/>
          </p:cNvSpPr>
          <p:nvPr>
            <p:ph type="title"/>
          </p:nvPr>
        </p:nvSpPr>
        <p:spPr/>
        <p:txBody>
          <a:bodyPr/>
          <a:lstStyle/>
          <a:p>
            <a:r>
              <a:rPr lang="en-US" dirty="0"/>
              <a:t>Application</a:t>
            </a:r>
            <a:endParaRPr lang="en-IN" dirty="0"/>
          </a:p>
        </p:txBody>
      </p:sp>
      <p:sp>
        <p:nvSpPr>
          <p:cNvPr id="5" name="TextBox 4">
            <a:extLst>
              <a:ext uri="{FF2B5EF4-FFF2-40B4-BE49-F238E27FC236}">
                <a16:creationId xmlns:a16="http://schemas.microsoft.com/office/drawing/2014/main" id="{2931A16F-9058-C787-A9FB-B83724A55C3F}"/>
              </a:ext>
            </a:extLst>
          </p:cNvPr>
          <p:cNvSpPr txBox="1"/>
          <p:nvPr/>
        </p:nvSpPr>
        <p:spPr>
          <a:xfrm>
            <a:off x="838200" y="1690688"/>
            <a:ext cx="10515600" cy="691856"/>
          </a:xfrm>
          <a:prstGeom prst="rect">
            <a:avLst/>
          </a:prstGeom>
          <a:noFill/>
        </p:spPr>
        <p:txBody>
          <a:bodyPr wrap="square">
            <a:spAutoFit/>
          </a:bodyPr>
          <a:lstStyle/>
          <a:p>
            <a:pPr algn="l">
              <a:lnSpc>
                <a:spcPts val="2400"/>
              </a:lnSpc>
              <a:buFont typeface="Arial" panose="020B0604020202020204" pitchFamily="34" charset="0"/>
              <a:buChar char="•"/>
            </a:pPr>
            <a:r>
              <a:rPr lang="en-US" b="0" i="0" dirty="0">
                <a:solidFill>
                  <a:srgbClr val="242424"/>
                </a:solidFill>
                <a:effectLst/>
                <a:latin typeface="source-serif-pro"/>
              </a:rPr>
              <a:t>Handwriting Recognition: By processing strokes both forward and backward, Bi-RNNs can better interpret the flow and structure of handwriting.</a:t>
            </a:r>
          </a:p>
        </p:txBody>
      </p:sp>
      <p:sp>
        <p:nvSpPr>
          <p:cNvPr id="7" name="TextBox 6">
            <a:extLst>
              <a:ext uri="{FF2B5EF4-FFF2-40B4-BE49-F238E27FC236}">
                <a16:creationId xmlns:a16="http://schemas.microsoft.com/office/drawing/2014/main" id="{9E3DE1E9-259E-CE31-C656-51A596257FFF}"/>
              </a:ext>
            </a:extLst>
          </p:cNvPr>
          <p:cNvSpPr txBox="1"/>
          <p:nvPr/>
        </p:nvSpPr>
        <p:spPr>
          <a:xfrm>
            <a:off x="838199" y="2708474"/>
            <a:ext cx="10515599" cy="691856"/>
          </a:xfrm>
          <a:prstGeom prst="rect">
            <a:avLst/>
          </a:prstGeom>
          <a:noFill/>
        </p:spPr>
        <p:txBody>
          <a:bodyPr wrap="square">
            <a:spAutoFit/>
          </a:bodyPr>
          <a:lstStyle/>
          <a:p>
            <a:pPr algn="l">
              <a:lnSpc>
                <a:spcPts val="2400"/>
              </a:lnSpc>
              <a:buFont typeface="Arial" panose="020B0604020202020204" pitchFamily="34" charset="0"/>
              <a:buChar char="•"/>
            </a:pPr>
            <a:r>
              <a:rPr lang="en-US" b="0" i="0" dirty="0">
                <a:solidFill>
                  <a:srgbClr val="242424"/>
                </a:solidFill>
                <a:effectLst/>
                <a:latin typeface="source-serif-pro"/>
              </a:rPr>
              <a:t>Text Classification: In sentiment analysis or topic classification, knowing the future words in a sentence can improve the accuracy of predictions.</a:t>
            </a:r>
          </a:p>
        </p:txBody>
      </p:sp>
      <p:sp>
        <p:nvSpPr>
          <p:cNvPr id="9" name="TextBox 8">
            <a:extLst>
              <a:ext uri="{FF2B5EF4-FFF2-40B4-BE49-F238E27FC236}">
                <a16:creationId xmlns:a16="http://schemas.microsoft.com/office/drawing/2014/main" id="{2385CDFE-6539-0CDA-F6CC-6046AB45AF61}"/>
              </a:ext>
            </a:extLst>
          </p:cNvPr>
          <p:cNvSpPr txBox="1"/>
          <p:nvPr/>
        </p:nvSpPr>
        <p:spPr>
          <a:xfrm>
            <a:off x="838199" y="3764411"/>
            <a:ext cx="10515598" cy="691856"/>
          </a:xfrm>
          <a:prstGeom prst="rect">
            <a:avLst/>
          </a:prstGeom>
          <a:noFill/>
        </p:spPr>
        <p:txBody>
          <a:bodyPr wrap="square">
            <a:spAutoFit/>
          </a:bodyPr>
          <a:lstStyle/>
          <a:p>
            <a:pPr algn="l">
              <a:lnSpc>
                <a:spcPts val="2400"/>
              </a:lnSpc>
              <a:buFont typeface="Arial" panose="020B0604020202020204" pitchFamily="34" charset="0"/>
              <a:buChar char="•"/>
            </a:pPr>
            <a:r>
              <a:rPr lang="en-US" b="0" i="0" dirty="0">
                <a:solidFill>
                  <a:srgbClr val="242424"/>
                </a:solidFill>
                <a:effectLst/>
                <a:latin typeface="source-serif-pro"/>
              </a:rPr>
              <a:t>Sequence Labeling: For tasks like named entity recognition (NER), part-of-speech (</a:t>
            </a:r>
            <a:r>
              <a:rPr lang="en-US" b="0" i="0" dirty="0" err="1">
                <a:solidFill>
                  <a:srgbClr val="242424"/>
                </a:solidFill>
                <a:effectLst/>
                <a:latin typeface="source-serif-pro"/>
              </a:rPr>
              <a:t>PoS</a:t>
            </a:r>
            <a:r>
              <a:rPr lang="en-US" b="0" i="0" dirty="0">
                <a:solidFill>
                  <a:srgbClr val="242424"/>
                </a:solidFill>
                <a:effectLst/>
                <a:latin typeface="source-serif-pro"/>
              </a:rPr>
              <a:t>) tagging, and dependency parsing, Bi-RNNs leverage both previous and future tokens to assign accurate labels.</a:t>
            </a:r>
          </a:p>
        </p:txBody>
      </p:sp>
    </p:spTree>
    <p:extLst>
      <p:ext uri="{BB962C8B-B14F-4D97-AF65-F5344CB8AC3E}">
        <p14:creationId xmlns:p14="http://schemas.microsoft.com/office/powerpoint/2010/main" val="2733514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EF313-36AC-A958-9D85-2ECD5EC1F52D}"/>
              </a:ext>
            </a:extLst>
          </p:cNvPr>
          <p:cNvSpPr>
            <a:spLocks noGrp="1"/>
          </p:cNvSpPr>
          <p:nvPr>
            <p:ph type="title"/>
          </p:nvPr>
        </p:nvSpPr>
        <p:spPr/>
        <p:txBody>
          <a:bodyPr/>
          <a:lstStyle/>
          <a:p>
            <a:r>
              <a:rPr lang="en-US" dirty="0"/>
              <a:t>Limitations</a:t>
            </a:r>
            <a:endParaRPr lang="en-IN" dirty="0"/>
          </a:p>
        </p:txBody>
      </p:sp>
      <p:sp>
        <p:nvSpPr>
          <p:cNvPr id="5" name="TextBox 4">
            <a:extLst>
              <a:ext uri="{FF2B5EF4-FFF2-40B4-BE49-F238E27FC236}">
                <a16:creationId xmlns:a16="http://schemas.microsoft.com/office/drawing/2014/main" id="{472D286F-8F00-43C3-8424-8212F5925883}"/>
              </a:ext>
            </a:extLst>
          </p:cNvPr>
          <p:cNvSpPr txBox="1"/>
          <p:nvPr/>
        </p:nvSpPr>
        <p:spPr>
          <a:xfrm>
            <a:off x="838201" y="1690688"/>
            <a:ext cx="10515599" cy="646331"/>
          </a:xfrm>
          <a:prstGeom prst="rect">
            <a:avLst/>
          </a:prstGeom>
          <a:noFill/>
        </p:spPr>
        <p:txBody>
          <a:bodyPr wrap="square">
            <a:spAutoFit/>
          </a:bodyPr>
          <a:lstStyle/>
          <a:p>
            <a:r>
              <a:rPr lang="en-IN" b="1" i="0" dirty="0">
                <a:solidFill>
                  <a:srgbClr val="242424"/>
                </a:solidFill>
                <a:effectLst/>
                <a:latin typeface="source-serif-pro"/>
              </a:rPr>
              <a:t>1. Slower to Compute</a:t>
            </a:r>
            <a:r>
              <a:rPr lang="en-IN" b="0" i="0" dirty="0">
                <a:solidFill>
                  <a:srgbClr val="242424"/>
                </a:solidFill>
                <a:effectLst/>
                <a:latin typeface="source-serif-pro"/>
              </a:rPr>
              <a:t>:</a:t>
            </a:r>
            <a:r>
              <a:rPr lang="en-US" dirty="0"/>
              <a:t>They process the data twice, once forward and once backward.  It takes longer to train and run on large datasets.</a:t>
            </a:r>
            <a:endParaRPr lang="en-IN" dirty="0"/>
          </a:p>
        </p:txBody>
      </p:sp>
      <p:sp>
        <p:nvSpPr>
          <p:cNvPr id="11" name="TextBox 10">
            <a:extLst>
              <a:ext uri="{FF2B5EF4-FFF2-40B4-BE49-F238E27FC236}">
                <a16:creationId xmlns:a16="http://schemas.microsoft.com/office/drawing/2014/main" id="{D250994A-B1F9-3304-2D6E-8C6935400CCA}"/>
              </a:ext>
            </a:extLst>
          </p:cNvPr>
          <p:cNvSpPr txBox="1"/>
          <p:nvPr/>
        </p:nvSpPr>
        <p:spPr>
          <a:xfrm>
            <a:off x="766916" y="2646919"/>
            <a:ext cx="10586884" cy="646331"/>
          </a:xfrm>
          <a:prstGeom prst="rect">
            <a:avLst/>
          </a:prstGeom>
          <a:noFill/>
        </p:spPr>
        <p:txBody>
          <a:bodyPr wrap="square">
            <a:spAutoFit/>
          </a:bodyPr>
          <a:lstStyle/>
          <a:p>
            <a:r>
              <a:rPr lang="en-IN" b="1" i="0" dirty="0">
                <a:solidFill>
                  <a:srgbClr val="242424"/>
                </a:solidFill>
                <a:effectLst/>
                <a:latin typeface="source-serif-pro"/>
              </a:rPr>
              <a:t>2. Uses More Memory</a:t>
            </a:r>
            <a:r>
              <a:rPr lang="en-IN" b="0" i="0" dirty="0">
                <a:solidFill>
                  <a:srgbClr val="242424"/>
                </a:solidFill>
                <a:effectLst/>
                <a:latin typeface="source-serif-pro"/>
              </a:rPr>
              <a:t>:</a:t>
            </a:r>
            <a:r>
              <a:rPr lang="en-US" dirty="0"/>
              <a:t>Storing hidden states in both directions uses more memory. This can be a problem when working with long sequences or limited hardware.</a:t>
            </a:r>
            <a:endParaRPr lang="en-IN" dirty="0"/>
          </a:p>
        </p:txBody>
      </p:sp>
      <p:sp>
        <p:nvSpPr>
          <p:cNvPr id="13" name="TextBox 12">
            <a:extLst>
              <a:ext uri="{FF2B5EF4-FFF2-40B4-BE49-F238E27FC236}">
                <a16:creationId xmlns:a16="http://schemas.microsoft.com/office/drawing/2014/main" id="{99AA7BAE-E1D9-6652-8E26-656BADF9A35A}"/>
              </a:ext>
            </a:extLst>
          </p:cNvPr>
          <p:cNvSpPr txBox="1"/>
          <p:nvPr/>
        </p:nvSpPr>
        <p:spPr>
          <a:xfrm>
            <a:off x="766916" y="3564751"/>
            <a:ext cx="10586884" cy="646331"/>
          </a:xfrm>
          <a:prstGeom prst="rect">
            <a:avLst/>
          </a:prstGeom>
          <a:noFill/>
        </p:spPr>
        <p:txBody>
          <a:bodyPr wrap="square">
            <a:spAutoFit/>
          </a:bodyPr>
          <a:lstStyle/>
          <a:p>
            <a:r>
              <a:rPr lang="en-US" b="1" i="0" dirty="0">
                <a:solidFill>
                  <a:srgbClr val="242424"/>
                </a:solidFill>
                <a:effectLst/>
                <a:latin typeface="source-serif-pro"/>
              </a:rPr>
              <a:t>3. More Complex to Build </a:t>
            </a:r>
            <a:r>
              <a:rPr lang="en-US" b="0" i="0" dirty="0">
                <a:solidFill>
                  <a:srgbClr val="242424"/>
                </a:solidFill>
                <a:effectLst/>
                <a:latin typeface="source-serif-pro"/>
              </a:rPr>
              <a:t>: </a:t>
            </a:r>
            <a:r>
              <a:rPr lang="en-US" dirty="0"/>
              <a:t>They need careful handling of both forward and backward passes. Harder to implement correctly compared to simpler models.</a:t>
            </a:r>
            <a:endParaRPr lang="en-IN" dirty="0"/>
          </a:p>
        </p:txBody>
      </p:sp>
      <p:sp>
        <p:nvSpPr>
          <p:cNvPr id="15" name="TextBox 14">
            <a:extLst>
              <a:ext uri="{FF2B5EF4-FFF2-40B4-BE49-F238E27FC236}">
                <a16:creationId xmlns:a16="http://schemas.microsoft.com/office/drawing/2014/main" id="{F6333914-AE54-D5EB-76C9-A430E2EE28D7}"/>
              </a:ext>
            </a:extLst>
          </p:cNvPr>
          <p:cNvSpPr txBox="1"/>
          <p:nvPr/>
        </p:nvSpPr>
        <p:spPr>
          <a:xfrm>
            <a:off x="838200" y="4482583"/>
            <a:ext cx="10515600" cy="646331"/>
          </a:xfrm>
          <a:prstGeom prst="rect">
            <a:avLst/>
          </a:prstGeom>
          <a:noFill/>
        </p:spPr>
        <p:txBody>
          <a:bodyPr wrap="square">
            <a:spAutoFit/>
          </a:bodyPr>
          <a:lstStyle/>
          <a:p>
            <a:r>
              <a:rPr lang="en-IN" b="1" i="0" dirty="0">
                <a:solidFill>
                  <a:srgbClr val="242424"/>
                </a:solidFill>
                <a:effectLst/>
                <a:latin typeface="source-serif-pro"/>
              </a:rPr>
              <a:t>4. Delay in Real-Time</a:t>
            </a:r>
            <a:r>
              <a:rPr lang="en-IN" b="0" i="0" dirty="0">
                <a:solidFill>
                  <a:srgbClr val="242424"/>
                </a:solidFill>
                <a:effectLst/>
                <a:latin typeface="source-serif-pro"/>
              </a:rPr>
              <a:t>: </a:t>
            </a:r>
            <a:r>
              <a:rPr lang="en-US" dirty="0"/>
              <a:t>They need to see the whole sequence before making a decision. Not suitable for tasks that need immediate responses, like real-time speech recognition.</a:t>
            </a:r>
            <a:endParaRPr lang="en-IN" dirty="0"/>
          </a:p>
        </p:txBody>
      </p:sp>
    </p:spTree>
    <p:extLst>
      <p:ext uri="{BB962C8B-B14F-4D97-AF65-F5344CB8AC3E}">
        <p14:creationId xmlns:p14="http://schemas.microsoft.com/office/powerpoint/2010/main" val="65648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11" grpId="0"/>
      <p:bldP spid="13" grpId="0"/>
      <p:bldP spid="15"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9ACC4-C67B-1580-3830-B092A4694BC3}"/>
              </a:ext>
            </a:extLst>
          </p:cNvPr>
          <p:cNvSpPr>
            <a:spLocks noGrp="1"/>
          </p:cNvSpPr>
          <p:nvPr>
            <p:ph type="title"/>
          </p:nvPr>
        </p:nvSpPr>
        <p:spPr/>
        <p:txBody>
          <a:bodyPr/>
          <a:lstStyle/>
          <a:p>
            <a:r>
              <a:rPr lang="en-US" dirty="0"/>
              <a:t>SEQ-2-SEQ Architecture</a:t>
            </a:r>
            <a:endParaRPr lang="en-IN" dirty="0"/>
          </a:p>
        </p:txBody>
      </p:sp>
    </p:spTree>
    <p:extLst>
      <p:ext uri="{BB962C8B-B14F-4D97-AF65-F5344CB8AC3E}">
        <p14:creationId xmlns:p14="http://schemas.microsoft.com/office/powerpoint/2010/main" val="45083916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2E28E-CB30-9D3E-A7DB-96543E351276}"/>
              </a:ext>
            </a:extLst>
          </p:cNvPr>
          <p:cNvSpPr>
            <a:spLocks noGrp="1"/>
          </p:cNvSpPr>
          <p:nvPr>
            <p:ph type="title"/>
          </p:nvPr>
        </p:nvSpPr>
        <p:spPr/>
        <p:txBody>
          <a:bodyPr/>
          <a:lstStyle/>
          <a:p>
            <a:r>
              <a:rPr lang="en-US" dirty="0"/>
              <a:t>Attention Mechanism</a:t>
            </a:r>
            <a:endParaRPr lang="en-IN" dirty="0"/>
          </a:p>
        </p:txBody>
      </p:sp>
    </p:spTree>
    <p:extLst>
      <p:ext uri="{BB962C8B-B14F-4D97-AF65-F5344CB8AC3E}">
        <p14:creationId xmlns:p14="http://schemas.microsoft.com/office/powerpoint/2010/main" val="106542245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descr="Transformers' movie taps into young-adult nostalgia for 1980s toy craze">
            <a:extLst>
              <a:ext uri="{FF2B5EF4-FFF2-40B4-BE49-F238E27FC236}">
                <a16:creationId xmlns:a16="http://schemas.microsoft.com/office/drawing/2014/main" id="{6159987F-893A-19B9-4642-D2AB45CF4B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2555" y="1596436"/>
            <a:ext cx="2281084" cy="3457345"/>
          </a:xfrm>
          <a:prstGeom prst="rect">
            <a:avLst/>
          </a:prstGeom>
          <a:noFill/>
          <a:extLst>
            <a:ext uri="{909E8E84-426E-40DD-AFC4-6F175D3DCCD1}">
              <a14:hiddenFill xmlns:a14="http://schemas.microsoft.com/office/drawing/2010/main">
                <a:solidFill>
                  <a:srgbClr val="FFFFFF"/>
                </a:solidFill>
              </a14:hiddenFill>
            </a:ext>
          </a:extLst>
        </p:spPr>
      </p:pic>
      <p:pic>
        <p:nvPicPr>
          <p:cNvPr id="51204" name="Picture 4" descr="Power Transformers - JST Power Equipment">
            <a:extLst>
              <a:ext uri="{FF2B5EF4-FFF2-40B4-BE49-F238E27FC236}">
                <a16:creationId xmlns:a16="http://schemas.microsoft.com/office/drawing/2014/main" id="{B1665CAA-B03D-5613-F7A3-670CBCA2C7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9044" y="1596436"/>
            <a:ext cx="3873911" cy="345734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EAB6CB1B-BD9E-8C91-814F-0CE6882E889F}"/>
              </a:ext>
            </a:extLst>
          </p:cNvPr>
          <p:cNvPicPr>
            <a:picLocks noChangeAspect="1"/>
          </p:cNvPicPr>
          <p:nvPr/>
        </p:nvPicPr>
        <p:blipFill>
          <a:blip r:embed="rId4"/>
          <a:stretch>
            <a:fillRect/>
          </a:stretch>
        </p:blipFill>
        <p:spPr>
          <a:xfrm>
            <a:off x="8190271" y="1186591"/>
            <a:ext cx="3873911" cy="4277033"/>
          </a:xfrm>
          <a:prstGeom prst="rect">
            <a:avLst/>
          </a:prstGeom>
        </p:spPr>
      </p:pic>
      <p:sp>
        <p:nvSpPr>
          <p:cNvPr id="3" name="TextBox 2">
            <a:extLst>
              <a:ext uri="{FF2B5EF4-FFF2-40B4-BE49-F238E27FC236}">
                <a16:creationId xmlns:a16="http://schemas.microsoft.com/office/drawing/2014/main" id="{E648B64C-BF71-B43D-9F5A-07CEA14E7875}"/>
              </a:ext>
            </a:extLst>
          </p:cNvPr>
          <p:cNvSpPr txBox="1"/>
          <p:nvPr/>
        </p:nvSpPr>
        <p:spPr>
          <a:xfrm>
            <a:off x="5098024" y="403122"/>
            <a:ext cx="1995949" cy="523220"/>
          </a:xfrm>
          <a:prstGeom prst="rect">
            <a:avLst/>
          </a:prstGeom>
          <a:noFill/>
        </p:spPr>
        <p:txBody>
          <a:bodyPr wrap="square" rtlCol="0">
            <a:spAutoFit/>
          </a:bodyPr>
          <a:lstStyle/>
          <a:p>
            <a:r>
              <a:rPr lang="en-US" sz="2800" b="1" dirty="0"/>
              <a:t>Transformer</a:t>
            </a:r>
            <a:endParaRPr lang="en-IN" sz="2800" b="1" dirty="0"/>
          </a:p>
        </p:txBody>
      </p:sp>
    </p:spTree>
    <p:extLst>
      <p:ext uri="{BB962C8B-B14F-4D97-AF65-F5344CB8AC3E}">
        <p14:creationId xmlns:p14="http://schemas.microsoft.com/office/powerpoint/2010/main" val="331085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5878C-32C9-664D-0314-D44B10A760A4}"/>
              </a:ext>
            </a:extLst>
          </p:cNvPr>
          <p:cNvSpPr>
            <a:spLocks noGrp="1"/>
          </p:cNvSpPr>
          <p:nvPr>
            <p:ph type="title"/>
          </p:nvPr>
        </p:nvSpPr>
        <p:spPr/>
        <p:txBody>
          <a:bodyPr/>
          <a:lstStyle/>
          <a:p>
            <a:r>
              <a:rPr lang="en-US" dirty="0"/>
              <a:t>Focus in Future</a:t>
            </a:r>
            <a:endParaRPr lang="en-IN" dirty="0"/>
          </a:p>
        </p:txBody>
      </p:sp>
      <p:sp>
        <p:nvSpPr>
          <p:cNvPr id="3" name="Content Placeholder 2">
            <a:extLst>
              <a:ext uri="{FF2B5EF4-FFF2-40B4-BE49-F238E27FC236}">
                <a16:creationId xmlns:a16="http://schemas.microsoft.com/office/drawing/2014/main" id="{51E9B941-8919-F685-A4E5-178BE4083A60}"/>
              </a:ext>
            </a:extLst>
          </p:cNvPr>
          <p:cNvSpPr>
            <a:spLocks noGrp="1"/>
          </p:cNvSpPr>
          <p:nvPr>
            <p:ph idx="1"/>
          </p:nvPr>
        </p:nvSpPr>
        <p:spPr>
          <a:xfrm>
            <a:off x="838199" y="1825625"/>
            <a:ext cx="10931013" cy="4351338"/>
          </a:xfrm>
        </p:spPr>
        <p:txBody>
          <a:bodyPr/>
          <a:lstStyle/>
          <a:p>
            <a:r>
              <a:rPr lang="en-US" dirty="0"/>
              <a:t>Other models of CNN , RNN , LSTM , GRUs and implement and optimize these models</a:t>
            </a:r>
          </a:p>
          <a:p>
            <a:r>
              <a:rPr lang="en-US" dirty="0"/>
              <a:t>Multimodal Neural Networks</a:t>
            </a:r>
          </a:p>
          <a:p>
            <a:r>
              <a:rPr lang="en-US" dirty="0"/>
              <a:t>Implementation of Transformer architecture</a:t>
            </a:r>
          </a:p>
          <a:p>
            <a:r>
              <a:rPr lang="en-US" dirty="0"/>
              <a:t>Different architectures of LLMs</a:t>
            </a:r>
          </a:p>
          <a:p>
            <a:r>
              <a:rPr lang="en-US" dirty="0"/>
              <a:t>GPT2 , GPT3 architecture</a:t>
            </a:r>
          </a:p>
          <a:p>
            <a:r>
              <a:rPr lang="en-US" dirty="0"/>
              <a:t>Vision Transformer</a:t>
            </a:r>
          </a:p>
          <a:p>
            <a:r>
              <a:rPr lang="en-US" dirty="0"/>
              <a:t>Applications of these models in real world</a:t>
            </a:r>
            <a:endParaRPr lang="en-IN" dirty="0"/>
          </a:p>
        </p:txBody>
      </p:sp>
    </p:spTree>
    <p:extLst>
      <p:ext uri="{BB962C8B-B14F-4D97-AF65-F5344CB8AC3E}">
        <p14:creationId xmlns:p14="http://schemas.microsoft.com/office/powerpoint/2010/main" val="3711640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A7A2A3A-C8E9-8EAD-B455-0131C68AE9B8}"/>
              </a:ext>
            </a:extLst>
          </p:cNvPr>
          <p:cNvSpPr txBox="1"/>
          <p:nvPr/>
        </p:nvSpPr>
        <p:spPr>
          <a:xfrm>
            <a:off x="4709651" y="2681785"/>
            <a:ext cx="2772697" cy="830997"/>
          </a:xfrm>
          <a:prstGeom prst="rect">
            <a:avLst/>
          </a:prstGeom>
          <a:noFill/>
        </p:spPr>
        <p:txBody>
          <a:bodyPr wrap="square" rtlCol="0">
            <a:spAutoFit/>
          </a:bodyPr>
          <a:lstStyle/>
          <a:p>
            <a:r>
              <a:rPr lang="en-US" sz="4800" dirty="0"/>
              <a:t>Thank You</a:t>
            </a:r>
            <a:endParaRPr lang="en-IN" sz="4800" dirty="0"/>
          </a:p>
        </p:txBody>
      </p:sp>
      <p:sp>
        <p:nvSpPr>
          <p:cNvPr id="5" name="TextBox 4">
            <a:extLst>
              <a:ext uri="{FF2B5EF4-FFF2-40B4-BE49-F238E27FC236}">
                <a16:creationId xmlns:a16="http://schemas.microsoft.com/office/drawing/2014/main" id="{747E0DD0-EB0A-8E6E-0FF2-46D16FD2B5C3}"/>
              </a:ext>
            </a:extLst>
          </p:cNvPr>
          <p:cNvSpPr txBox="1"/>
          <p:nvPr/>
        </p:nvSpPr>
        <p:spPr>
          <a:xfrm>
            <a:off x="1327354" y="4060722"/>
            <a:ext cx="9537290" cy="646331"/>
          </a:xfrm>
          <a:prstGeom prst="rect">
            <a:avLst/>
          </a:prstGeom>
          <a:noFill/>
        </p:spPr>
        <p:txBody>
          <a:bodyPr wrap="square" rtlCol="0">
            <a:spAutoFit/>
          </a:bodyPr>
          <a:lstStyle/>
          <a:p>
            <a:r>
              <a:rPr lang="en-US" dirty="0"/>
              <a:t>"The future of artificial intelligence is not about man versus machine, but rather man with machine. Together, we can achieve unimaginable heights of innovation and progress" — </a:t>
            </a:r>
            <a:r>
              <a:rPr lang="en-US" b="1" dirty="0"/>
              <a:t>Fei-Fei Li</a:t>
            </a:r>
            <a:r>
              <a:rPr lang="en-US" dirty="0"/>
              <a:t>.</a:t>
            </a:r>
            <a:endParaRPr lang="en-IN" dirty="0"/>
          </a:p>
        </p:txBody>
      </p:sp>
    </p:spTree>
    <p:extLst>
      <p:ext uri="{BB962C8B-B14F-4D97-AF65-F5344CB8AC3E}">
        <p14:creationId xmlns:p14="http://schemas.microsoft.com/office/powerpoint/2010/main" val="2414413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6838</TotalTime>
  <Words>6330</Words>
  <Application>Microsoft Office PowerPoint</Application>
  <PresentationFormat>Widescreen</PresentationFormat>
  <Paragraphs>362</Paragraphs>
  <Slides>99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99</vt:i4>
      </vt:variant>
    </vt:vector>
  </HeadingPairs>
  <TitlesOfParts>
    <vt:vector size="108" baseType="lpstr">
      <vt:lpstr>Arial</vt:lpstr>
      <vt:lpstr>Calibri</vt:lpstr>
      <vt:lpstr>Calibri Light</vt:lpstr>
      <vt:lpstr>Cambria Math</vt:lpstr>
      <vt:lpstr>ElsevierGulliver</vt:lpstr>
      <vt:lpstr>Nunito</vt:lpstr>
      <vt:lpstr>sohne</vt:lpstr>
      <vt:lpstr>source-serif-pro</vt:lpstr>
      <vt:lpstr>Office Theme</vt:lpstr>
      <vt:lpstr>Perceptron to Transformer</vt:lpstr>
      <vt:lpstr>PowerPoint Presentation</vt:lpstr>
      <vt:lpstr>Topics to cover</vt:lpstr>
      <vt:lpstr>Perceptron</vt:lpstr>
      <vt:lpstr>PowerPoint Presentation</vt:lpstr>
      <vt:lpstr>Application</vt:lpstr>
      <vt:lpstr>Advantages</vt:lpstr>
      <vt:lpstr>Limitations</vt:lpstr>
      <vt:lpstr>PowerPoint Presentation</vt:lpstr>
      <vt:lpstr>Artificial Neural Network(ANN)</vt:lpstr>
      <vt:lpstr>PowerPoint Presentation</vt:lpstr>
      <vt:lpstr>PowerPoint Presentation</vt:lpstr>
      <vt:lpstr>PowerPoint Presentation</vt:lpstr>
      <vt:lpstr>Activation Functions</vt:lpstr>
      <vt:lpstr>PowerPoint Presentation</vt:lpstr>
      <vt:lpstr>PowerPoint Presentation</vt:lpstr>
      <vt:lpstr>Loss Functions</vt:lpstr>
      <vt:lpstr>Backpropagation</vt:lpstr>
      <vt:lpstr>PowerPoint Presentation</vt:lpstr>
      <vt:lpstr>PowerPoint Presentation</vt:lpstr>
      <vt:lpstr>Optimizer</vt:lpstr>
      <vt:lpstr>PowerPoint Presentation</vt:lpstr>
      <vt:lpstr>PowerPoint Presentation</vt:lpstr>
      <vt:lpstr>Advantages</vt:lpstr>
      <vt:lpstr>Limitations</vt:lpstr>
      <vt:lpstr>PowerPoint Presentation</vt:lpstr>
      <vt:lpstr>Convolutional Neural Network(CNN)</vt:lpstr>
      <vt:lpstr>Layers</vt:lpstr>
      <vt:lpstr>Input Layer</vt:lpstr>
      <vt:lpstr>Convolutional Layer</vt:lpstr>
      <vt:lpstr>Pooling Layer</vt:lpstr>
      <vt:lpstr>PowerPoint Presentation</vt:lpstr>
      <vt:lpstr>Fully-Connected Layer</vt:lpstr>
      <vt:lpstr>Padding and Strides</vt:lpstr>
      <vt:lpstr>Dropout</vt:lpstr>
      <vt:lpstr>Overall Architecture</vt:lpstr>
      <vt:lpstr>Training</vt:lpstr>
      <vt:lpstr>Different CNN Models</vt:lpstr>
      <vt:lpstr>Applications</vt:lpstr>
      <vt:lpstr>Advantages</vt:lpstr>
      <vt:lpstr>Limitations</vt:lpstr>
      <vt:lpstr>PowerPoint Presentation</vt:lpstr>
      <vt:lpstr>Recurrent Neural Network(RNN)</vt:lpstr>
      <vt:lpstr>PowerPoint Presentation</vt:lpstr>
      <vt:lpstr>PowerPoint Presentation</vt:lpstr>
      <vt:lpstr>Types of RNN</vt:lpstr>
      <vt:lpstr>One to Many</vt:lpstr>
      <vt:lpstr>Many to One</vt:lpstr>
      <vt:lpstr>Many to Many</vt:lpstr>
      <vt:lpstr>Many to Many</vt:lpstr>
      <vt:lpstr>Many to Many</vt:lpstr>
      <vt:lpstr>Many to Many</vt:lpstr>
      <vt:lpstr>Training</vt:lpstr>
      <vt:lpstr>PowerPoint Presentation</vt:lpstr>
      <vt:lpstr>PowerPoint Presentation</vt:lpstr>
      <vt:lpstr>PowerPoint Presentation</vt:lpstr>
      <vt:lpstr>PowerPoint Presentation</vt:lpstr>
      <vt:lpstr>PowerPoint Presentation</vt:lpstr>
      <vt:lpstr>Applications</vt:lpstr>
      <vt:lpstr>Applications</vt:lpstr>
      <vt:lpstr>Applications</vt:lpstr>
      <vt:lpstr>Limitations</vt:lpstr>
      <vt:lpstr>PowerPoint Presentation</vt:lpstr>
      <vt:lpstr>Limitations</vt:lpstr>
      <vt:lpstr>PowerPoint Presentation</vt:lpstr>
      <vt:lpstr>Long Short-Term Memory(LSTM)</vt:lpstr>
      <vt:lpstr>LSTM Architecture</vt:lpstr>
      <vt:lpstr>PowerPoint Presentation</vt:lpstr>
      <vt:lpstr>LSTM Architecture</vt:lpstr>
      <vt:lpstr>PowerPoint Presentation</vt:lpstr>
      <vt:lpstr>PowerPoint Presentation</vt:lpstr>
      <vt:lpstr>PowerPoint Presentation</vt:lpstr>
      <vt:lpstr>PowerPoint Presentation</vt:lpstr>
      <vt:lpstr>LSTM Visualization</vt:lpstr>
      <vt:lpstr>Training</vt:lpstr>
      <vt:lpstr>Applications</vt:lpstr>
      <vt:lpstr>Advantages</vt:lpstr>
      <vt:lpstr>Limitations</vt:lpstr>
      <vt:lpstr>PowerPoint Presentation</vt:lpstr>
      <vt:lpstr>Gated Recurrent Unit(GRU)</vt:lpstr>
      <vt:lpstr>PowerPoint Presentation</vt:lpstr>
      <vt:lpstr>PowerPoint Presentation</vt:lpstr>
      <vt:lpstr>PowerPoint Presentation</vt:lpstr>
      <vt:lpstr>PowerPoint Presentation</vt:lpstr>
      <vt:lpstr>PowerPoint Presentation</vt:lpstr>
      <vt:lpstr>PowerPoint Presentation</vt:lpstr>
      <vt:lpstr>Advantages</vt:lpstr>
      <vt:lpstr>Limitations</vt:lpstr>
      <vt:lpstr>Deep RNNs</vt:lpstr>
      <vt:lpstr>Applications</vt:lpstr>
      <vt:lpstr>Limitations</vt:lpstr>
      <vt:lpstr>Bidirectional RNN</vt:lpstr>
      <vt:lpstr>Application</vt:lpstr>
      <vt:lpstr>Limitations</vt:lpstr>
      <vt:lpstr>SEQ-2-SEQ Architecture</vt:lpstr>
      <vt:lpstr>Attention Mechanism</vt:lpstr>
      <vt:lpstr>PowerPoint Presentation</vt:lpstr>
      <vt:lpstr>Focus in Future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chandradip karmakar</dc:creator>
  <cp:lastModifiedBy>chandradip karmakar</cp:lastModifiedBy>
  <cp:revision>3</cp:revision>
  <dcterms:created xsi:type="dcterms:W3CDTF">2026-03-19T18:33:31Z</dcterms:created>
  <dcterms:modified xsi:type="dcterms:W3CDTF">2026-04-22T08:25:09Z</dcterms:modified>
</cp:coreProperties>
</file>